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9"/>
  </p:notesMasterIdLst>
  <p:handoutMasterIdLst>
    <p:handoutMasterId r:id="rId40"/>
  </p:handoutMasterIdLst>
  <p:sldIdLst>
    <p:sldId id="257" r:id="rId3"/>
    <p:sldId id="256" r:id="rId4"/>
    <p:sldId id="368" r:id="rId5"/>
    <p:sldId id="354" r:id="rId6"/>
    <p:sldId id="398" r:id="rId7"/>
    <p:sldId id="400" r:id="rId8"/>
    <p:sldId id="355" r:id="rId9"/>
    <p:sldId id="402" r:id="rId10"/>
    <p:sldId id="401" r:id="rId11"/>
    <p:sldId id="405" r:id="rId12"/>
    <p:sldId id="403" r:id="rId13"/>
    <p:sldId id="418" r:id="rId14"/>
    <p:sldId id="417" r:id="rId15"/>
    <p:sldId id="404" r:id="rId16"/>
    <p:sldId id="406" r:id="rId17"/>
    <p:sldId id="407" r:id="rId18"/>
    <p:sldId id="408" r:id="rId19"/>
    <p:sldId id="409" r:id="rId20"/>
    <p:sldId id="410" r:id="rId21"/>
    <p:sldId id="411" r:id="rId22"/>
    <p:sldId id="414" r:id="rId23"/>
    <p:sldId id="412" r:id="rId24"/>
    <p:sldId id="413" r:id="rId25"/>
    <p:sldId id="415" r:id="rId26"/>
    <p:sldId id="423" r:id="rId27"/>
    <p:sldId id="419" r:id="rId28"/>
    <p:sldId id="420" r:id="rId29"/>
    <p:sldId id="421" r:id="rId30"/>
    <p:sldId id="429" r:id="rId31"/>
    <p:sldId id="422" r:id="rId32"/>
    <p:sldId id="424" r:id="rId33"/>
    <p:sldId id="425" r:id="rId34"/>
    <p:sldId id="426" r:id="rId35"/>
    <p:sldId id="381" r:id="rId36"/>
    <p:sldId id="428" r:id="rId37"/>
    <p:sldId id="353" r:id="rId38"/>
  </p:sldIdLst>
  <p:sldSz cx="12192000" cy="6858000"/>
  <p:notesSz cx="6858000" cy="9144000"/>
  <p:custDataLst>
    <p:tags r:id="rId45"/>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Thinkpad" initials="T" lastIdx="1" clrIdx="0"/>
  <p:cmAuthor id="2" name="作者" initials="A" lastIdx="0" clrIdx="1"/>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47" autoAdjust="0"/>
    <p:restoredTop sz="95852" autoAdjust="0"/>
  </p:normalViewPr>
  <p:slideViewPr>
    <p:cSldViewPr snapToGrid="0">
      <p:cViewPr varScale="1">
        <p:scale>
          <a:sx n="91" d="100"/>
          <a:sy n="91" d="100"/>
        </p:scale>
        <p:origin x="76" y="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5" Type="http://schemas.openxmlformats.org/officeDocument/2006/relationships/tags" Target="tags/tag9.xml"/><Relationship Id="rId44" Type="http://schemas.openxmlformats.org/officeDocument/2006/relationships/commentAuthors" Target="commentAuthors.xml"/><Relationship Id="rId43" Type="http://schemas.openxmlformats.org/officeDocument/2006/relationships/tableStyles" Target="tableStyles.xml"/><Relationship Id="rId42" Type="http://schemas.openxmlformats.org/officeDocument/2006/relationships/viewProps" Target="viewProps.xml"/><Relationship Id="rId41" Type="http://schemas.openxmlformats.org/officeDocument/2006/relationships/presProps" Target="presProps.xml"/><Relationship Id="rId40" Type="http://schemas.openxmlformats.org/officeDocument/2006/relationships/handoutMaster" Target="handoutMasters/handoutMaster1.xml"/><Relationship Id="rId4" Type="http://schemas.openxmlformats.org/officeDocument/2006/relationships/slide" Target="slides/slide2.xml"/><Relationship Id="rId39" Type="http://schemas.openxmlformats.org/officeDocument/2006/relationships/notesMaster" Target="notesMasters/notesMaster1.xml"/><Relationship Id="rId38" Type="http://schemas.openxmlformats.org/officeDocument/2006/relationships/slide" Target="slides/slide36.xml"/><Relationship Id="rId37" Type="http://schemas.openxmlformats.org/officeDocument/2006/relationships/slide" Target="slides/slide35.xml"/><Relationship Id="rId36" Type="http://schemas.openxmlformats.org/officeDocument/2006/relationships/slide" Target="slides/slide34.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image" Target="../media/image1.pn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rotWithShape="0">
          <a:blip r:embed="rId12">
            <a:alphaModFix amt="38000"/>
          </a:blip>
          <a:stretch>
            <a:fillRect/>
          </a:stretch>
        </a:blip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997B5FA-0921-464F-AAE1-844C04324D75}"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65CE74E-AB26-4998-AD42-012C4C1AD076}"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2.jpeg"/></Relationships>
</file>

<file path=ppt/slides/_rels/slide8.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4.jpeg"/><Relationship Id="rId2" Type="http://schemas.openxmlformats.org/officeDocument/2006/relationships/image" Target="../media/image3.png"/><Relationship Id="rId1" Type="http://schemas.openxmlformats.org/officeDocument/2006/relationships/tags" Target="../tags/tag1.xml"/></Relationships>
</file>

<file path=ppt/slides/_rels/slide9.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5.jpeg"/><Relationship Id="rId2" Type="http://schemas.openxmlformats.org/officeDocument/2006/relationships/image" Target="../media/image3.png"/><Relationship Id="rId1" Type="http://schemas.openxmlformats.org/officeDocument/2006/relationships/tags" Target="../tags/tag2.xml"/></Relationships>
</file>

<file path=ppt/slides/_rels/slide10.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8.jpeg"/><Relationship Id="rId2" Type="http://schemas.openxmlformats.org/officeDocument/2006/relationships/image" Target="../media/image7.jpeg"/><Relationship Id="rId1" Type="http://schemas.openxmlformats.org/officeDocument/2006/relationships/image" Target="../media/image6.jpe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9.jpe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0.jpeg"/></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1.jpeg"/></Relationships>
</file>

<file path=ppt/slides/_rels/slide16.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image" Target="../media/image13.jpeg"/><Relationship Id="rId3" Type="http://schemas.openxmlformats.org/officeDocument/2006/relationships/image" Target="../media/image12.jpeg"/><Relationship Id="rId2" Type="http://schemas.openxmlformats.org/officeDocument/2006/relationships/image" Target="../media/image3.png"/><Relationship Id="rId1" Type="http://schemas.openxmlformats.org/officeDocument/2006/relationships/tags" Target="../tags/tag3.xml"/></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15.jpeg"/><Relationship Id="rId1" Type="http://schemas.openxmlformats.org/officeDocument/2006/relationships/image" Target="../media/image14.jpeg"/></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17.jpeg"/><Relationship Id="rId1" Type="http://schemas.openxmlformats.org/officeDocument/2006/relationships/image" Target="../media/image16.jpeg"/></Relationships>
</file>

<file path=ppt/slides/_rels/slide19.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image" Target="../media/image19.png"/><Relationship Id="rId3" Type="http://schemas.openxmlformats.org/officeDocument/2006/relationships/image" Target="../media/image18.jpeg"/><Relationship Id="rId2" Type="http://schemas.openxmlformats.org/officeDocument/2006/relationships/image" Target="../media/image3.png"/><Relationship Id="rId1" Type="http://schemas.openxmlformats.org/officeDocument/2006/relationships/tags" Target="../tags/tag4.xml"/></Relationships>
</file>

<file path=ppt/slides/_rels/slide20.xml.rels><?xml version="1.0" encoding="UTF-8" standalone="yes"?>
<Relationships xmlns="http://schemas.openxmlformats.org/package/2006/relationships"><Relationship Id="rId6" Type="http://schemas.openxmlformats.org/officeDocument/2006/relationships/slideLayout" Target="../slideLayouts/slideLayout1.xml"/><Relationship Id="rId5" Type="http://schemas.openxmlformats.org/officeDocument/2006/relationships/image" Target="../media/image21.jpeg"/><Relationship Id="rId4" Type="http://schemas.openxmlformats.org/officeDocument/2006/relationships/image" Target="../media/image18.jpeg"/><Relationship Id="rId3" Type="http://schemas.openxmlformats.org/officeDocument/2006/relationships/image" Target="../media/image20.jpeg"/><Relationship Id="rId2" Type="http://schemas.openxmlformats.org/officeDocument/2006/relationships/image" Target="../media/image3.png"/><Relationship Id="rId1" Type="http://schemas.openxmlformats.org/officeDocument/2006/relationships/tags" Target="../tags/tag5.xml"/></Relationships>
</file>

<file path=ppt/slides/_rels/slide2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23.png"/><Relationship Id="rId1" Type="http://schemas.openxmlformats.org/officeDocument/2006/relationships/image" Target="../media/image22.png"/></Relationships>
</file>

<file path=ppt/slides/_rels/slide22.xml.rels><?xml version="1.0" encoding="UTF-8" standalone="yes"?>
<Relationships xmlns="http://schemas.openxmlformats.org/package/2006/relationships"><Relationship Id="rId7" Type="http://schemas.openxmlformats.org/officeDocument/2006/relationships/slideLayout" Target="../slideLayouts/slideLayout1.xml"/><Relationship Id="rId6" Type="http://schemas.openxmlformats.org/officeDocument/2006/relationships/image" Target="../media/image27.jpeg"/><Relationship Id="rId5" Type="http://schemas.openxmlformats.org/officeDocument/2006/relationships/image" Target="../media/image26.jpeg"/><Relationship Id="rId4" Type="http://schemas.openxmlformats.org/officeDocument/2006/relationships/image" Target="../media/image25.jpeg"/><Relationship Id="rId3" Type="http://schemas.openxmlformats.org/officeDocument/2006/relationships/image" Target="../media/image24.jpeg"/><Relationship Id="rId2" Type="http://schemas.openxmlformats.org/officeDocument/2006/relationships/image" Target="../media/image3.png"/><Relationship Id="rId1" Type="http://schemas.openxmlformats.org/officeDocument/2006/relationships/tags" Target="../tags/tag6.xml"/></Relationships>
</file>

<file path=ppt/slides/_rels/slide23.xml.rels><?xml version="1.0" encoding="UTF-8" standalone="yes"?>
<Relationships xmlns="http://schemas.openxmlformats.org/package/2006/relationships"><Relationship Id="rId7" Type="http://schemas.openxmlformats.org/officeDocument/2006/relationships/slideLayout" Target="../slideLayouts/slideLayout1.xml"/><Relationship Id="rId6" Type="http://schemas.openxmlformats.org/officeDocument/2006/relationships/image" Target="../media/image27.jpeg"/><Relationship Id="rId5" Type="http://schemas.openxmlformats.org/officeDocument/2006/relationships/image" Target="../media/image26.jpeg"/><Relationship Id="rId4" Type="http://schemas.openxmlformats.org/officeDocument/2006/relationships/image" Target="../media/image25.jpeg"/><Relationship Id="rId3" Type="http://schemas.openxmlformats.org/officeDocument/2006/relationships/image" Target="../media/image24.jpeg"/><Relationship Id="rId2" Type="http://schemas.openxmlformats.org/officeDocument/2006/relationships/image" Target="../media/image3.png"/><Relationship Id="rId1" Type="http://schemas.openxmlformats.org/officeDocument/2006/relationships/tags" Target="../tags/tag7.xml"/></Relationships>
</file>

<file path=ppt/slides/_rels/slide24.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image" Target="../media/image31.jpeg"/><Relationship Id="rId3" Type="http://schemas.openxmlformats.org/officeDocument/2006/relationships/image" Target="../media/image30.jpeg"/><Relationship Id="rId2" Type="http://schemas.openxmlformats.org/officeDocument/2006/relationships/image" Target="../media/image29.jpeg"/><Relationship Id="rId1" Type="http://schemas.openxmlformats.org/officeDocument/2006/relationships/image" Target="../media/image28.jpeg"/></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32.png"/></Relationships>
</file>

<file path=ppt/slides/_rels/slide26.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33.jpeg"/><Relationship Id="rId1" Type="http://schemas.openxmlformats.org/officeDocument/2006/relationships/image" Target="../media/image28.jpeg"/></Relationships>
</file>

<file path=ppt/slides/_rels/slide27.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34.jpeg"/><Relationship Id="rId1" Type="http://schemas.openxmlformats.org/officeDocument/2006/relationships/image" Target="../media/image29.jpeg"/></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30.jpeg"/></Relationships>
</file>

<file path=ppt/slides/_rels/slide29.xml.rels><?xml version="1.0" encoding="UTF-8" standalone="yes"?>
<Relationships xmlns="http://schemas.openxmlformats.org/package/2006/relationships"><Relationship Id="rId7" Type="http://schemas.openxmlformats.org/officeDocument/2006/relationships/slideLayout" Target="../slideLayouts/slideLayout1.xml"/><Relationship Id="rId6" Type="http://schemas.openxmlformats.org/officeDocument/2006/relationships/hyperlink" Target="http://s.sozhou.com/" TargetMode="External"/><Relationship Id="rId5" Type="http://schemas.openxmlformats.org/officeDocument/2006/relationships/image" Target="../media/image38.jpeg"/><Relationship Id="rId4" Type="http://schemas.openxmlformats.org/officeDocument/2006/relationships/image" Target="../media/image37.png"/><Relationship Id="rId3" Type="http://schemas.openxmlformats.org/officeDocument/2006/relationships/image" Target="../media/image36.jpeg"/><Relationship Id="rId2" Type="http://schemas.openxmlformats.org/officeDocument/2006/relationships/image" Target="../media/image35.png"/><Relationship Id="rId1" Type="http://schemas.openxmlformats.org/officeDocument/2006/relationships/tags" Target="../tags/tag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39.jpeg"/></Relationships>
</file>

<file path=ppt/slides/_rels/slide32.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42.jpeg"/><Relationship Id="rId2" Type="http://schemas.openxmlformats.org/officeDocument/2006/relationships/image" Target="../media/image41.jpeg"/><Relationship Id="rId1" Type="http://schemas.openxmlformats.org/officeDocument/2006/relationships/image" Target="../media/image40.jpeg"/></Relationships>
</file>

<file path=ppt/slides/_rels/slide33.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45.jpeg"/><Relationship Id="rId2" Type="http://schemas.openxmlformats.org/officeDocument/2006/relationships/image" Target="../media/image44.jpeg"/><Relationship Id="rId1" Type="http://schemas.openxmlformats.org/officeDocument/2006/relationships/image" Target="../media/image43.jpe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9" Type="http://schemas.openxmlformats.org/officeDocument/2006/relationships/image" Target="../media/image54.jpeg"/><Relationship Id="rId8" Type="http://schemas.openxmlformats.org/officeDocument/2006/relationships/image" Target="../media/image53.jpeg"/><Relationship Id="rId7" Type="http://schemas.openxmlformats.org/officeDocument/2006/relationships/image" Target="../media/image52.jpeg"/><Relationship Id="rId6" Type="http://schemas.openxmlformats.org/officeDocument/2006/relationships/image" Target="../media/image51.jpeg"/><Relationship Id="rId5" Type="http://schemas.openxmlformats.org/officeDocument/2006/relationships/image" Target="../media/image50.jpeg"/><Relationship Id="rId4" Type="http://schemas.openxmlformats.org/officeDocument/2006/relationships/image" Target="../media/image49.jpeg"/><Relationship Id="rId3" Type="http://schemas.openxmlformats.org/officeDocument/2006/relationships/image" Target="../media/image48.jpeg"/><Relationship Id="rId2" Type="http://schemas.openxmlformats.org/officeDocument/2006/relationships/image" Target="../media/image47.jpeg"/><Relationship Id="rId10" Type="http://schemas.openxmlformats.org/officeDocument/2006/relationships/slideLayout" Target="../slideLayouts/slideLayout1.xml"/><Relationship Id="rId1" Type="http://schemas.openxmlformats.org/officeDocument/2006/relationships/image" Target="../media/image46.jpe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6" name="矩形 25"/>
          <p:cNvSpPr/>
          <p:nvPr/>
        </p:nvSpPr>
        <p:spPr>
          <a:xfrm>
            <a:off x="7148074" y="5659051"/>
            <a:ext cx="137114" cy="286814"/>
          </a:xfrm>
          <a:prstGeom prst="rect">
            <a:avLst/>
          </a:prstGeom>
          <a:solidFill>
            <a:schemeClr val="bg1">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sz="2000">
              <a:solidFill>
                <a:schemeClr val="tx1"/>
              </a:solidFill>
              <a:latin typeface="Arial" panose="020B0604020202020204" pitchFamily="34" charset="0"/>
              <a:ea typeface="微软雅黑" panose="020B0503020204020204" charset="-122"/>
              <a:sym typeface="Arial" panose="020B0604020202020204" pitchFamily="34" charset="0"/>
            </a:endParaRPr>
          </a:p>
        </p:txBody>
      </p:sp>
      <p:sp>
        <p:nvSpPr>
          <p:cNvPr id="28" name="矩形 27"/>
          <p:cNvSpPr/>
          <p:nvPr/>
        </p:nvSpPr>
        <p:spPr>
          <a:xfrm>
            <a:off x="7150018" y="6211975"/>
            <a:ext cx="137114" cy="286814"/>
          </a:xfrm>
          <a:prstGeom prst="rect">
            <a:avLst/>
          </a:prstGeom>
          <a:solidFill>
            <a:schemeClr val="bg1">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sz="2000">
              <a:solidFill>
                <a:schemeClr val="tx1"/>
              </a:solidFill>
              <a:latin typeface="Arial" panose="020B0604020202020204" pitchFamily="34" charset="0"/>
              <a:ea typeface="微软雅黑" panose="020B0503020204020204" charset="-122"/>
              <a:sym typeface="Arial" panose="020B0604020202020204" pitchFamily="34" charset="0"/>
            </a:endParaRPr>
          </a:p>
        </p:txBody>
      </p:sp>
      <p:sp>
        <p:nvSpPr>
          <p:cNvPr id="30" name="文本框 29"/>
          <p:cNvSpPr txBox="1"/>
          <p:nvPr/>
        </p:nvSpPr>
        <p:spPr>
          <a:xfrm>
            <a:off x="74930" y="1748913"/>
            <a:ext cx="12025630" cy="1614805"/>
          </a:xfrm>
          <a:prstGeom prst="rect">
            <a:avLst/>
          </a:prstGeom>
          <a:noFill/>
        </p:spPr>
        <p:txBody>
          <a:bodyPr vert="horz" wrap="square" rtlCol="0">
            <a:spAutoFit/>
          </a:bodyPr>
          <a:lstStyle/>
          <a:p>
            <a:pPr algn="ctr">
              <a:lnSpc>
                <a:spcPct val="150000"/>
              </a:lnSpc>
            </a:pPr>
            <a:r>
              <a:rPr lang="zh-CN" altLang="en-US" sz="6600" b="1" dirty="0">
                <a:ln w="12700">
                  <a:solidFill>
                    <a:schemeClr val="tx2">
                      <a:lumMod val="75000"/>
                    </a:schemeClr>
                  </a:solidFill>
                  <a:prstDash val="solid"/>
                </a:ln>
                <a:solidFill>
                  <a:schemeClr val="bg1">
                    <a:lumMod val="50000"/>
                  </a:schemeClr>
                </a:solidFill>
                <a:effectLst>
                  <a:outerShdw dist="38100" dir="2640000" algn="bl" rotWithShape="0">
                    <a:schemeClr val="tx2">
                      <a:lumMod val="75000"/>
                    </a:schemeClr>
                  </a:outerShdw>
                </a:effectLst>
                <a:latin typeface="字体圈欣意冠黑体" panose="00000500000000000000" pitchFamily="2" charset="-122"/>
                <a:ea typeface="字体圈欣意冠黑体" panose="00000500000000000000" pitchFamily="2" charset="-122"/>
              </a:rPr>
              <a:t>机器人入门培训</a:t>
            </a:r>
            <a:endParaRPr lang="en-US" altLang="zh-CN" sz="6600" b="1" dirty="0">
              <a:ln w="12700">
                <a:solidFill>
                  <a:schemeClr val="tx2">
                    <a:lumMod val="75000"/>
                  </a:schemeClr>
                </a:solidFill>
                <a:prstDash val="solid"/>
              </a:ln>
              <a:solidFill>
                <a:schemeClr val="bg1">
                  <a:lumMod val="50000"/>
                </a:schemeClr>
              </a:solidFill>
              <a:effectLst>
                <a:outerShdw dist="38100" dir="2640000" algn="bl" rotWithShape="0">
                  <a:schemeClr val="tx2">
                    <a:lumMod val="75000"/>
                  </a:schemeClr>
                </a:outerShdw>
              </a:effectLst>
              <a:latin typeface="字体圈欣意冠黑体" panose="00000500000000000000" pitchFamily="2" charset="-122"/>
              <a:ea typeface="字体圈欣意冠黑体" panose="00000500000000000000" pitchFamily="2" charset="-122"/>
            </a:endParaRPr>
          </a:p>
        </p:txBody>
      </p:sp>
      <p:sp>
        <p:nvSpPr>
          <p:cNvPr id="31" name="任意多边形 4"/>
          <p:cNvSpPr/>
          <p:nvPr/>
        </p:nvSpPr>
        <p:spPr>
          <a:xfrm flipV="1">
            <a:off x="0" y="4739640"/>
            <a:ext cx="4602480" cy="2118360"/>
          </a:xfrm>
          <a:custGeom>
            <a:avLst/>
            <a:gdLst>
              <a:gd name="connsiteX0" fmla="*/ 0 w 6078"/>
              <a:gd name="connsiteY0" fmla="*/ 0 h 2816"/>
              <a:gd name="connsiteX1" fmla="*/ 6078 w 6078"/>
              <a:gd name="connsiteY1" fmla="*/ 0 h 2816"/>
              <a:gd name="connsiteX2" fmla="*/ 3195 w 6078"/>
              <a:gd name="connsiteY2" fmla="*/ 2794 h 2816"/>
              <a:gd name="connsiteX3" fmla="*/ 0 w 6078"/>
              <a:gd name="connsiteY3" fmla="*/ 2816 h 2816"/>
              <a:gd name="connsiteX4" fmla="*/ 0 w 6078"/>
              <a:gd name="connsiteY4" fmla="*/ 0 h 28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78" h="2816">
                <a:moveTo>
                  <a:pt x="0" y="0"/>
                </a:moveTo>
                <a:lnTo>
                  <a:pt x="6078" y="0"/>
                </a:lnTo>
                <a:lnTo>
                  <a:pt x="3195" y="2794"/>
                </a:lnTo>
                <a:lnTo>
                  <a:pt x="0" y="2816"/>
                </a:lnTo>
                <a:lnTo>
                  <a:pt x="0" y="0"/>
                </a:lnTo>
                <a:close/>
              </a:path>
            </a:pathLst>
          </a:cu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8" name="文本框 7"/>
          <p:cNvSpPr txBox="1"/>
          <p:nvPr/>
        </p:nvSpPr>
        <p:spPr>
          <a:xfrm>
            <a:off x="-33925" y="5618342"/>
            <a:ext cx="4230625" cy="706755"/>
          </a:xfrm>
          <a:prstGeom prst="rect">
            <a:avLst/>
          </a:prstGeom>
          <a:noFill/>
        </p:spPr>
        <p:txBody>
          <a:bodyPr wrap="square" rtlCol="0">
            <a:spAutoFit/>
          </a:bodyPr>
          <a:lstStyle/>
          <a:p>
            <a:r>
              <a:rPr lang="en-US" altLang="zh-CN" sz="4000" dirty="0">
                <a:solidFill>
                  <a:schemeClr val="bg1"/>
                </a:solidFill>
                <a:latin typeface="Swis721 BlkEx BT" panose="020B0907040502030204" pitchFamily="34" charset="0"/>
              </a:rPr>
              <a:t>NAZARITE</a:t>
            </a:r>
            <a:endParaRPr lang="zh-CN" altLang="en-US" sz="4000" dirty="0">
              <a:solidFill>
                <a:schemeClr val="bg1"/>
              </a:solidFill>
              <a:latin typeface="Swis721 BlkEx BT" panose="020B0907040502030204" pitchFamily="34" charset="0"/>
            </a:endParaRPr>
          </a:p>
        </p:txBody>
      </p:sp>
      <p:sp>
        <p:nvSpPr>
          <p:cNvPr id="2" name="文本框 1"/>
          <p:cNvSpPr txBox="1"/>
          <p:nvPr/>
        </p:nvSpPr>
        <p:spPr>
          <a:xfrm>
            <a:off x="166370" y="3173210"/>
            <a:ext cx="12025630" cy="2122805"/>
          </a:xfrm>
          <a:prstGeom prst="rect">
            <a:avLst/>
          </a:prstGeom>
          <a:noFill/>
        </p:spPr>
        <p:txBody>
          <a:bodyPr vert="horz" wrap="square" rtlCol="0">
            <a:spAutoFit/>
          </a:bodyPr>
          <a:lstStyle/>
          <a:p>
            <a:pPr algn="ctr">
              <a:lnSpc>
                <a:spcPct val="150000"/>
              </a:lnSpc>
            </a:pPr>
            <a:r>
              <a:rPr lang="zh-CN" altLang="en-US" sz="8800" b="1" dirty="0">
                <a:ln w="12700">
                  <a:solidFill>
                    <a:schemeClr val="tx2">
                      <a:lumMod val="75000"/>
                    </a:schemeClr>
                  </a:solidFill>
                  <a:prstDash val="solid"/>
                </a:ln>
                <a:solidFill>
                  <a:schemeClr val="bg1">
                    <a:lumMod val="50000"/>
                  </a:schemeClr>
                </a:solidFill>
                <a:effectLst>
                  <a:outerShdw dist="38100" dir="2640000" algn="bl" rotWithShape="0">
                    <a:schemeClr val="tx2">
                      <a:lumMod val="75000"/>
                    </a:schemeClr>
                  </a:outerShdw>
                </a:effectLst>
                <a:latin typeface="字体圈欣意冠黑体" panose="00000500000000000000" pitchFamily="2" charset="-122"/>
                <a:ea typeface="字体圈欣意冠黑体" panose="00000500000000000000" pitchFamily="2" charset="-122"/>
              </a:rPr>
              <a:t>标准件篇</a:t>
            </a:r>
            <a:endParaRPr lang="zh-CN" altLang="en-US" sz="8800" b="1" dirty="0">
              <a:ln w="12700">
                <a:solidFill>
                  <a:schemeClr val="tx2">
                    <a:lumMod val="75000"/>
                  </a:schemeClr>
                </a:solidFill>
                <a:prstDash val="solid"/>
              </a:ln>
              <a:solidFill>
                <a:schemeClr val="bg1">
                  <a:lumMod val="50000"/>
                </a:schemeClr>
              </a:solidFill>
              <a:effectLst>
                <a:outerShdw dist="38100" dir="2640000" algn="bl" rotWithShape="0">
                  <a:schemeClr val="tx2">
                    <a:lumMod val="75000"/>
                  </a:schemeClr>
                </a:outerShdw>
              </a:effectLst>
              <a:latin typeface="字体圈欣意冠黑体" panose="00000500000000000000" pitchFamily="2" charset="-122"/>
              <a:ea typeface="字体圈欣意冠黑体" panose="00000500000000000000"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fade">
                                      <p:cBhvr>
                                        <p:cTn id="7" dur="500"/>
                                        <p:tgtEl>
                                          <p:spTgt spid="2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8"/>
                                        </p:tgtEl>
                                        <p:attrNameLst>
                                          <p:attrName>style.visibility</p:attrName>
                                        </p:attrNameLst>
                                      </p:cBhvr>
                                      <p:to>
                                        <p:strVal val="visible"/>
                                      </p:to>
                                    </p:set>
                                    <p:animEffect transition="in" filter="fade">
                                      <p:cBhvr>
                                        <p:cTn id="10" dur="500"/>
                                        <p:tgtEl>
                                          <p:spTgt spid="28"/>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30"/>
                                        </p:tgtEl>
                                        <p:attrNameLst>
                                          <p:attrName>style.visibility</p:attrName>
                                        </p:attrNameLst>
                                      </p:cBhvr>
                                      <p:to>
                                        <p:strVal val="visible"/>
                                      </p:to>
                                    </p:set>
                                    <p:animEffect transition="in" filter="fade">
                                      <p:cBhvr>
                                        <p:cTn id="13" dur="1000"/>
                                        <p:tgtEl>
                                          <p:spTgt spid="30"/>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
                                        </p:tgtEl>
                                        <p:attrNameLst>
                                          <p:attrName>style.visibility</p:attrName>
                                        </p:attrNameLst>
                                      </p:cBhvr>
                                      <p:to>
                                        <p:strVal val="visible"/>
                                      </p:to>
                                    </p:set>
                                    <p:animEffect transition="in" filter="fade">
                                      <p:cBhvr>
                                        <p:cTn id="16"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bldLvl="0" animBg="1"/>
      <p:bldP spid="28" grpId="0" bldLvl="0" animBg="1"/>
      <p:bldP spid="30" grpId="0"/>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副标题 2"/>
          <p:cNvSpPr>
            <a:spLocks noGrp="1"/>
          </p:cNvSpPr>
          <p:nvPr>
            <p:ph type="subTitle" idx="1"/>
          </p:nvPr>
        </p:nvSpPr>
        <p:spPr>
          <a:xfrm>
            <a:off x="513715" y="1772285"/>
            <a:ext cx="5170805" cy="711200"/>
          </a:xfrm>
        </p:spPr>
        <p:txBody>
          <a:bodyPr>
            <a:normAutofit/>
          </a:bodyPr>
          <a:lstStyle/>
          <a:p>
            <a:r>
              <a:rPr lang="en-US" altLang="zh-CN" sz="4000" dirty="0">
                <a:latin typeface="华文琥珀" panose="02010800040101010101" charset="-122"/>
                <a:ea typeface="华文琥珀" panose="02010800040101010101" charset="-122"/>
              </a:rPr>
              <a:t>I.</a:t>
            </a:r>
            <a:r>
              <a:rPr lang="zh-CN" altLang="en-US" sz="4000" dirty="0">
                <a:latin typeface="华文琥珀" panose="02010800040101010101" charset="-122"/>
                <a:ea typeface="华文琥珀" panose="02010800040101010101" charset="-122"/>
              </a:rPr>
              <a:t> 标准件的目的</a:t>
            </a:r>
            <a:endParaRPr lang="zh-CN" altLang="en-US" sz="4000" dirty="0">
              <a:latin typeface="华文琥珀" panose="02010800040101010101" charset="-122"/>
              <a:ea typeface="华文琥珀" panose="02010800040101010101" charset="-122"/>
            </a:endParaRPr>
          </a:p>
        </p:txBody>
      </p:sp>
      <p:grpSp>
        <p:nvGrpSpPr>
          <p:cNvPr id="12" name="组合 11"/>
          <p:cNvGrpSpPr/>
          <p:nvPr/>
        </p:nvGrpSpPr>
        <p:grpSpPr>
          <a:xfrm>
            <a:off x="142875" y="99060"/>
            <a:ext cx="4450715" cy="1449705"/>
            <a:chOff x="0" y="816"/>
            <a:chExt cx="7009" cy="2283"/>
          </a:xfrm>
        </p:grpSpPr>
        <p:sp>
          <p:nvSpPr>
            <p:cNvPr id="5" name="任意多边形 4"/>
            <p:cNvSpPr/>
            <p:nvPr/>
          </p:nvSpPr>
          <p:spPr>
            <a:xfrm>
              <a:off x="0" y="816"/>
              <a:ext cx="6336" cy="2283"/>
            </a:xfrm>
            <a:custGeom>
              <a:avLst/>
              <a:gdLst>
                <a:gd name="connsiteX0" fmla="*/ 0 w 6078"/>
                <a:gd name="connsiteY0" fmla="*/ 0 h 2816"/>
                <a:gd name="connsiteX1" fmla="*/ 6078 w 6078"/>
                <a:gd name="connsiteY1" fmla="*/ 0 h 2816"/>
                <a:gd name="connsiteX2" fmla="*/ 3195 w 6078"/>
                <a:gd name="connsiteY2" fmla="*/ 2794 h 2816"/>
                <a:gd name="connsiteX3" fmla="*/ 0 w 6078"/>
                <a:gd name="connsiteY3" fmla="*/ 2816 h 2816"/>
                <a:gd name="connsiteX4" fmla="*/ 0 w 6078"/>
                <a:gd name="connsiteY4" fmla="*/ 0 h 28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78" h="2816">
                  <a:moveTo>
                    <a:pt x="0" y="0"/>
                  </a:moveTo>
                  <a:lnTo>
                    <a:pt x="6078" y="0"/>
                  </a:lnTo>
                  <a:lnTo>
                    <a:pt x="3195" y="2794"/>
                  </a:lnTo>
                  <a:lnTo>
                    <a:pt x="0" y="2816"/>
                  </a:lnTo>
                  <a:lnTo>
                    <a:pt x="0" y="0"/>
                  </a:ln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文本框 8"/>
            <p:cNvSpPr txBox="1"/>
            <p:nvPr/>
          </p:nvSpPr>
          <p:spPr>
            <a:xfrm>
              <a:off x="347" y="1133"/>
              <a:ext cx="6662" cy="1309"/>
            </a:xfrm>
            <a:prstGeom prst="rect">
              <a:avLst/>
            </a:prstGeom>
            <a:noFill/>
          </p:spPr>
          <p:txBody>
            <a:bodyPr wrap="square" rtlCol="0">
              <a:spAutoFit/>
            </a:bodyPr>
            <a:lstStyle/>
            <a:p>
              <a:r>
                <a:rPr lang="zh-CN" altLang="en-US" sz="4800" dirty="0">
                  <a:solidFill>
                    <a:schemeClr val="bg1"/>
                  </a:solidFill>
                  <a:latin typeface="Swis721 BlkEx BT" panose="020B0907040502030204" pitchFamily="34" charset="0"/>
                </a:rPr>
                <a:t>目录</a:t>
              </a:r>
              <a:endParaRPr lang="zh-CN" altLang="en-US" sz="4800" dirty="0">
                <a:solidFill>
                  <a:schemeClr val="bg1"/>
                </a:solidFill>
                <a:latin typeface="Swis721 BlkEx BT" panose="020B0907040502030204" pitchFamily="34" charset="0"/>
              </a:endParaRPr>
            </a:p>
          </p:txBody>
        </p:sp>
      </p:grpSp>
      <p:sp>
        <p:nvSpPr>
          <p:cNvPr id="10" name="副标题 2"/>
          <p:cNvSpPr>
            <a:spLocks noGrp="1"/>
          </p:cNvSpPr>
          <p:nvPr/>
        </p:nvSpPr>
        <p:spPr>
          <a:xfrm>
            <a:off x="1216025" y="2545080"/>
            <a:ext cx="9337040" cy="843915"/>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altLang="zh-CN" sz="4000" dirty="0">
                <a:latin typeface="华文琥珀" panose="02010800040101010101" charset="-122"/>
                <a:ea typeface="华文琥珀" panose="02010800040101010101" charset="-122"/>
              </a:rPr>
              <a:t>II.</a:t>
            </a:r>
            <a:r>
              <a:rPr lang="zh-CN" altLang="en-US" sz="4000" dirty="0">
                <a:latin typeface="华文琥珀" panose="02010800040101010101" charset="-122"/>
                <a:ea typeface="华文琥珀" panose="02010800040101010101" charset="-122"/>
              </a:rPr>
              <a:t>实验室常用标准件</a:t>
            </a:r>
            <a:endParaRPr lang="zh-CN" altLang="en-US" sz="4000" dirty="0">
              <a:latin typeface="华文琥珀" panose="02010800040101010101" charset="-122"/>
              <a:ea typeface="华文琥珀" panose="02010800040101010101" charset="-122"/>
            </a:endParaRPr>
          </a:p>
        </p:txBody>
      </p:sp>
      <p:sp>
        <p:nvSpPr>
          <p:cNvPr id="15" name="直角三角形 14"/>
          <p:cNvSpPr/>
          <p:nvPr/>
        </p:nvSpPr>
        <p:spPr>
          <a:xfrm>
            <a:off x="0" y="5943600"/>
            <a:ext cx="2781935" cy="915035"/>
          </a:xfrm>
          <a:prstGeom prst="rtTriangle">
            <a:avLst/>
          </a:prstGeom>
          <a:solidFill>
            <a:schemeClr val="tx2">
              <a:lumMod val="20000"/>
              <a:lumOff val="80000"/>
            </a:schemeClr>
          </a:solidFill>
          <a:ln>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副标题 2"/>
          <p:cNvSpPr>
            <a:spLocks noGrp="1"/>
          </p:cNvSpPr>
          <p:nvPr/>
        </p:nvSpPr>
        <p:spPr>
          <a:xfrm>
            <a:off x="1216025" y="3350260"/>
            <a:ext cx="10286365" cy="843915"/>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altLang="zh-CN" sz="4000" dirty="0">
                <a:latin typeface="华文琥珀" panose="02010800040101010101" charset="-122"/>
                <a:ea typeface="华文琥珀" panose="02010800040101010101" charset="-122"/>
              </a:rPr>
              <a:t>III.</a:t>
            </a:r>
            <a:r>
              <a:rPr lang="zh-CN" altLang="en-US" sz="4000" dirty="0">
                <a:latin typeface="华文琥珀" panose="02010800040101010101" charset="-122"/>
                <a:ea typeface="华文琥珀" panose="02010800040101010101" charset="-122"/>
              </a:rPr>
              <a:t>工具的使用</a:t>
            </a:r>
            <a:endParaRPr lang="zh-CN" altLang="en-US" sz="4000" dirty="0">
              <a:latin typeface="华文琥珀" panose="02010800040101010101" charset="-122"/>
              <a:ea typeface="华文琥珀" panose="02010800040101010101" charset="-122"/>
            </a:endParaRPr>
          </a:p>
        </p:txBody>
      </p:sp>
      <p:sp>
        <p:nvSpPr>
          <p:cNvPr id="18" name="副标题 2"/>
          <p:cNvSpPr>
            <a:spLocks noGrp="1"/>
          </p:cNvSpPr>
          <p:nvPr/>
        </p:nvSpPr>
        <p:spPr>
          <a:xfrm>
            <a:off x="1216025" y="4170045"/>
            <a:ext cx="10093960" cy="843915"/>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altLang="zh-CN" sz="4000" dirty="0">
                <a:latin typeface="华文琥珀" panose="02010800040101010101" charset="-122"/>
                <a:ea typeface="华文琥珀" panose="02010800040101010101" charset="-122"/>
              </a:rPr>
              <a:t>IV. </a:t>
            </a:r>
            <a:r>
              <a:rPr lang="zh-CN" altLang="en-US" sz="4000" dirty="0">
                <a:latin typeface="华文琥珀" panose="02010800040101010101" charset="-122"/>
                <a:ea typeface="华文琥珀" panose="02010800040101010101" charset="-122"/>
              </a:rPr>
              <a:t>大工程师</a:t>
            </a:r>
            <a:endParaRPr lang="zh-CN" altLang="en-US" sz="4000" dirty="0">
              <a:latin typeface="华文琥珀" panose="02010800040101010101" charset="-122"/>
              <a:ea typeface="华文琥珀" panose="02010800040101010101" charset="-122"/>
            </a:endParaRPr>
          </a:p>
          <a:p>
            <a:pPr algn="l"/>
            <a:endParaRPr lang="zh-CN" altLang="en-US" sz="4000" dirty="0">
              <a:latin typeface="华文琥珀" panose="02010800040101010101" charset="-122"/>
              <a:ea typeface="华文琥珀" panose="02010800040101010101" charset="-122"/>
            </a:endParaRPr>
          </a:p>
        </p:txBody>
      </p:sp>
      <p:sp>
        <p:nvSpPr>
          <p:cNvPr id="20" name="副标题 2"/>
          <p:cNvSpPr>
            <a:spLocks noGrp="1"/>
          </p:cNvSpPr>
          <p:nvPr/>
        </p:nvSpPr>
        <p:spPr>
          <a:xfrm>
            <a:off x="1216025" y="5033509"/>
            <a:ext cx="6051550" cy="843883"/>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endParaRPr lang="zh-CN" altLang="en-US" sz="4000" dirty="0">
              <a:latin typeface="华文琥珀" panose="02010800040101010101" charset="-122"/>
              <a:ea typeface="华文琥珀" panose="02010800040101010101"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0"/>
                                        </p:tgtEl>
                                        <p:attrNameLst>
                                          <p:attrName>style.visibility</p:attrName>
                                        </p:attrNameLst>
                                      </p:cBhvr>
                                      <p:to>
                                        <p:strVal val="visible"/>
                                      </p:to>
                                    </p:set>
                                    <p:anim calcmode="lin" valueType="num">
                                      <p:cBhvr additive="base">
                                        <p:cTn id="13" dur="500" fill="hold"/>
                                        <p:tgtEl>
                                          <p:spTgt spid="10"/>
                                        </p:tgtEl>
                                        <p:attrNameLst>
                                          <p:attrName>ppt_x</p:attrName>
                                        </p:attrNameLst>
                                      </p:cBhvr>
                                      <p:tavLst>
                                        <p:tav tm="0">
                                          <p:val>
                                            <p:strVal val="#ppt_x"/>
                                          </p:val>
                                        </p:tav>
                                        <p:tav tm="100000">
                                          <p:val>
                                            <p:strVal val="#ppt_x"/>
                                          </p:val>
                                        </p:tav>
                                      </p:tavLst>
                                    </p:anim>
                                    <p:anim calcmode="lin" valueType="num">
                                      <p:cBhvr additive="base">
                                        <p:cTn id="14"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7"/>
                                        </p:tgtEl>
                                        <p:attrNameLst>
                                          <p:attrName>style.visibility</p:attrName>
                                        </p:attrNameLst>
                                      </p:cBhvr>
                                      <p:to>
                                        <p:strVal val="visible"/>
                                      </p:to>
                                    </p:set>
                                    <p:anim calcmode="lin" valueType="num">
                                      <p:cBhvr additive="base">
                                        <p:cTn id="19" dur="500" fill="hold"/>
                                        <p:tgtEl>
                                          <p:spTgt spid="17"/>
                                        </p:tgtEl>
                                        <p:attrNameLst>
                                          <p:attrName>ppt_x</p:attrName>
                                        </p:attrNameLst>
                                      </p:cBhvr>
                                      <p:tavLst>
                                        <p:tav tm="0">
                                          <p:val>
                                            <p:strVal val="#ppt_x"/>
                                          </p:val>
                                        </p:tav>
                                        <p:tav tm="100000">
                                          <p:val>
                                            <p:strVal val="#ppt_x"/>
                                          </p:val>
                                        </p:tav>
                                      </p:tavLst>
                                    </p:anim>
                                    <p:anim calcmode="lin" valueType="num">
                                      <p:cBhvr additive="base">
                                        <p:cTn id="20"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8"/>
                                        </p:tgtEl>
                                        <p:attrNameLst>
                                          <p:attrName>style.visibility</p:attrName>
                                        </p:attrNameLst>
                                      </p:cBhvr>
                                      <p:to>
                                        <p:strVal val="visible"/>
                                      </p:to>
                                    </p:set>
                                    <p:anim calcmode="lin" valueType="num">
                                      <p:cBhvr additive="base">
                                        <p:cTn id="25" dur="500" fill="hold"/>
                                        <p:tgtEl>
                                          <p:spTgt spid="18"/>
                                        </p:tgtEl>
                                        <p:attrNameLst>
                                          <p:attrName>ppt_x</p:attrName>
                                        </p:attrNameLst>
                                      </p:cBhvr>
                                      <p:tavLst>
                                        <p:tav tm="0">
                                          <p:val>
                                            <p:strVal val="#ppt_x"/>
                                          </p:val>
                                        </p:tav>
                                        <p:tav tm="100000">
                                          <p:val>
                                            <p:strVal val="#ppt_x"/>
                                          </p:val>
                                        </p:tav>
                                      </p:tavLst>
                                    </p:anim>
                                    <p:anim calcmode="lin" valueType="num">
                                      <p:cBhvr additive="base">
                                        <p:cTn id="26" dur="500" fill="hold"/>
                                        <p:tgtEl>
                                          <p:spTgt spid="18"/>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nodePh="1">
                                  <p:stCondLst>
                                    <p:cond delay="0"/>
                                  </p:stCondLst>
                                  <p:endCondLst>
                                    <p:cond evt="begin" delay="0">
                                      <p:tn val="29"/>
                                    </p:cond>
                                  </p:endCondLst>
                                  <p:childTnLst>
                                    <p:set>
                                      <p:cBhvr>
                                        <p:cTn id="30" dur="1" fill="hold">
                                          <p:stCondLst>
                                            <p:cond delay="0"/>
                                          </p:stCondLst>
                                        </p:cTn>
                                        <p:tgtEl>
                                          <p:spTgt spid="20"/>
                                        </p:tgtEl>
                                        <p:attrNameLst>
                                          <p:attrName>style.visibility</p:attrName>
                                        </p:attrNameLst>
                                      </p:cBhvr>
                                      <p:to>
                                        <p:strVal val="visible"/>
                                      </p:to>
                                    </p:set>
                                    <p:anim calcmode="lin" valueType="num">
                                      <p:cBhvr additive="base">
                                        <p:cTn id="31" dur="500" fill="hold"/>
                                        <p:tgtEl>
                                          <p:spTgt spid="20"/>
                                        </p:tgtEl>
                                        <p:attrNameLst>
                                          <p:attrName>ppt_x</p:attrName>
                                        </p:attrNameLst>
                                      </p:cBhvr>
                                      <p:tavLst>
                                        <p:tav tm="0">
                                          <p:val>
                                            <p:strVal val="#ppt_x"/>
                                          </p:val>
                                        </p:tav>
                                        <p:tav tm="100000">
                                          <p:val>
                                            <p:strVal val="#ppt_x"/>
                                          </p:val>
                                        </p:tav>
                                      </p:tavLst>
                                    </p:anim>
                                    <p:anim calcmode="lin" valueType="num">
                                      <p:cBhvr additive="base">
                                        <p:cTn id="32" dur="500" fill="hold"/>
                                        <p:tgtEl>
                                          <p:spTgt spid="2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3" grpId="1" build="p"/>
      <p:bldP spid="10" grpId="0"/>
      <p:bldP spid="10" grpId="1"/>
      <p:bldP spid="17" grpId="0"/>
      <p:bldP spid="17" grpId="1"/>
      <p:bldP spid="18" grpId="0"/>
      <p:bldP spid="18" grpId="1"/>
      <p:bldP spid="20" grpId="0"/>
      <p:bldP spid="20" grpId="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任意多边形 4"/>
          <p:cNvSpPr/>
          <p:nvPr/>
        </p:nvSpPr>
        <p:spPr>
          <a:xfrm flipV="1">
            <a:off x="0" y="4739640"/>
            <a:ext cx="4602480" cy="2118360"/>
          </a:xfrm>
          <a:custGeom>
            <a:avLst/>
            <a:gdLst>
              <a:gd name="connsiteX0" fmla="*/ 0 w 6078"/>
              <a:gd name="connsiteY0" fmla="*/ 0 h 2816"/>
              <a:gd name="connsiteX1" fmla="*/ 6078 w 6078"/>
              <a:gd name="connsiteY1" fmla="*/ 0 h 2816"/>
              <a:gd name="connsiteX2" fmla="*/ 3195 w 6078"/>
              <a:gd name="connsiteY2" fmla="*/ 2794 h 2816"/>
              <a:gd name="connsiteX3" fmla="*/ 0 w 6078"/>
              <a:gd name="connsiteY3" fmla="*/ 2816 h 2816"/>
              <a:gd name="connsiteX4" fmla="*/ 0 w 6078"/>
              <a:gd name="connsiteY4" fmla="*/ 0 h 28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78" h="2816">
                <a:moveTo>
                  <a:pt x="0" y="0"/>
                </a:moveTo>
                <a:lnTo>
                  <a:pt x="6078" y="0"/>
                </a:lnTo>
                <a:lnTo>
                  <a:pt x="3195" y="2794"/>
                </a:lnTo>
                <a:lnTo>
                  <a:pt x="0" y="2816"/>
                </a:lnTo>
                <a:lnTo>
                  <a:pt x="0" y="0"/>
                </a:lnTo>
                <a:close/>
              </a:path>
            </a:pathLst>
          </a:cu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8" name="文本框 7"/>
          <p:cNvSpPr txBox="1"/>
          <p:nvPr/>
        </p:nvSpPr>
        <p:spPr>
          <a:xfrm>
            <a:off x="-33925" y="5618342"/>
            <a:ext cx="4230625" cy="706755"/>
          </a:xfrm>
          <a:prstGeom prst="rect">
            <a:avLst/>
          </a:prstGeom>
          <a:noFill/>
        </p:spPr>
        <p:txBody>
          <a:bodyPr wrap="square" rtlCol="0">
            <a:spAutoFit/>
          </a:bodyPr>
          <a:lstStyle/>
          <a:p>
            <a:r>
              <a:rPr lang="en-US" altLang="zh-CN" sz="4000" dirty="0">
                <a:solidFill>
                  <a:schemeClr val="bg1"/>
                </a:solidFill>
                <a:latin typeface="Swis721 BlkEx BT" panose="020B0907040502030204" pitchFamily="34" charset="0"/>
              </a:rPr>
              <a:t>NAZARITE</a:t>
            </a:r>
            <a:endParaRPr lang="zh-CN" altLang="en-US" sz="4000" dirty="0">
              <a:solidFill>
                <a:schemeClr val="bg1"/>
              </a:solidFill>
              <a:latin typeface="Swis721 BlkEx BT" panose="020B0907040502030204" pitchFamily="34" charset="0"/>
            </a:endParaRPr>
          </a:p>
        </p:txBody>
      </p:sp>
      <p:sp>
        <p:nvSpPr>
          <p:cNvPr id="2" name="文本框 1"/>
          <p:cNvSpPr txBox="1"/>
          <p:nvPr/>
        </p:nvSpPr>
        <p:spPr>
          <a:xfrm>
            <a:off x="-457808" y="2129189"/>
            <a:ext cx="12025630" cy="2122805"/>
          </a:xfrm>
          <a:prstGeom prst="rect">
            <a:avLst/>
          </a:prstGeom>
          <a:noFill/>
        </p:spPr>
        <p:txBody>
          <a:bodyPr vert="horz" wrap="square" rtlCol="0">
            <a:spAutoFit/>
          </a:bodyPr>
          <a:lstStyle/>
          <a:p>
            <a:pPr algn="ctr">
              <a:lnSpc>
                <a:spcPct val="150000"/>
              </a:lnSpc>
            </a:pPr>
            <a:r>
              <a:rPr lang="en-US" altLang="zh-CN" sz="8800" b="1" dirty="0">
                <a:ln w="12700">
                  <a:solidFill>
                    <a:schemeClr val="tx2">
                      <a:lumMod val="75000"/>
                    </a:schemeClr>
                  </a:solidFill>
                  <a:prstDash val="solid"/>
                </a:ln>
                <a:solidFill>
                  <a:schemeClr val="bg1">
                    <a:lumMod val="50000"/>
                  </a:schemeClr>
                </a:solidFill>
                <a:effectLst>
                  <a:outerShdw dist="38100" dir="2640000" algn="bl" rotWithShape="0">
                    <a:schemeClr val="tx2">
                      <a:lumMod val="75000"/>
                    </a:schemeClr>
                  </a:outerShdw>
                </a:effectLst>
                <a:latin typeface="字体圈欣意冠黑体" panose="00000500000000000000" pitchFamily="2" charset="-122"/>
                <a:ea typeface="字体圈欣意冠黑体" panose="00000500000000000000" pitchFamily="2" charset="-122"/>
              </a:rPr>
              <a:t>I.</a:t>
            </a:r>
            <a:r>
              <a:rPr lang="zh-CN" altLang="en-US" sz="8800" b="1" dirty="0">
                <a:ln w="12700">
                  <a:solidFill>
                    <a:schemeClr val="tx2">
                      <a:lumMod val="75000"/>
                    </a:schemeClr>
                  </a:solidFill>
                  <a:prstDash val="solid"/>
                </a:ln>
                <a:solidFill>
                  <a:schemeClr val="bg1">
                    <a:lumMod val="50000"/>
                  </a:schemeClr>
                </a:solidFill>
                <a:effectLst>
                  <a:outerShdw dist="38100" dir="2640000" algn="bl" rotWithShape="0">
                    <a:schemeClr val="tx2">
                      <a:lumMod val="75000"/>
                    </a:schemeClr>
                  </a:outerShdw>
                </a:effectLst>
                <a:latin typeface="字体圈欣意冠黑体" panose="00000500000000000000" pitchFamily="2" charset="-122"/>
                <a:ea typeface="字体圈欣意冠黑体" panose="00000500000000000000" pitchFamily="2" charset="-122"/>
              </a:rPr>
              <a:t>标准件的目的</a:t>
            </a:r>
            <a:endParaRPr lang="zh-CN" altLang="en-US" sz="8800" b="1" dirty="0">
              <a:ln w="12700">
                <a:solidFill>
                  <a:schemeClr val="tx2">
                    <a:lumMod val="75000"/>
                  </a:schemeClr>
                </a:solidFill>
                <a:prstDash val="solid"/>
              </a:ln>
              <a:solidFill>
                <a:schemeClr val="bg1">
                  <a:lumMod val="50000"/>
                </a:schemeClr>
              </a:solidFill>
              <a:effectLst>
                <a:outerShdw dist="38100" dir="2640000" algn="bl" rotWithShape="0">
                  <a:schemeClr val="tx2">
                    <a:lumMod val="75000"/>
                  </a:schemeClr>
                </a:outerShdw>
              </a:effectLst>
              <a:latin typeface="字体圈欣意冠黑体" panose="00000500000000000000" pitchFamily="2" charset="-122"/>
              <a:ea typeface="字体圈欣意冠黑体" panose="00000500000000000000"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任意多边形 4"/>
          <p:cNvSpPr/>
          <p:nvPr/>
        </p:nvSpPr>
        <p:spPr>
          <a:xfrm>
            <a:off x="142875" y="99060"/>
            <a:ext cx="4759960" cy="1800860"/>
          </a:xfrm>
          <a:custGeom>
            <a:avLst/>
            <a:gdLst>
              <a:gd name="connsiteX0" fmla="*/ 0 w 6078"/>
              <a:gd name="connsiteY0" fmla="*/ 0 h 2816"/>
              <a:gd name="connsiteX1" fmla="*/ 6078 w 6078"/>
              <a:gd name="connsiteY1" fmla="*/ 0 h 2816"/>
              <a:gd name="connsiteX2" fmla="*/ 3195 w 6078"/>
              <a:gd name="connsiteY2" fmla="*/ 2794 h 2816"/>
              <a:gd name="connsiteX3" fmla="*/ 0 w 6078"/>
              <a:gd name="connsiteY3" fmla="*/ 2816 h 2816"/>
              <a:gd name="connsiteX4" fmla="*/ 0 w 6078"/>
              <a:gd name="connsiteY4" fmla="*/ 0 h 28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78" h="2816">
                <a:moveTo>
                  <a:pt x="0" y="0"/>
                </a:moveTo>
                <a:lnTo>
                  <a:pt x="6078" y="0"/>
                </a:lnTo>
                <a:lnTo>
                  <a:pt x="3195" y="2794"/>
                </a:lnTo>
                <a:lnTo>
                  <a:pt x="0" y="2816"/>
                </a:lnTo>
                <a:lnTo>
                  <a:pt x="0" y="0"/>
                </a:ln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直角三角形 14"/>
          <p:cNvSpPr/>
          <p:nvPr/>
        </p:nvSpPr>
        <p:spPr>
          <a:xfrm>
            <a:off x="0" y="5943600"/>
            <a:ext cx="2781935" cy="915035"/>
          </a:xfrm>
          <a:prstGeom prst="rtTriangle">
            <a:avLst/>
          </a:prstGeom>
          <a:solidFill>
            <a:schemeClr val="tx2">
              <a:lumMod val="20000"/>
              <a:lumOff val="80000"/>
            </a:schemeClr>
          </a:solidFill>
          <a:ln>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副标题 2"/>
          <p:cNvSpPr txBox="1"/>
          <p:nvPr/>
        </p:nvSpPr>
        <p:spPr>
          <a:xfrm>
            <a:off x="629479" y="2723763"/>
            <a:ext cx="10997590" cy="1800860"/>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endParaRPr lang="zh-CN" altLang="en-US" sz="7200" dirty="0">
              <a:latin typeface="Algerian" panose="04020705040A02060702" pitchFamily="82" charset="0"/>
              <a:ea typeface="Adobe 宋体 Std L" panose="02020300000000000000" pitchFamily="18" charset="-122"/>
            </a:endParaRPr>
          </a:p>
        </p:txBody>
      </p:sp>
      <p:sp>
        <p:nvSpPr>
          <p:cNvPr id="3" name="副标题 2"/>
          <p:cNvSpPr>
            <a:spLocks noGrp="1"/>
          </p:cNvSpPr>
          <p:nvPr>
            <p:ph type="subTitle" idx="1"/>
          </p:nvPr>
        </p:nvSpPr>
        <p:spPr>
          <a:xfrm>
            <a:off x="267364" y="359852"/>
            <a:ext cx="4635624" cy="711200"/>
          </a:xfrm>
        </p:spPr>
        <p:txBody>
          <a:bodyPr>
            <a:noAutofit/>
          </a:bodyPr>
          <a:lstStyle/>
          <a:p>
            <a:r>
              <a:rPr lang="en-US" altLang="zh-CN" sz="4800" dirty="0">
                <a:latin typeface="Algerian" panose="04020705040A02060702" pitchFamily="82" charset="0"/>
                <a:ea typeface="华文琥珀" panose="02010800040101010101" charset="-122"/>
              </a:rPr>
              <a:t>1.</a:t>
            </a:r>
            <a:r>
              <a:rPr lang="zh-CN" altLang="en-US" sz="4800" dirty="0">
                <a:latin typeface="Algerian" panose="04020705040A02060702" pitchFamily="82" charset="0"/>
                <a:ea typeface="华文琥珀" panose="02010800040101010101" charset="-122"/>
              </a:rPr>
              <a:t> 为什么要使用标准件</a:t>
            </a:r>
            <a:r>
              <a:rPr lang="zh-CN" altLang="en-US" sz="4800" dirty="0">
                <a:latin typeface="华文琥珀" panose="02010800040101010101" charset="-122"/>
                <a:ea typeface="华文琥珀" panose="02010800040101010101" charset="-122"/>
              </a:rPr>
              <a:t>？</a:t>
            </a:r>
            <a:endParaRPr lang="zh-CN" altLang="en-US" sz="4800" dirty="0">
              <a:latin typeface="华文琥珀" panose="02010800040101010101" charset="-122"/>
              <a:ea typeface="华文琥珀" panose="02010800040101010101" charset="-122"/>
            </a:endParaRPr>
          </a:p>
        </p:txBody>
      </p:sp>
      <p:sp>
        <p:nvSpPr>
          <p:cNvPr id="2" name="文本框 1"/>
          <p:cNvSpPr txBox="1"/>
          <p:nvPr/>
        </p:nvSpPr>
        <p:spPr>
          <a:xfrm>
            <a:off x="535305" y="1899920"/>
            <a:ext cx="11382375" cy="4039235"/>
          </a:xfrm>
          <a:prstGeom prst="rect">
            <a:avLst/>
          </a:prstGeom>
          <a:noFill/>
        </p:spPr>
        <p:txBody>
          <a:bodyPr wrap="square" rtlCol="0">
            <a:noAutofit/>
          </a:bodyPr>
          <a:lstStyle/>
          <a:p>
            <a:r>
              <a:rPr lang="zh-CN" altLang="en-US"/>
              <a:t>首先我们要明白标准件是和谁相比</a:t>
            </a:r>
            <a:r>
              <a:rPr lang="en-US" altLang="zh-CN"/>
              <a:t>“</a:t>
            </a:r>
            <a:r>
              <a:rPr lang="zh-CN" altLang="en-US"/>
              <a:t>标准</a:t>
            </a:r>
            <a:r>
              <a:rPr lang="en-US" altLang="zh-CN"/>
              <a:t>”</a:t>
            </a:r>
            <a:r>
              <a:rPr lang="zh-CN" altLang="en-US"/>
              <a:t>？</a:t>
            </a:r>
            <a:r>
              <a:rPr lang="en-US" altLang="zh-CN"/>
              <a:t>————</a:t>
            </a:r>
            <a:r>
              <a:rPr lang="zh-CN" altLang="en-US"/>
              <a:t>和非标准件相比</a:t>
            </a:r>
            <a:endParaRPr lang="zh-CN" altLang="en-US"/>
          </a:p>
          <a:p>
            <a:endParaRPr lang="zh-CN" altLang="en-US"/>
          </a:p>
          <a:p>
            <a:r>
              <a:rPr lang="zh-CN" altLang="en-US"/>
              <a:t>标准件：标准件是指按照国家标准（</a:t>
            </a:r>
            <a:r>
              <a:rPr lang="en-US" altLang="zh-CN"/>
              <a:t>GB</a:t>
            </a:r>
            <a:r>
              <a:rPr lang="zh-CN" altLang="en-US"/>
              <a:t>）或者行业标准（欧标</a:t>
            </a:r>
            <a:r>
              <a:rPr lang="en-US" altLang="zh-CN"/>
              <a:t>ISO</a:t>
            </a:r>
            <a:r>
              <a:rPr lang="zh-CN" altLang="en-US"/>
              <a:t>）生产的，具有通用性和互换性的零部件。它们的特点是尺寸、形状、材料等方面都有明确的标准规定，可以在不同的产品中通用，因此具有较低的生产成本和较快的生产周期。</a:t>
            </a:r>
            <a:endParaRPr lang="zh-CN" altLang="en-US"/>
          </a:p>
          <a:p>
            <a:endParaRPr lang="zh-CN" altLang="en-US"/>
          </a:p>
          <a:p>
            <a:r>
              <a:rPr lang="zh-CN" altLang="en-US"/>
              <a:t>非标准件：非标件则是指那些不具备通用性和互换性的零部件，需要根据具体的产品设计或者生产工艺进行定制。它们的特点是尺寸、形状、材料等方面都有特殊的要求，无法在不同的产品中通用，因此生产成本较高，生产周期也较长。</a:t>
            </a:r>
            <a:endParaRPr lang="zh-CN" altLang="en-US"/>
          </a:p>
          <a:p>
            <a:endParaRPr lang="zh-CN" altLang="en-US"/>
          </a:p>
          <a:p>
            <a:r>
              <a:rPr lang="zh-CN" altLang="en-US"/>
              <a:t>标准件重要特点：便宜，通用，方便更换，用在特定场景</a:t>
            </a:r>
            <a:endParaRPr lang="zh-CN" altLang="en-US"/>
          </a:p>
          <a:p>
            <a:endParaRPr lang="zh-CN" altLang="en-US"/>
          </a:p>
          <a:p>
            <a:endParaRPr lang="zh-CN" alt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任意多边形 4"/>
          <p:cNvSpPr/>
          <p:nvPr/>
        </p:nvSpPr>
        <p:spPr>
          <a:xfrm>
            <a:off x="142875" y="99060"/>
            <a:ext cx="4759960" cy="1800860"/>
          </a:xfrm>
          <a:custGeom>
            <a:avLst/>
            <a:gdLst>
              <a:gd name="connsiteX0" fmla="*/ 0 w 6078"/>
              <a:gd name="connsiteY0" fmla="*/ 0 h 2816"/>
              <a:gd name="connsiteX1" fmla="*/ 6078 w 6078"/>
              <a:gd name="connsiteY1" fmla="*/ 0 h 2816"/>
              <a:gd name="connsiteX2" fmla="*/ 3195 w 6078"/>
              <a:gd name="connsiteY2" fmla="*/ 2794 h 2816"/>
              <a:gd name="connsiteX3" fmla="*/ 0 w 6078"/>
              <a:gd name="connsiteY3" fmla="*/ 2816 h 2816"/>
              <a:gd name="connsiteX4" fmla="*/ 0 w 6078"/>
              <a:gd name="connsiteY4" fmla="*/ 0 h 28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78" h="2816">
                <a:moveTo>
                  <a:pt x="0" y="0"/>
                </a:moveTo>
                <a:lnTo>
                  <a:pt x="6078" y="0"/>
                </a:lnTo>
                <a:lnTo>
                  <a:pt x="3195" y="2794"/>
                </a:lnTo>
                <a:lnTo>
                  <a:pt x="0" y="2816"/>
                </a:lnTo>
                <a:lnTo>
                  <a:pt x="0" y="0"/>
                </a:ln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直角三角形 14"/>
          <p:cNvSpPr/>
          <p:nvPr/>
        </p:nvSpPr>
        <p:spPr>
          <a:xfrm>
            <a:off x="0" y="5943600"/>
            <a:ext cx="2781935" cy="915035"/>
          </a:xfrm>
          <a:prstGeom prst="rtTriangle">
            <a:avLst/>
          </a:prstGeom>
          <a:solidFill>
            <a:schemeClr val="tx2">
              <a:lumMod val="20000"/>
              <a:lumOff val="80000"/>
            </a:schemeClr>
          </a:solidFill>
          <a:ln>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副标题 2"/>
          <p:cNvSpPr txBox="1"/>
          <p:nvPr/>
        </p:nvSpPr>
        <p:spPr>
          <a:xfrm>
            <a:off x="629479" y="2723763"/>
            <a:ext cx="10997590" cy="1800860"/>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endParaRPr lang="zh-CN" altLang="en-US" sz="7200" dirty="0">
              <a:latin typeface="Algerian" panose="04020705040A02060702" pitchFamily="82" charset="0"/>
              <a:ea typeface="Adobe 宋体 Std L" panose="02020300000000000000" pitchFamily="18" charset="-122"/>
            </a:endParaRPr>
          </a:p>
        </p:txBody>
      </p:sp>
      <p:sp>
        <p:nvSpPr>
          <p:cNvPr id="3" name="副标题 2"/>
          <p:cNvSpPr>
            <a:spLocks noGrp="1"/>
          </p:cNvSpPr>
          <p:nvPr>
            <p:ph type="subTitle" idx="1"/>
          </p:nvPr>
        </p:nvSpPr>
        <p:spPr>
          <a:xfrm>
            <a:off x="267335" y="360045"/>
            <a:ext cx="5513070" cy="711200"/>
          </a:xfrm>
        </p:spPr>
        <p:txBody>
          <a:bodyPr>
            <a:noAutofit/>
          </a:bodyPr>
          <a:lstStyle/>
          <a:p>
            <a:r>
              <a:rPr lang="en-US" altLang="zh-CN" sz="4800" dirty="0">
                <a:latin typeface="Algerian" panose="04020705040A02060702" pitchFamily="82" charset="0"/>
                <a:ea typeface="华文琥珀" panose="02010800040101010101" charset="-122"/>
              </a:rPr>
              <a:t>2.</a:t>
            </a:r>
            <a:r>
              <a:rPr lang="zh-CN" altLang="en-US" sz="4800" dirty="0">
                <a:latin typeface="Algerian" panose="04020705040A02060702" pitchFamily="82" charset="0"/>
                <a:ea typeface="华文琥珀" panose="02010800040101010101" charset="-122"/>
              </a:rPr>
              <a:t> 怎么找标准件？</a:t>
            </a:r>
            <a:endParaRPr lang="zh-CN" altLang="en-US" sz="4800" dirty="0">
              <a:latin typeface="Algerian" panose="04020705040A02060702" pitchFamily="82" charset="0"/>
              <a:ea typeface="华文琥珀" panose="02010800040101010101" charset="-122"/>
            </a:endParaRPr>
          </a:p>
        </p:txBody>
      </p:sp>
      <p:sp>
        <p:nvSpPr>
          <p:cNvPr id="2" name="文本框 1"/>
          <p:cNvSpPr txBox="1"/>
          <p:nvPr/>
        </p:nvSpPr>
        <p:spPr>
          <a:xfrm>
            <a:off x="535305" y="1899920"/>
            <a:ext cx="11382375" cy="4039235"/>
          </a:xfrm>
          <a:prstGeom prst="rect">
            <a:avLst/>
          </a:prstGeom>
          <a:noFill/>
        </p:spPr>
        <p:txBody>
          <a:bodyPr wrap="square" rtlCol="0">
            <a:noAutofit/>
          </a:bodyPr>
          <a:lstStyle/>
          <a:p>
            <a:r>
              <a:rPr lang="en-US" altLang="zh-CN"/>
              <a:t>1.</a:t>
            </a:r>
            <a:r>
              <a:rPr lang="zh-CN" altLang="en-US">
                <a:solidFill>
                  <a:srgbClr val="FF0000"/>
                </a:solidFill>
              </a:rPr>
              <a:t>大工程师</a:t>
            </a:r>
            <a:r>
              <a:rPr lang="en-US" altLang="zh-CN"/>
              <a:t>/</a:t>
            </a:r>
            <a:r>
              <a:rPr lang="zh-CN" altLang="en-US"/>
              <a:t>米思米：标准件很多且大多有图纸，但是只用于找型号，一般不在上面购买，淘宝会更便宜一些</a:t>
            </a:r>
            <a:endParaRPr lang="zh-CN" altLang="en-US"/>
          </a:p>
          <a:p>
            <a:r>
              <a:rPr lang="zh-CN" altLang="en-US"/>
              <a:t>个人经验</a:t>
            </a:r>
            <a:endParaRPr lang="zh-CN" altLang="en-US"/>
          </a:p>
          <a:p>
            <a:endParaRPr lang="zh-CN" altLang="en-US"/>
          </a:p>
          <a:p>
            <a:r>
              <a:rPr lang="en-US" altLang="zh-CN"/>
              <a:t>2.</a:t>
            </a:r>
            <a:r>
              <a:rPr lang="zh-CN" altLang="en-US"/>
              <a:t>淘宝：质量参差不齐，可能有假货（轴承）</a:t>
            </a:r>
            <a:endParaRPr lang="zh-CN" altLang="en-US"/>
          </a:p>
          <a:p>
            <a:r>
              <a:rPr lang="zh-CN" altLang="en-US"/>
              <a:t>货比三家，同一个型号不同价格</a:t>
            </a:r>
            <a:endParaRPr lang="zh-CN" altLang="en-US"/>
          </a:p>
          <a:p>
            <a:r>
              <a:rPr lang="zh-CN" altLang="en-US"/>
              <a:t>不一定有图纸（可能是商家自己手测的，不保证精准）可以找商家要图纸，要不要得到是另外一回事</a:t>
            </a:r>
            <a:endParaRPr lang="zh-CN" altLang="en-US"/>
          </a:p>
          <a:p>
            <a:endParaRPr lang="zh-CN" altLang="en-US"/>
          </a:p>
          <a:p>
            <a:r>
              <a:rPr lang="zh-CN" altLang="en-US"/>
              <a:t>最好是要</a:t>
            </a:r>
            <a:r>
              <a:rPr lang="en-US" altLang="zh-CN"/>
              <a:t>sw</a:t>
            </a:r>
            <a:r>
              <a:rPr lang="zh-CN" altLang="en-US"/>
              <a:t>模型，如果只有图纸的话只能手绘，会比较费时</a:t>
            </a:r>
            <a:endParaRPr lang="zh-CN" altLang="en-US"/>
          </a:p>
          <a:p>
            <a:endParaRPr lang="zh-CN" altLang="en-US"/>
          </a:p>
          <a:p>
            <a:r>
              <a:rPr lang="en-US" altLang="zh-CN"/>
              <a:t>3.</a:t>
            </a:r>
            <a:r>
              <a:rPr lang="zh-CN" altLang="en-US"/>
              <a:t>来实验室问师兄师姐，不懂就问</a:t>
            </a:r>
            <a:endParaRPr lang="zh-CN" altLang="en-US"/>
          </a:p>
          <a:p>
            <a:endParaRPr lang="zh-CN" alt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任意多边形 4"/>
          <p:cNvSpPr/>
          <p:nvPr/>
        </p:nvSpPr>
        <p:spPr>
          <a:xfrm flipV="1">
            <a:off x="0" y="4739640"/>
            <a:ext cx="4602480" cy="2118360"/>
          </a:xfrm>
          <a:custGeom>
            <a:avLst/>
            <a:gdLst>
              <a:gd name="connsiteX0" fmla="*/ 0 w 6078"/>
              <a:gd name="connsiteY0" fmla="*/ 0 h 2816"/>
              <a:gd name="connsiteX1" fmla="*/ 6078 w 6078"/>
              <a:gd name="connsiteY1" fmla="*/ 0 h 2816"/>
              <a:gd name="connsiteX2" fmla="*/ 3195 w 6078"/>
              <a:gd name="connsiteY2" fmla="*/ 2794 h 2816"/>
              <a:gd name="connsiteX3" fmla="*/ 0 w 6078"/>
              <a:gd name="connsiteY3" fmla="*/ 2816 h 2816"/>
              <a:gd name="connsiteX4" fmla="*/ 0 w 6078"/>
              <a:gd name="connsiteY4" fmla="*/ 0 h 28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78" h="2816">
                <a:moveTo>
                  <a:pt x="0" y="0"/>
                </a:moveTo>
                <a:lnTo>
                  <a:pt x="6078" y="0"/>
                </a:lnTo>
                <a:lnTo>
                  <a:pt x="3195" y="2794"/>
                </a:lnTo>
                <a:lnTo>
                  <a:pt x="0" y="2816"/>
                </a:lnTo>
                <a:lnTo>
                  <a:pt x="0" y="0"/>
                </a:lnTo>
                <a:close/>
              </a:path>
            </a:pathLst>
          </a:cu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8" name="文本框 7"/>
          <p:cNvSpPr txBox="1"/>
          <p:nvPr/>
        </p:nvSpPr>
        <p:spPr>
          <a:xfrm>
            <a:off x="-33925" y="5618342"/>
            <a:ext cx="4230625" cy="706755"/>
          </a:xfrm>
          <a:prstGeom prst="rect">
            <a:avLst/>
          </a:prstGeom>
          <a:noFill/>
        </p:spPr>
        <p:txBody>
          <a:bodyPr wrap="square" rtlCol="0">
            <a:spAutoFit/>
          </a:bodyPr>
          <a:lstStyle/>
          <a:p>
            <a:r>
              <a:rPr lang="en-US" altLang="zh-CN" sz="4000" dirty="0">
                <a:solidFill>
                  <a:schemeClr val="bg1"/>
                </a:solidFill>
                <a:latin typeface="Swis721 BlkEx BT" panose="020B0907040502030204" pitchFamily="34" charset="0"/>
              </a:rPr>
              <a:t>NAZARITE</a:t>
            </a:r>
            <a:endParaRPr lang="zh-CN" altLang="en-US" sz="4000" dirty="0">
              <a:solidFill>
                <a:schemeClr val="bg1"/>
              </a:solidFill>
              <a:latin typeface="Swis721 BlkEx BT" panose="020B0907040502030204" pitchFamily="34" charset="0"/>
            </a:endParaRPr>
          </a:p>
        </p:txBody>
      </p:sp>
      <p:sp>
        <p:nvSpPr>
          <p:cNvPr id="2" name="文本框 1"/>
          <p:cNvSpPr txBox="1"/>
          <p:nvPr/>
        </p:nvSpPr>
        <p:spPr>
          <a:xfrm>
            <a:off x="-457808" y="2129189"/>
            <a:ext cx="12025630" cy="2122805"/>
          </a:xfrm>
          <a:prstGeom prst="rect">
            <a:avLst/>
          </a:prstGeom>
          <a:noFill/>
        </p:spPr>
        <p:txBody>
          <a:bodyPr vert="horz" wrap="square" rtlCol="0">
            <a:spAutoFit/>
          </a:bodyPr>
          <a:lstStyle/>
          <a:p>
            <a:pPr algn="ctr">
              <a:lnSpc>
                <a:spcPct val="150000"/>
              </a:lnSpc>
            </a:pPr>
            <a:r>
              <a:rPr lang="en-US" altLang="zh-CN" sz="8800" b="1" dirty="0">
                <a:ln w="12700">
                  <a:solidFill>
                    <a:schemeClr val="tx2">
                      <a:lumMod val="75000"/>
                    </a:schemeClr>
                  </a:solidFill>
                  <a:prstDash val="solid"/>
                </a:ln>
                <a:solidFill>
                  <a:schemeClr val="bg1">
                    <a:lumMod val="50000"/>
                  </a:schemeClr>
                </a:solidFill>
                <a:effectLst>
                  <a:outerShdw dist="38100" dir="2640000" algn="bl" rotWithShape="0">
                    <a:schemeClr val="tx2">
                      <a:lumMod val="75000"/>
                    </a:schemeClr>
                  </a:outerShdw>
                </a:effectLst>
                <a:latin typeface="字体圈欣意冠黑体" panose="00000500000000000000" pitchFamily="2" charset="-122"/>
                <a:ea typeface="字体圈欣意冠黑体" panose="00000500000000000000" pitchFamily="2" charset="-122"/>
              </a:rPr>
              <a:t>Ⅱ.</a:t>
            </a:r>
            <a:r>
              <a:rPr lang="zh-CN" altLang="en-US" sz="8800" b="1" dirty="0">
                <a:ln w="12700">
                  <a:solidFill>
                    <a:schemeClr val="tx2">
                      <a:lumMod val="75000"/>
                    </a:schemeClr>
                  </a:solidFill>
                  <a:prstDash val="solid"/>
                </a:ln>
                <a:solidFill>
                  <a:schemeClr val="bg1">
                    <a:lumMod val="50000"/>
                  </a:schemeClr>
                </a:solidFill>
                <a:effectLst>
                  <a:outerShdw dist="38100" dir="2640000" algn="bl" rotWithShape="0">
                    <a:schemeClr val="tx2">
                      <a:lumMod val="75000"/>
                    </a:schemeClr>
                  </a:outerShdw>
                </a:effectLst>
                <a:latin typeface="字体圈欣意冠黑体" panose="00000500000000000000" pitchFamily="2" charset="-122"/>
                <a:ea typeface="字体圈欣意冠黑体" panose="00000500000000000000" pitchFamily="2" charset="-122"/>
              </a:rPr>
              <a:t>实验室常用标准件</a:t>
            </a:r>
            <a:endParaRPr lang="zh-CN" altLang="en-US" sz="8800" b="1" dirty="0">
              <a:ln w="12700">
                <a:solidFill>
                  <a:schemeClr val="tx2">
                    <a:lumMod val="75000"/>
                  </a:schemeClr>
                </a:solidFill>
                <a:prstDash val="solid"/>
              </a:ln>
              <a:solidFill>
                <a:schemeClr val="bg1">
                  <a:lumMod val="50000"/>
                </a:schemeClr>
              </a:solidFill>
              <a:effectLst>
                <a:outerShdw dist="38100" dir="2640000" algn="bl" rotWithShape="0">
                  <a:schemeClr val="tx2">
                    <a:lumMod val="75000"/>
                  </a:schemeClr>
                </a:outerShdw>
              </a:effectLst>
              <a:latin typeface="字体圈欣意冠黑体" panose="00000500000000000000" pitchFamily="2" charset="-122"/>
              <a:ea typeface="字体圈欣意冠黑体" panose="00000500000000000000"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任意多边形 4"/>
          <p:cNvSpPr/>
          <p:nvPr/>
        </p:nvSpPr>
        <p:spPr>
          <a:xfrm>
            <a:off x="142875" y="99060"/>
            <a:ext cx="4759960" cy="1800860"/>
          </a:xfrm>
          <a:custGeom>
            <a:avLst/>
            <a:gdLst>
              <a:gd name="connsiteX0" fmla="*/ 0 w 6078"/>
              <a:gd name="connsiteY0" fmla="*/ 0 h 2816"/>
              <a:gd name="connsiteX1" fmla="*/ 6078 w 6078"/>
              <a:gd name="connsiteY1" fmla="*/ 0 h 2816"/>
              <a:gd name="connsiteX2" fmla="*/ 3195 w 6078"/>
              <a:gd name="connsiteY2" fmla="*/ 2794 h 2816"/>
              <a:gd name="connsiteX3" fmla="*/ 0 w 6078"/>
              <a:gd name="connsiteY3" fmla="*/ 2816 h 2816"/>
              <a:gd name="connsiteX4" fmla="*/ 0 w 6078"/>
              <a:gd name="connsiteY4" fmla="*/ 0 h 28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78" h="2816">
                <a:moveTo>
                  <a:pt x="0" y="0"/>
                </a:moveTo>
                <a:lnTo>
                  <a:pt x="6078" y="0"/>
                </a:lnTo>
                <a:lnTo>
                  <a:pt x="3195" y="2794"/>
                </a:lnTo>
                <a:lnTo>
                  <a:pt x="0" y="2816"/>
                </a:lnTo>
                <a:lnTo>
                  <a:pt x="0" y="0"/>
                </a:ln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直角三角形 14"/>
          <p:cNvSpPr/>
          <p:nvPr/>
        </p:nvSpPr>
        <p:spPr>
          <a:xfrm>
            <a:off x="0" y="5943600"/>
            <a:ext cx="2781935" cy="915035"/>
          </a:xfrm>
          <a:prstGeom prst="rtTriangle">
            <a:avLst/>
          </a:prstGeom>
          <a:solidFill>
            <a:schemeClr val="tx2">
              <a:lumMod val="20000"/>
              <a:lumOff val="80000"/>
            </a:schemeClr>
          </a:solidFill>
          <a:ln>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副标题 2"/>
          <p:cNvSpPr>
            <a:spLocks noGrp="1"/>
          </p:cNvSpPr>
          <p:nvPr>
            <p:ph type="subTitle" idx="1"/>
          </p:nvPr>
        </p:nvSpPr>
        <p:spPr>
          <a:xfrm>
            <a:off x="-127000" y="469265"/>
            <a:ext cx="4100830" cy="711200"/>
          </a:xfrm>
        </p:spPr>
        <p:txBody>
          <a:bodyPr>
            <a:noAutofit/>
          </a:bodyPr>
          <a:lstStyle/>
          <a:p>
            <a:r>
              <a:rPr lang="en-US" altLang="zh-CN" sz="4800" dirty="0">
                <a:latin typeface="Algerian" panose="04020705040A02060702" pitchFamily="82" charset="0"/>
                <a:ea typeface="华文琥珀" panose="02010800040101010101" charset="-122"/>
              </a:rPr>
              <a:t>1.</a:t>
            </a:r>
            <a:r>
              <a:rPr lang="zh-CN" altLang="en-US" sz="4800" dirty="0">
                <a:latin typeface="Algerian" panose="04020705040A02060702" pitchFamily="82" charset="0"/>
                <a:ea typeface="华文琥珀" panose="02010800040101010101" charset="-122"/>
              </a:rPr>
              <a:t>紧固件</a:t>
            </a:r>
            <a:endParaRPr lang="zh-CN" altLang="en-US" sz="4800" dirty="0">
              <a:latin typeface="Algerian" panose="04020705040A02060702" pitchFamily="82" charset="0"/>
              <a:ea typeface="华文琥珀" panose="02010800040101010101" charset="-122"/>
            </a:endParaRPr>
          </a:p>
        </p:txBody>
      </p:sp>
      <p:pic>
        <p:nvPicPr>
          <p:cNvPr id="6" name="图片 5" descr="微信截图_20241024134753"/>
          <p:cNvPicPr>
            <a:picLocks noChangeAspect="1"/>
          </p:cNvPicPr>
          <p:nvPr/>
        </p:nvPicPr>
        <p:blipFill>
          <a:blip r:embed="rId1"/>
          <a:stretch>
            <a:fillRect/>
          </a:stretch>
        </p:blipFill>
        <p:spPr>
          <a:xfrm>
            <a:off x="5027295" y="99060"/>
            <a:ext cx="6835140" cy="4038600"/>
          </a:xfrm>
          <a:prstGeom prst="rect">
            <a:avLst/>
          </a:prstGeom>
        </p:spPr>
      </p:pic>
      <p:sp>
        <p:nvSpPr>
          <p:cNvPr id="21" name="文本框 20"/>
          <p:cNvSpPr txBox="1"/>
          <p:nvPr/>
        </p:nvSpPr>
        <p:spPr>
          <a:xfrm>
            <a:off x="490855" y="2531745"/>
            <a:ext cx="4064000" cy="4007485"/>
          </a:xfrm>
          <a:prstGeom prst="rect">
            <a:avLst/>
          </a:prstGeom>
          <a:noFill/>
        </p:spPr>
        <p:txBody>
          <a:bodyPr wrap="square" rtlCol="0">
            <a:noAutofit/>
          </a:bodyPr>
          <a:lstStyle/>
          <a:p>
            <a:r>
              <a:rPr lang="zh-CN" altLang="en-US"/>
              <a:t>用的最多的紧固件，常常和螺母一起使用，型号一般使用</a:t>
            </a:r>
            <a:r>
              <a:rPr lang="en-US" altLang="zh-CN"/>
              <a:t>M3x</a:t>
            </a:r>
            <a:r>
              <a:rPr lang="zh-CN" altLang="en-US"/>
              <a:t>长度</a:t>
            </a:r>
            <a:endParaRPr lang="zh-CN" altLang="en-US"/>
          </a:p>
          <a:p>
            <a:r>
              <a:rPr lang="en-US" altLang="zh-CN"/>
              <a:t>M</a:t>
            </a:r>
            <a:r>
              <a:rPr lang="zh-CN" altLang="en-US"/>
              <a:t>代表三角螺纹，</a:t>
            </a:r>
            <a:r>
              <a:rPr lang="en-US" altLang="zh-CN"/>
              <a:t>3</a:t>
            </a:r>
            <a:r>
              <a:rPr lang="zh-CN" altLang="en-US"/>
              <a:t>代表公称直径，长度指去帽之后的长度</a:t>
            </a:r>
            <a:endParaRPr lang="zh-CN" altLang="en-US"/>
          </a:p>
          <a:p>
            <a:endParaRPr lang="zh-CN" altLang="en-US"/>
          </a:p>
          <a:p>
            <a:r>
              <a:rPr lang="zh-CN" altLang="en-US"/>
              <a:t>实验室常用的尺寸：</a:t>
            </a:r>
            <a:r>
              <a:rPr lang="en-US" altLang="zh-CN"/>
              <a:t>M3/M4/M5</a:t>
            </a:r>
            <a:endParaRPr lang="en-US" altLang="zh-CN"/>
          </a:p>
          <a:p>
            <a:endParaRPr lang="en-US" altLang="zh-CN"/>
          </a:p>
          <a:p>
            <a:r>
              <a:rPr lang="zh-CN" altLang="en-US"/>
              <a:t>内六角：扭动时不易滑丝</a:t>
            </a:r>
            <a:endParaRPr lang="zh-CN" altLang="en-US"/>
          </a:p>
          <a:p>
            <a:r>
              <a:rPr lang="zh-CN" altLang="en-US"/>
              <a:t>平头：接触面积大</a:t>
            </a:r>
            <a:endParaRPr lang="zh-CN" altLang="en-US"/>
          </a:p>
          <a:p>
            <a:r>
              <a:rPr lang="zh-CN" altLang="en-US"/>
              <a:t>沉头：接触面积大</a:t>
            </a:r>
            <a:r>
              <a:rPr lang="en-US" altLang="zh-CN"/>
              <a:t> </a:t>
            </a:r>
            <a:r>
              <a:rPr lang="zh-CN" altLang="en-US"/>
              <a:t>不会突出工件表面</a:t>
            </a:r>
            <a:endParaRPr lang="zh-CN" altLang="en-US"/>
          </a:p>
          <a:p>
            <a:r>
              <a:rPr lang="zh-CN" altLang="en-US"/>
              <a:t>圆头：圆</a:t>
            </a:r>
            <a:endParaRPr lang="en-US" altLang="zh-CN"/>
          </a:p>
          <a:p>
            <a:endParaRPr lang="zh-CN" alt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任意多边形 4"/>
          <p:cNvSpPr/>
          <p:nvPr/>
        </p:nvSpPr>
        <p:spPr>
          <a:xfrm>
            <a:off x="142875" y="99060"/>
            <a:ext cx="4759960" cy="1800860"/>
          </a:xfrm>
          <a:custGeom>
            <a:avLst/>
            <a:gdLst>
              <a:gd name="connsiteX0" fmla="*/ 0 w 6078"/>
              <a:gd name="connsiteY0" fmla="*/ 0 h 2816"/>
              <a:gd name="connsiteX1" fmla="*/ 6078 w 6078"/>
              <a:gd name="connsiteY1" fmla="*/ 0 h 2816"/>
              <a:gd name="connsiteX2" fmla="*/ 3195 w 6078"/>
              <a:gd name="connsiteY2" fmla="*/ 2794 h 2816"/>
              <a:gd name="connsiteX3" fmla="*/ 0 w 6078"/>
              <a:gd name="connsiteY3" fmla="*/ 2816 h 2816"/>
              <a:gd name="connsiteX4" fmla="*/ 0 w 6078"/>
              <a:gd name="connsiteY4" fmla="*/ 0 h 28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78" h="2816">
                <a:moveTo>
                  <a:pt x="0" y="0"/>
                </a:moveTo>
                <a:lnTo>
                  <a:pt x="6078" y="0"/>
                </a:lnTo>
                <a:lnTo>
                  <a:pt x="3195" y="2794"/>
                </a:lnTo>
                <a:lnTo>
                  <a:pt x="0" y="2816"/>
                </a:lnTo>
                <a:lnTo>
                  <a:pt x="0" y="0"/>
                </a:ln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9" name="图片 18"/>
          <p:cNvPicPr>
            <a:picLocks noChangeAspect="1"/>
          </p:cNvPicPr>
          <p:nvPr>
            <p:custDataLst>
              <p:tags r:id="rId1"/>
            </p:custDataLst>
          </p:nvPr>
        </p:nvPicPr>
        <p:blipFill>
          <a:blip r:embed="rId2" cstate="print">
            <a:extLst>
              <a:ext uri="{28A0092B-C50C-407E-A947-70E740481C1C}">
                <a14:useLocalDpi xmlns:a14="http://schemas.microsoft.com/office/drawing/2010/main" val="0"/>
              </a:ext>
            </a:extLst>
          </a:blip>
          <a:stretch>
            <a:fillRect/>
          </a:stretch>
        </p:blipFill>
        <p:spPr>
          <a:xfrm>
            <a:off x="10145111" y="5472446"/>
            <a:ext cx="2291772" cy="1857342"/>
          </a:xfrm>
          <a:prstGeom prst="rect">
            <a:avLst/>
          </a:prstGeom>
        </p:spPr>
      </p:pic>
      <p:sp>
        <p:nvSpPr>
          <p:cNvPr id="15" name="直角三角形 14"/>
          <p:cNvSpPr/>
          <p:nvPr/>
        </p:nvSpPr>
        <p:spPr>
          <a:xfrm>
            <a:off x="0" y="5943600"/>
            <a:ext cx="2781935" cy="915035"/>
          </a:xfrm>
          <a:prstGeom prst="rtTriangle">
            <a:avLst/>
          </a:prstGeom>
          <a:solidFill>
            <a:schemeClr val="tx2">
              <a:lumMod val="20000"/>
              <a:lumOff val="80000"/>
            </a:schemeClr>
          </a:solidFill>
          <a:ln>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副标题 2"/>
          <p:cNvSpPr>
            <a:spLocks noGrp="1"/>
          </p:cNvSpPr>
          <p:nvPr>
            <p:ph type="subTitle" idx="1"/>
          </p:nvPr>
        </p:nvSpPr>
        <p:spPr>
          <a:xfrm>
            <a:off x="0" y="191770"/>
            <a:ext cx="12039600" cy="1467485"/>
          </a:xfrm>
        </p:spPr>
        <p:txBody>
          <a:bodyPr>
            <a:noAutofit/>
          </a:bodyPr>
          <a:lstStyle/>
          <a:p>
            <a:r>
              <a:rPr lang="en-US" altLang="zh-CN" sz="4800" dirty="0">
                <a:latin typeface="Algerian" panose="04020705040A02060702" pitchFamily="82" charset="0"/>
                <a:ea typeface="华文琥珀" panose="02010800040101010101" charset="-122"/>
              </a:rPr>
              <a:t>1.1.</a:t>
            </a:r>
            <a:r>
              <a:rPr lang="zh-CN" altLang="en-US" sz="4800" dirty="0">
                <a:latin typeface="Algerian" panose="04020705040A02060702" pitchFamily="82" charset="0"/>
                <a:ea typeface="华文琥珀" panose="02010800040101010101" charset="-122"/>
              </a:rPr>
              <a:t>紧固件种类：常用杯头</a:t>
            </a:r>
            <a:r>
              <a:rPr lang="en-US" altLang="zh-CN" sz="4800" dirty="0">
                <a:latin typeface="Algerian" panose="04020705040A02060702" pitchFamily="82" charset="0"/>
                <a:ea typeface="华文琥珀" panose="02010800040101010101" charset="-122"/>
              </a:rPr>
              <a:t>/</a:t>
            </a:r>
            <a:r>
              <a:rPr lang="zh-CN" altLang="en-US" sz="4800" dirty="0">
                <a:latin typeface="Algerian" panose="04020705040A02060702" pitchFamily="82" charset="0"/>
                <a:ea typeface="华文琥珀" panose="02010800040101010101" charset="-122"/>
              </a:rPr>
              <a:t>平头</a:t>
            </a:r>
            <a:endParaRPr lang="zh-CN" altLang="en-US" sz="4800" dirty="0">
              <a:latin typeface="Algerian" panose="04020705040A02060702" pitchFamily="82" charset="0"/>
              <a:ea typeface="华文琥珀" panose="02010800040101010101" charset="-122"/>
            </a:endParaRPr>
          </a:p>
          <a:p>
            <a:r>
              <a:rPr lang="zh-CN" altLang="en-US" sz="4800" dirty="0">
                <a:latin typeface="Algerian" panose="04020705040A02060702" pitchFamily="82" charset="0"/>
                <a:ea typeface="华文琥珀" panose="02010800040101010101" charset="-122"/>
              </a:rPr>
              <a:t>内六角</a:t>
            </a:r>
            <a:r>
              <a:rPr lang="en-US" altLang="zh-CN" sz="4800" dirty="0">
                <a:latin typeface="Algerian" panose="04020705040A02060702" pitchFamily="82" charset="0"/>
                <a:ea typeface="华文琥珀" panose="02010800040101010101" charset="-122"/>
              </a:rPr>
              <a:t>/</a:t>
            </a:r>
            <a:r>
              <a:rPr lang="zh-CN" altLang="en-US" sz="4800" dirty="0">
                <a:latin typeface="Algerian" panose="04020705040A02060702" pitchFamily="82" charset="0"/>
                <a:ea typeface="华文琥珀" panose="02010800040101010101" charset="-122"/>
              </a:rPr>
              <a:t>十字槽</a:t>
            </a:r>
            <a:endParaRPr lang="zh-CN" altLang="en-US" sz="4800" dirty="0">
              <a:latin typeface="Algerian" panose="04020705040A02060702" pitchFamily="82" charset="0"/>
              <a:ea typeface="华文琥珀" panose="02010800040101010101" charset="-122"/>
            </a:endParaRPr>
          </a:p>
        </p:txBody>
      </p:sp>
      <p:pic>
        <p:nvPicPr>
          <p:cNvPr id="2" name="图片 1" descr="微信截图_20241024140355"/>
          <p:cNvPicPr>
            <a:picLocks noChangeAspect="1"/>
          </p:cNvPicPr>
          <p:nvPr/>
        </p:nvPicPr>
        <p:blipFill>
          <a:blip r:embed="rId3"/>
          <a:stretch>
            <a:fillRect/>
          </a:stretch>
        </p:blipFill>
        <p:spPr>
          <a:xfrm>
            <a:off x="152400" y="1784350"/>
            <a:ext cx="11887200" cy="499872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任意多边形 4"/>
          <p:cNvSpPr/>
          <p:nvPr/>
        </p:nvSpPr>
        <p:spPr>
          <a:xfrm>
            <a:off x="142875" y="99060"/>
            <a:ext cx="4759960" cy="1800860"/>
          </a:xfrm>
          <a:custGeom>
            <a:avLst/>
            <a:gdLst>
              <a:gd name="connsiteX0" fmla="*/ 0 w 6078"/>
              <a:gd name="connsiteY0" fmla="*/ 0 h 2816"/>
              <a:gd name="connsiteX1" fmla="*/ 6078 w 6078"/>
              <a:gd name="connsiteY1" fmla="*/ 0 h 2816"/>
              <a:gd name="connsiteX2" fmla="*/ 3195 w 6078"/>
              <a:gd name="connsiteY2" fmla="*/ 2794 h 2816"/>
              <a:gd name="connsiteX3" fmla="*/ 0 w 6078"/>
              <a:gd name="connsiteY3" fmla="*/ 2816 h 2816"/>
              <a:gd name="connsiteX4" fmla="*/ 0 w 6078"/>
              <a:gd name="connsiteY4" fmla="*/ 0 h 28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78" h="2816">
                <a:moveTo>
                  <a:pt x="0" y="0"/>
                </a:moveTo>
                <a:lnTo>
                  <a:pt x="6078" y="0"/>
                </a:lnTo>
                <a:lnTo>
                  <a:pt x="3195" y="2794"/>
                </a:lnTo>
                <a:lnTo>
                  <a:pt x="0" y="2816"/>
                </a:lnTo>
                <a:lnTo>
                  <a:pt x="0" y="0"/>
                </a:ln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9" name="图片 18"/>
          <p:cNvPicPr>
            <a:picLocks noChangeAspect="1"/>
          </p:cNvPicPr>
          <p:nvPr>
            <p:custDataLst>
              <p:tags r:id="rId1"/>
            </p:custDataLst>
          </p:nvPr>
        </p:nvPicPr>
        <p:blipFill>
          <a:blip r:embed="rId2" cstate="print">
            <a:extLst>
              <a:ext uri="{28A0092B-C50C-407E-A947-70E740481C1C}">
                <a14:useLocalDpi xmlns:a14="http://schemas.microsoft.com/office/drawing/2010/main" val="0"/>
              </a:ext>
            </a:extLst>
          </a:blip>
          <a:stretch>
            <a:fillRect/>
          </a:stretch>
        </p:blipFill>
        <p:spPr>
          <a:xfrm>
            <a:off x="10145111" y="5472446"/>
            <a:ext cx="2291772" cy="1857342"/>
          </a:xfrm>
          <a:prstGeom prst="rect">
            <a:avLst/>
          </a:prstGeom>
        </p:spPr>
      </p:pic>
      <p:sp>
        <p:nvSpPr>
          <p:cNvPr id="15" name="直角三角形 14"/>
          <p:cNvSpPr/>
          <p:nvPr/>
        </p:nvSpPr>
        <p:spPr>
          <a:xfrm>
            <a:off x="0" y="5943600"/>
            <a:ext cx="2781935" cy="915035"/>
          </a:xfrm>
          <a:prstGeom prst="rtTriangle">
            <a:avLst/>
          </a:prstGeom>
          <a:solidFill>
            <a:schemeClr val="tx2">
              <a:lumMod val="20000"/>
              <a:lumOff val="80000"/>
            </a:schemeClr>
          </a:solidFill>
          <a:ln>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副标题 2"/>
          <p:cNvSpPr>
            <a:spLocks noGrp="1"/>
          </p:cNvSpPr>
          <p:nvPr>
            <p:ph type="subTitle" idx="1"/>
          </p:nvPr>
        </p:nvSpPr>
        <p:spPr>
          <a:xfrm>
            <a:off x="-127000" y="469265"/>
            <a:ext cx="4100830" cy="711200"/>
          </a:xfrm>
        </p:spPr>
        <p:txBody>
          <a:bodyPr>
            <a:noAutofit/>
          </a:bodyPr>
          <a:lstStyle/>
          <a:p>
            <a:r>
              <a:rPr lang="en-US" altLang="zh-CN" sz="4800" dirty="0">
                <a:latin typeface="Algerian" panose="04020705040A02060702" pitchFamily="82" charset="0"/>
                <a:ea typeface="华文琥珀" panose="02010800040101010101" charset="-122"/>
              </a:rPr>
              <a:t>1.2.</a:t>
            </a:r>
            <a:r>
              <a:rPr lang="zh-CN" altLang="en-US" sz="4800" dirty="0">
                <a:latin typeface="Algerian" panose="04020705040A02060702" pitchFamily="82" charset="0"/>
                <a:ea typeface="华文琥珀" panose="02010800040101010101" charset="-122"/>
              </a:rPr>
              <a:t>紧固件规格</a:t>
            </a:r>
            <a:endParaRPr lang="zh-CN" altLang="en-US" sz="4800" dirty="0">
              <a:latin typeface="Algerian" panose="04020705040A02060702" pitchFamily="82" charset="0"/>
              <a:ea typeface="华文琥珀" panose="02010800040101010101" charset="-122"/>
            </a:endParaRPr>
          </a:p>
        </p:txBody>
      </p:sp>
      <p:pic>
        <p:nvPicPr>
          <p:cNvPr id="2" name="图片 1" descr="微信截图_20241024135416"/>
          <p:cNvPicPr>
            <a:picLocks noChangeAspect="1"/>
          </p:cNvPicPr>
          <p:nvPr/>
        </p:nvPicPr>
        <p:blipFill>
          <a:blip r:embed="rId3"/>
          <a:stretch>
            <a:fillRect/>
          </a:stretch>
        </p:blipFill>
        <p:spPr>
          <a:xfrm>
            <a:off x="5402580" y="361950"/>
            <a:ext cx="6682740" cy="6286500"/>
          </a:xfrm>
          <a:prstGeom prst="rect">
            <a:avLst/>
          </a:prstGeom>
        </p:spPr>
      </p:pic>
      <p:sp>
        <p:nvSpPr>
          <p:cNvPr id="4" name="文本框 3"/>
          <p:cNvSpPr txBox="1"/>
          <p:nvPr/>
        </p:nvSpPr>
        <p:spPr>
          <a:xfrm>
            <a:off x="495935" y="2212340"/>
            <a:ext cx="4064000" cy="2306955"/>
          </a:xfrm>
          <a:prstGeom prst="rect">
            <a:avLst/>
          </a:prstGeom>
          <a:noFill/>
        </p:spPr>
        <p:txBody>
          <a:bodyPr wrap="square" rtlCol="0">
            <a:spAutoFit/>
          </a:bodyPr>
          <a:lstStyle/>
          <a:p>
            <a:r>
              <a:rPr lang="zh-CN" altLang="en-US"/>
              <a:t>当我们要固定内六角螺丝时，</a:t>
            </a:r>
            <a:endParaRPr lang="zh-CN" altLang="en-US"/>
          </a:p>
          <a:p>
            <a:r>
              <a:rPr lang="zh-CN" altLang="en-US"/>
              <a:t>用的内六角扳手常常比螺丝小一圈，</a:t>
            </a:r>
            <a:endParaRPr lang="zh-CN" altLang="en-US"/>
          </a:p>
          <a:p>
            <a:r>
              <a:rPr lang="zh-CN" altLang="en-US"/>
              <a:t>这是因为内六角的尺寸不等于公称直径</a:t>
            </a:r>
            <a:endParaRPr lang="zh-CN" altLang="en-US"/>
          </a:p>
          <a:p>
            <a:r>
              <a:rPr lang="en-US" altLang="zh-CN"/>
              <a:t>d≠smax≠smin</a:t>
            </a:r>
            <a:endParaRPr lang="en-US" altLang="zh-CN"/>
          </a:p>
          <a:p>
            <a:endParaRPr lang="zh-CN" altLang="en-US"/>
          </a:p>
          <a:p>
            <a:r>
              <a:rPr lang="zh-CN" altLang="en-US"/>
              <a:t>建议大家来实验室的时候可以自己买一套内六角</a:t>
            </a:r>
            <a:r>
              <a:rPr lang="en-US" altLang="zh-CN"/>
              <a:t> </a:t>
            </a:r>
            <a:r>
              <a:rPr lang="zh-CN" altLang="en-US"/>
              <a:t>商家都有配好的</a:t>
            </a:r>
            <a:endParaRPr lang="en-US" altLang="zh-CN"/>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任意多边形 4"/>
          <p:cNvSpPr/>
          <p:nvPr/>
        </p:nvSpPr>
        <p:spPr>
          <a:xfrm>
            <a:off x="142875" y="99060"/>
            <a:ext cx="4759960" cy="1800860"/>
          </a:xfrm>
          <a:custGeom>
            <a:avLst/>
            <a:gdLst>
              <a:gd name="connsiteX0" fmla="*/ 0 w 6078"/>
              <a:gd name="connsiteY0" fmla="*/ 0 h 2816"/>
              <a:gd name="connsiteX1" fmla="*/ 6078 w 6078"/>
              <a:gd name="connsiteY1" fmla="*/ 0 h 2816"/>
              <a:gd name="connsiteX2" fmla="*/ 3195 w 6078"/>
              <a:gd name="connsiteY2" fmla="*/ 2794 h 2816"/>
              <a:gd name="connsiteX3" fmla="*/ 0 w 6078"/>
              <a:gd name="connsiteY3" fmla="*/ 2816 h 2816"/>
              <a:gd name="connsiteX4" fmla="*/ 0 w 6078"/>
              <a:gd name="connsiteY4" fmla="*/ 0 h 28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78" h="2816">
                <a:moveTo>
                  <a:pt x="0" y="0"/>
                </a:moveTo>
                <a:lnTo>
                  <a:pt x="6078" y="0"/>
                </a:lnTo>
                <a:lnTo>
                  <a:pt x="3195" y="2794"/>
                </a:lnTo>
                <a:lnTo>
                  <a:pt x="0" y="2816"/>
                </a:lnTo>
                <a:lnTo>
                  <a:pt x="0" y="0"/>
                </a:ln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直角三角形 14"/>
          <p:cNvSpPr/>
          <p:nvPr/>
        </p:nvSpPr>
        <p:spPr>
          <a:xfrm>
            <a:off x="0" y="5943600"/>
            <a:ext cx="2781935" cy="915035"/>
          </a:xfrm>
          <a:prstGeom prst="rtTriangle">
            <a:avLst/>
          </a:prstGeom>
          <a:solidFill>
            <a:schemeClr val="tx2">
              <a:lumMod val="20000"/>
              <a:lumOff val="80000"/>
            </a:schemeClr>
          </a:solidFill>
          <a:ln>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副标题 2"/>
          <p:cNvSpPr>
            <a:spLocks noGrp="1"/>
          </p:cNvSpPr>
          <p:nvPr>
            <p:ph type="subTitle" idx="1"/>
          </p:nvPr>
        </p:nvSpPr>
        <p:spPr>
          <a:xfrm>
            <a:off x="-748030" y="165735"/>
            <a:ext cx="8496300" cy="1467485"/>
          </a:xfrm>
        </p:spPr>
        <p:txBody>
          <a:bodyPr>
            <a:noAutofit/>
          </a:bodyPr>
          <a:lstStyle/>
          <a:p>
            <a:r>
              <a:rPr lang="en-US" altLang="zh-CN" sz="4800" dirty="0">
                <a:latin typeface="Algerian" panose="04020705040A02060702" pitchFamily="82" charset="0"/>
                <a:ea typeface="华文琥珀" panose="02010800040101010101" charset="-122"/>
              </a:rPr>
              <a:t>1.3:</a:t>
            </a:r>
            <a:r>
              <a:rPr lang="zh-CN" altLang="en-US" sz="4800" dirty="0">
                <a:latin typeface="Algerian" panose="04020705040A02060702" pitchFamily="82" charset="0"/>
                <a:ea typeface="华文琥珀" panose="02010800040101010101" charset="-122"/>
              </a:rPr>
              <a:t>铆钉</a:t>
            </a:r>
            <a:r>
              <a:rPr lang="en-US" altLang="zh-CN" sz="4800" dirty="0">
                <a:latin typeface="Algerian" panose="04020705040A02060702" pitchFamily="82" charset="0"/>
                <a:ea typeface="华文琥珀" panose="02010800040101010101" charset="-122"/>
              </a:rPr>
              <a:t> </a:t>
            </a:r>
            <a:r>
              <a:rPr lang="zh-CN" altLang="en-US" sz="4800" dirty="0">
                <a:latin typeface="Algerian" panose="04020705040A02060702" pitchFamily="82" charset="0"/>
                <a:ea typeface="华文琥珀" panose="02010800040101010101" charset="-122"/>
              </a:rPr>
              <a:t>自攻螺丝</a:t>
            </a:r>
            <a:r>
              <a:rPr lang="en-US" altLang="zh-CN" sz="4800" dirty="0">
                <a:latin typeface="Algerian" panose="04020705040A02060702" pitchFamily="82" charset="0"/>
                <a:ea typeface="华文琥珀" panose="02010800040101010101" charset="-122"/>
              </a:rPr>
              <a:t> </a:t>
            </a:r>
            <a:r>
              <a:rPr lang="zh-CN" altLang="en-US" sz="4800" dirty="0">
                <a:latin typeface="Algerian" panose="04020705040A02060702" pitchFamily="82" charset="0"/>
                <a:ea typeface="华文琥珀" panose="02010800040101010101" charset="-122"/>
              </a:rPr>
              <a:t>丝锥</a:t>
            </a:r>
            <a:endParaRPr lang="zh-CN" altLang="en-US" sz="4800" dirty="0">
              <a:latin typeface="Algerian" panose="04020705040A02060702" pitchFamily="82" charset="0"/>
              <a:ea typeface="华文琥珀" panose="02010800040101010101" charset="-122"/>
            </a:endParaRPr>
          </a:p>
        </p:txBody>
      </p:sp>
      <p:sp>
        <p:nvSpPr>
          <p:cNvPr id="4" name="文本框 3"/>
          <p:cNvSpPr txBox="1"/>
          <p:nvPr/>
        </p:nvSpPr>
        <p:spPr>
          <a:xfrm>
            <a:off x="250190" y="1899920"/>
            <a:ext cx="10902315" cy="3020695"/>
          </a:xfrm>
          <a:prstGeom prst="rect">
            <a:avLst/>
          </a:prstGeom>
          <a:noFill/>
        </p:spPr>
        <p:txBody>
          <a:bodyPr wrap="square" rtlCol="0">
            <a:noAutofit/>
          </a:bodyPr>
          <a:lstStyle/>
          <a:p>
            <a:endParaRPr lang="zh-CN" altLang="en-US"/>
          </a:p>
        </p:txBody>
      </p:sp>
      <p:pic>
        <p:nvPicPr>
          <p:cNvPr id="2" name="图片 1" descr="微信截图_20241024141733"/>
          <p:cNvPicPr>
            <a:picLocks noChangeAspect="1"/>
          </p:cNvPicPr>
          <p:nvPr/>
        </p:nvPicPr>
        <p:blipFill>
          <a:blip r:embed="rId1"/>
          <a:stretch>
            <a:fillRect/>
          </a:stretch>
        </p:blipFill>
        <p:spPr>
          <a:xfrm>
            <a:off x="250190" y="1079500"/>
            <a:ext cx="4939030" cy="2286635"/>
          </a:xfrm>
          <a:prstGeom prst="rect">
            <a:avLst/>
          </a:prstGeom>
        </p:spPr>
      </p:pic>
      <p:pic>
        <p:nvPicPr>
          <p:cNvPr id="6" name="图片 5" descr="微信截图_20241024141813"/>
          <p:cNvPicPr>
            <a:picLocks noChangeAspect="1"/>
          </p:cNvPicPr>
          <p:nvPr/>
        </p:nvPicPr>
        <p:blipFill>
          <a:blip r:embed="rId2"/>
          <a:stretch>
            <a:fillRect/>
          </a:stretch>
        </p:blipFill>
        <p:spPr>
          <a:xfrm>
            <a:off x="142875" y="3659505"/>
            <a:ext cx="6010910" cy="2541270"/>
          </a:xfrm>
          <a:prstGeom prst="rect">
            <a:avLst/>
          </a:prstGeom>
        </p:spPr>
      </p:pic>
      <p:pic>
        <p:nvPicPr>
          <p:cNvPr id="7" name="图片 6" descr="微信截图_20241024141800"/>
          <p:cNvPicPr>
            <a:picLocks noChangeAspect="1"/>
          </p:cNvPicPr>
          <p:nvPr/>
        </p:nvPicPr>
        <p:blipFill>
          <a:blip r:embed="rId3"/>
          <a:stretch>
            <a:fillRect/>
          </a:stretch>
        </p:blipFill>
        <p:spPr>
          <a:xfrm>
            <a:off x="5320665" y="969010"/>
            <a:ext cx="6144895" cy="2623820"/>
          </a:xfrm>
          <a:prstGeom prst="rect">
            <a:avLst/>
          </a:prstGeom>
        </p:spPr>
      </p:pic>
      <p:sp>
        <p:nvSpPr>
          <p:cNvPr id="8" name="文本框 7"/>
          <p:cNvSpPr txBox="1"/>
          <p:nvPr/>
        </p:nvSpPr>
        <p:spPr>
          <a:xfrm>
            <a:off x="6362065" y="3879215"/>
            <a:ext cx="4331335" cy="2519680"/>
          </a:xfrm>
          <a:prstGeom prst="rect">
            <a:avLst/>
          </a:prstGeom>
          <a:noFill/>
        </p:spPr>
        <p:txBody>
          <a:bodyPr wrap="square" rtlCol="0">
            <a:noAutofit/>
          </a:bodyPr>
          <a:lstStyle/>
          <a:p>
            <a:r>
              <a:rPr lang="zh-CN" altLang="en-US"/>
              <a:t>不太常用，攻丝的时候会用到丝锥</a:t>
            </a:r>
            <a:endParaRPr lang="zh-CN" altLang="en-US"/>
          </a:p>
          <a:p>
            <a:endParaRPr lang="zh-CN" altLang="en-US"/>
          </a:p>
          <a:p>
            <a:r>
              <a:rPr lang="zh-CN" altLang="en-US"/>
              <a:t>当你的内六角被拧滑丝了，没有其他办法时，用丝锥在内六角内攻丝然后拧下来</a:t>
            </a:r>
            <a:r>
              <a:rPr lang="en-US" altLang="zh-CN"/>
              <a:t> </a:t>
            </a:r>
            <a:endParaRPr lang="en-US" altLang="zh-CN"/>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任意多边形 4"/>
          <p:cNvSpPr/>
          <p:nvPr/>
        </p:nvSpPr>
        <p:spPr>
          <a:xfrm>
            <a:off x="142875" y="99060"/>
            <a:ext cx="4759960" cy="1800860"/>
          </a:xfrm>
          <a:custGeom>
            <a:avLst/>
            <a:gdLst>
              <a:gd name="connsiteX0" fmla="*/ 0 w 6078"/>
              <a:gd name="connsiteY0" fmla="*/ 0 h 2816"/>
              <a:gd name="connsiteX1" fmla="*/ 6078 w 6078"/>
              <a:gd name="connsiteY1" fmla="*/ 0 h 2816"/>
              <a:gd name="connsiteX2" fmla="*/ 3195 w 6078"/>
              <a:gd name="connsiteY2" fmla="*/ 2794 h 2816"/>
              <a:gd name="connsiteX3" fmla="*/ 0 w 6078"/>
              <a:gd name="connsiteY3" fmla="*/ 2816 h 2816"/>
              <a:gd name="connsiteX4" fmla="*/ 0 w 6078"/>
              <a:gd name="connsiteY4" fmla="*/ 0 h 28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78" h="2816">
                <a:moveTo>
                  <a:pt x="0" y="0"/>
                </a:moveTo>
                <a:lnTo>
                  <a:pt x="6078" y="0"/>
                </a:lnTo>
                <a:lnTo>
                  <a:pt x="3195" y="2794"/>
                </a:lnTo>
                <a:lnTo>
                  <a:pt x="0" y="2816"/>
                </a:lnTo>
                <a:lnTo>
                  <a:pt x="0" y="0"/>
                </a:ln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直角三角形 14"/>
          <p:cNvSpPr/>
          <p:nvPr/>
        </p:nvSpPr>
        <p:spPr>
          <a:xfrm>
            <a:off x="0" y="5943600"/>
            <a:ext cx="2781935" cy="915035"/>
          </a:xfrm>
          <a:prstGeom prst="rtTriangle">
            <a:avLst/>
          </a:prstGeom>
          <a:solidFill>
            <a:schemeClr val="tx2">
              <a:lumMod val="20000"/>
              <a:lumOff val="80000"/>
            </a:schemeClr>
          </a:solidFill>
          <a:ln>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副标题 2"/>
          <p:cNvSpPr>
            <a:spLocks noGrp="1"/>
          </p:cNvSpPr>
          <p:nvPr>
            <p:ph type="subTitle" idx="1"/>
          </p:nvPr>
        </p:nvSpPr>
        <p:spPr>
          <a:xfrm>
            <a:off x="0" y="191770"/>
            <a:ext cx="4482465" cy="1467485"/>
          </a:xfrm>
        </p:spPr>
        <p:txBody>
          <a:bodyPr>
            <a:noAutofit/>
          </a:bodyPr>
          <a:lstStyle/>
          <a:p>
            <a:r>
              <a:rPr lang="en-US" altLang="zh-CN" sz="4800" dirty="0">
                <a:latin typeface="Algerian" panose="04020705040A02060702" pitchFamily="82" charset="0"/>
                <a:ea typeface="华文琥珀" panose="02010800040101010101" charset="-122"/>
              </a:rPr>
              <a:t>1.4.</a:t>
            </a:r>
            <a:r>
              <a:rPr lang="zh-CN" altLang="en-US" sz="4800" dirty="0">
                <a:latin typeface="Algerian" panose="04020705040A02060702" pitchFamily="82" charset="0"/>
                <a:ea typeface="华文琥珀" panose="02010800040101010101" charset="-122"/>
              </a:rPr>
              <a:t>螺栓强度：</a:t>
            </a:r>
            <a:endParaRPr lang="zh-CN" altLang="en-US" sz="4800" dirty="0">
              <a:latin typeface="Algerian" panose="04020705040A02060702" pitchFamily="82" charset="0"/>
              <a:ea typeface="华文琥珀" panose="02010800040101010101" charset="-122"/>
            </a:endParaRPr>
          </a:p>
        </p:txBody>
      </p:sp>
      <p:sp>
        <p:nvSpPr>
          <p:cNvPr id="4" name="文本框 3"/>
          <p:cNvSpPr txBox="1"/>
          <p:nvPr/>
        </p:nvSpPr>
        <p:spPr>
          <a:xfrm>
            <a:off x="250190" y="1899920"/>
            <a:ext cx="10902315" cy="4304030"/>
          </a:xfrm>
          <a:prstGeom prst="rect">
            <a:avLst/>
          </a:prstGeom>
          <a:noFill/>
        </p:spPr>
        <p:txBody>
          <a:bodyPr wrap="square" rtlCol="0">
            <a:noAutofit/>
          </a:bodyPr>
          <a:lstStyle/>
          <a:p>
            <a:r>
              <a:rPr lang="zh-CN" altLang="en-US"/>
              <a:t>螺栓性能等级：钢结构连接用螺栓性能等级分为3.6、4.6、4.8、5.6、6.8、8.8、9.8、10.9、12.9等10余个等级，其中8.8级及以上螺栓材质为低碳合金钢或中碳钢并经热处理，通称为高强度螺栓，其余通称为普通螺栓。</a:t>
            </a:r>
            <a:endParaRPr lang="zh-CN" altLang="en-US"/>
          </a:p>
          <a:p>
            <a:endParaRPr lang="zh-CN" altLang="en-US"/>
          </a:p>
          <a:p>
            <a:r>
              <a:rPr lang="zh-CN" altLang="en-US"/>
              <a:t>计算公式：一般的螺栓是用"X.Y"表示强度的，X*100=此螺栓的抗拉强度，X*100*（Y/10）=此螺栓的屈服强度（因为按标识规定：屈服强度/抗拉强度=Y/10）。</a:t>
            </a:r>
            <a:endParaRPr lang="zh-CN" altLang="en-US"/>
          </a:p>
          <a:p>
            <a:endParaRPr lang="zh-CN" altLang="en-US"/>
          </a:p>
          <a:p>
            <a:r>
              <a:rPr lang="zh-CN" altLang="en-US"/>
              <a:t>如4.8级，则此螺栓的抗拉强度为：400MPa；屈服强度为：400*8/10=320MPa。</a:t>
            </a:r>
            <a:endParaRPr lang="zh-CN" altLang="en-US"/>
          </a:p>
          <a:p>
            <a:endParaRPr lang="zh-CN" altLang="en-US"/>
          </a:p>
          <a:p>
            <a:r>
              <a:rPr lang="zh-CN" altLang="en-US"/>
              <a:t>抗拉强度（tensile strength），物理学术语，是金属由均匀塑性形变向局部集中塑性变形过渡的临界值，也是金属在静拉伸条件下的最大承载能力，拉伸试样在承受最大拉应力之前，变形是均匀一致的，但超出之后，金属开始出现缩颈现象，即产生集中变形</a:t>
            </a:r>
            <a:endParaRPr lang="zh-CN" altLang="en-US"/>
          </a:p>
          <a:p>
            <a:endParaRPr lang="zh-CN" altLang="en-US"/>
          </a:p>
          <a:p>
            <a:r>
              <a:rPr lang="zh-CN" altLang="en-US"/>
              <a:t>屈服强度是金属材料发生屈服现象时的屈服极限，也就是抵抗微量塑性变形的应力。大于屈服强度的外力作用，将会使零件永久失效，无法恢复，小于这个的，零件还会恢复原来的样子。</a:t>
            </a:r>
            <a:endParaRPr lang="zh-CN" alt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任意多边形 4"/>
          <p:cNvSpPr/>
          <p:nvPr/>
        </p:nvSpPr>
        <p:spPr>
          <a:xfrm>
            <a:off x="142875" y="99060"/>
            <a:ext cx="4759960" cy="1800860"/>
          </a:xfrm>
          <a:custGeom>
            <a:avLst/>
            <a:gdLst>
              <a:gd name="connsiteX0" fmla="*/ 0 w 6078"/>
              <a:gd name="connsiteY0" fmla="*/ 0 h 2816"/>
              <a:gd name="connsiteX1" fmla="*/ 6078 w 6078"/>
              <a:gd name="connsiteY1" fmla="*/ 0 h 2816"/>
              <a:gd name="connsiteX2" fmla="*/ 3195 w 6078"/>
              <a:gd name="connsiteY2" fmla="*/ 2794 h 2816"/>
              <a:gd name="connsiteX3" fmla="*/ 0 w 6078"/>
              <a:gd name="connsiteY3" fmla="*/ 2816 h 2816"/>
              <a:gd name="connsiteX4" fmla="*/ 0 w 6078"/>
              <a:gd name="connsiteY4" fmla="*/ 0 h 28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78" h="2816">
                <a:moveTo>
                  <a:pt x="0" y="0"/>
                </a:moveTo>
                <a:lnTo>
                  <a:pt x="6078" y="0"/>
                </a:lnTo>
                <a:lnTo>
                  <a:pt x="3195" y="2794"/>
                </a:lnTo>
                <a:lnTo>
                  <a:pt x="0" y="2816"/>
                </a:lnTo>
                <a:lnTo>
                  <a:pt x="0" y="0"/>
                </a:ln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直角三角形 14"/>
          <p:cNvSpPr/>
          <p:nvPr/>
        </p:nvSpPr>
        <p:spPr>
          <a:xfrm>
            <a:off x="0" y="5943600"/>
            <a:ext cx="2781935" cy="915035"/>
          </a:xfrm>
          <a:prstGeom prst="rtTriangle">
            <a:avLst/>
          </a:prstGeom>
          <a:solidFill>
            <a:schemeClr val="tx2">
              <a:lumMod val="20000"/>
              <a:lumOff val="80000"/>
            </a:schemeClr>
          </a:solidFill>
          <a:ln>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副标题 2"/>
          <p:cNvSpPr>
            <a:spLocks noGrp="1"/>
          </p:cNvSpPr>
          <p:nvPr>
            <p:ph type="subTitle" idx="1"/>
          </p:nvPr>
        </p:nvSpPr>
        <p:spPr>
          <a:xfrm>
            <a:off x="0" y="191770"/>
            <a:ext cx="4482465" cy="1467485"/>
          </a:xfrm>
        </p:spPr>
        <p:txBody>
          <a:bodyPr>
            <a:noAutofit/>
          </a:bodyPr>
          <a:lstStyle/>
          <a:p>
            <a:r>
              <a:rPr lang="en-US" altLang="zh-CN" sz="4800" dirty="0">
                <a:latin typeface="Algerian" panose="04020705040A02060702" pitchFamily="82" charset="0"/>
                <a:ea typeface="华文琥珀" panose="02010800040101010101" charset="-122"/>
              </a:rPr>
              <a:t>1.4.</a:t>
            </a:r>
            <a:r>
              <a:rPr lang="zh-CN" altLang="en-US" sz="4800" dirty="0">
                <a:latin typeface="Algerian" panose="04020705040A02060702" pitchFamily="82" charset="0"/>
                <a:ea typeface="华文琥珀" panose="02010800040101010101" charset="-122"/>
              </a:rPr>
              <a:t>螺栓强度：</a:t>
            </a:r>
            <a:endParaRPr lang="zh-CN" altLang="en-US" sz="4800" dirty="0">
              <a:latin typeface="Algerian" panose="04020705040A02060702" pitchFamily="82" charset="0"/>
              <a:ea typeface="华文琥珀" panose="02010800040101010101" charset="-122"/>
            </a:endParaRPr>
          </a:p>
        </p:txBody>
      </p:sp>
      <p:sp>
        <p:nvSpPr>
          <p:cNvPr id="4" name="文本框 3"/>
          <p:cNvSpPr txBox="1"/>
          <p:nvPr/>
        </p:nvSpPr>
        <p:spPr>
          <a:xfrm>
            <a:off x="250190" y="1899920"/>
            <a:ext cx="10902315" cy="4304030"/>
          </a:xfrm>
          <a:prstGeom prst="rect">
            <a:avLst/>
          </a:prstGeom>
          <a:noFill/>
        </p:spPr>
        <p:txBody>
          <a:bodyPr wrap="square" rtlCol="0">
            <a:noAutofit/>
          </a:bodyPr>
          <a:lstStyle/>
          <a:p>
            <a:r>
              <a:rPr lang="zh-CN" altLang="en-US"/>
              <a:t>涉及材料力学的内容</a:t>
            </a:r>
            <a:endParaRPr lang="zh-CN" altLang="en-US"/>
          </a:p>
          <a:p>
            <a:r>
              <a:rPr lang="zh-CN" altLang="en-US"/>
              <a:t>稍微介绍一下</a:t>
            </a:r>
            <a:endParaRPr lang="zh-CN" altLang="en-US"/>
          </a:p>
          <a:p>
            <a:endParaRPr lang="zh-CN" altLang="en-US"/>
          </a:p>
          <a:p>
            <a:r>
              <a:rPr lang="zh-CN" altLang="en-US"/>
              <a:t>线性阶段</a:t>
            </a:r>
            <a:endParaRPr lang="zh-CN" altLang="en-US"/>
          </a:p>
          <a:p>
            <a:endParaRPr lang="zh-CN" altLang="en-US"/>
          </a:p>
          <a:p>
            <a:r>
              <a:rPr lang="zh-CN" altLang="en-US"/>
              <a:t>屈服阶段</a:t>
            </a:r>
            <a:endParaRPr lang="zh-CN" altLang="en-US"/>
          </a:p>
          <a:p>
            <a:endParaRPr lang="zh-CN" altLang="en-US"/>
          </a:p>
          <a:p>
            <a:r>
              <a:rPr lang="zh-CN" altLang="en-US"/>
              <a:t>硬化阶段</a:t>
            </a:r>
            <a:endParaRPr lang="zh-CN" altLang="en-US"/>
          </a:p>
          <a:p>
            <a:endParaRPr lang="zh-CN" altLang="en-US"/>
          </a:p>
          <a:p>
            <a:r>
              <a:rPr lang="zh-CN" altLang="en-US"/>
              <a:t>颈缩阶段</a:t>
            </a:r>
            <a:endParaRPr lang="zh-CN" altLang="en-US"/>
          </a:p>
        </p:txBody>
      </p:sp>
      <p:pic>
        <p:nvPicPr>
          <p:cNvPr id="2" name="图片 1" descr="ea4fee3744a4b249a6ff79243421149a"/>
          <p:cNvPicPr>
            <a:picLocks noChangeAspect="1"/>
          </p:cNvPicPr>
          <p:nvPr/>
        </p:nvPicPr>
        <p:blipFill>
          <a:blip r:embed="rId1"/>
          <a:stretch>
            <a:fillRect/>
          </a:stretch>
        </p:blipFill>
        <p:spPr>
          <a:xfrm>
            <a:off x="2914650" y="913130"/>
            <a:ext cx="9277350" cy="477393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任意多边形 4"/>
          <p:cNvSpPr/>
          <p:nvPr/>
        </p:nvSpPr>
        <p:spPr>
          <a:xfrm>
            <a:off x="142875" y="99060"/>
            <a:ext cx="4759960" cy="1800860"/>
          </a:xfrm>
          <a:custGeom>
            <a:avLst/>
            <a:gdLst>
              <a:gd name="connsiteX0" fmla="*/ 0 w 6078"/>
              <a:gd name="connsiteY0" fmla="*/ 0 h 2816"/>
              <a:gd name="connsiteX1" fmla="*/ 6078 w 6078"/>
              <a:gd name="connsiteY1" fmla="*/ 0 h 2816"/>
              <a:gd name="connsiteX2" fmla="*/ 3195 w 6078"/>
              <a:gd name="connsiteY2" fmla="*/ 2794 h 2816"/>
              <a:gd name="connsiteX3" fmla="*/ 0 w 6078"/>
              <a:gd name="connsiteY3" fmla="*/ 2816 h 2816"/>
              <a:gd name="connsiteX4" fmla="*/ 0 w 6078"/>
              <a:gd name="connsiteY4" fmla="*/ 0 h 28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78" h="2816">
                <a:moveTo>
                  <a:pt x="0" y="0"/>
                </a:moveTo>
                <a:lnTo>
                  <a:pt x="6078" y="0"/>
                </a:lnTo>
                <a:lnTo>
                  <a:pt x="3195" y="2794"/>
                </a:lnTo>
                <a:lnTo>
                  <a:pt x="0" y="2816"/>
                </a:lnTo>
                <a:lnTo>
                  <a:pt x="0" y="0"/>
                </a:ln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直角三角形 14"/>
          <p:cNvSpPr/>
          <p:nvPr/>
        </p:nvSpPr>
        <p:spPr>
          <a:xfrm>
            <a:off x="0" y="5943600"/>
            <a:ext cx="2781935" cy="915035"/>
          </a:xfrm>
          <a:prstGeom prst="rtTriangle">
            <a:avLst/>
          </a:prstGeom>
          <a:solidFill>
            <a:schemeClr val="tx2">
              <a:lumMod val="20000"/>
              <a:lumOff val="80000"/>
            </a:schemeClr>
          </a:solidFill>
          <a:ln>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副标题 2"/>
          <p:cNvSpPr>
            <a:spLocks noGrp="1"/>
          </p:cNvSpPr>
          <p:nvPr>
            <p:ph type="subTitle" idx="1"/>
          </p:nvPr>
        </p:nvSpPr>
        <p:spPr>
          <a:xfrm>
            <a:off x="0" y="191770"/>
            <a:ext cx="4482465" cy="1467485"/>
          </a:xfrm>
        </p:spPr>
        <p:txBody>
          <a:bodyPr>
            <a:noAutofit/>
          </a:bodyPr>
          <a:lstStyle/>
          <a:p>
            <a:r>
              <a:rPr lang="en-US" altLang="zh-CN" sz="4800" dirty="0">
                <a:latin typeface="Algerian" panose="04020705040A02060702" pitchFamily="82" charset="0"/>
                <a:ea typeface="华文琥珀" panose="02010800040101010101" charset="-122"/>
              </a:rPr>
              <a:t>1.5.</a:t>
            </a:r>
            <a:r>
              <a:rPr lang="zh-CN" altLang="en-US" sz="4800" dirty="0">
                <a:latin typeface="Algerian" panose="04020705040A02060702" pitchFamily="82" charset="0"/>
                <a:ea typeface="华文琥珀" panose="02010800040101010101" charset="-122"/>
              </a:rPr>
              <a:t>注意事项：</a:t>
            </a:r>
            <a:endParaRPr lang="zh-CN" altLang="en-US" sz="4800" dirty="0">
              <a:latin typeface="Algerian" panose="04020705040A02060702" pitchFamily="82" charset="0"/>
              <a:ea typeface="华文琥珀" panose="02010800040101010101" charset="-122"/>
            </a:endParaRPr>
          </a:p>
        </p:txBody>
      </p:sp>
      <p:sp>
        <p:nvSpPr>
          <p:cNvPr id="4" name="文本框 3"/>
          <p:cNvSpPr txBox="1"/>
          <p:nvPr/>
        </p:nvSpPr>
        <p:spPr>
          <a:xfrm>
            <a:off x="250190" y="1899920"/>
            <a:ext cx="10902315" cy="4304030"/>
          </a:xfrm>
          <a:prstGeom prst="rect">
            <a:avLst/>
          </a:prstGeom>
          <a:noFill/>
        </p:spPr>
        <p:txBody>
          <a:bodyPr wrap="square" rtlCol="0">
            <a:noAutofit/>
          </a:bodyPr>
          <a:lstStyle/>
          <a:p>
            <a:r>
              <a:rPr lang="zh-CN" altLang="en-US"/>
              <a:t>在使用十字槽的紧固件时，使用对应的十字螺丝刀，不要图方便用小一号的，拧花牙了就没法拆下来了</a:t>
            </a:r>
            <a:endParaRPr lang="zh-CN" altLang="en-US"/>
          </a:p>
          <a:p>
            <a:r>
              <a:rPr lang="zh-CN" altLang="en-US"/>
              <a:t>内六角紧固件同理，请不要拧不动的时候强行加大电动螺丝刀扭矩</a:t>
            </a:r>
            <a:endParaRPr lang="zh-CN" altLang="en-US"/>
          </a:p>
          <a:p>
            <a:endParaRPr lang="zh-CN" altLang="en-US"/>
          </a:p>
          <a:p>
            <a:r>
              <a:rPr lang="zh-CN" altLang="en-US"/>
              <a:t>如果使用平头的螺丝，记得做倒角，使螺帽的表面沉入工件内（平头螺丝又叫沉头螺丝）</a:t>
            </a:r>
            <a:endParaRPr lang="zh-CN" altLang="en-US"/>
          </a:p>
          <a:p>
            <a:endParaRPr lang="zh-CN" altLang="en-US"/>
          </a:p>
          <a:p>
            <a:r>
              <a:rPr lang="zh-CN" altLang="en-US"/>
              <a:t>给对应的螺丝开孔时，留有一定公差，装配的时候不会因为孔开小了或者开大了导致紧固件失能</a:t>
            </a:r>
            <a:endParaRPr lang="zh-CN" altLang="en-US"/>
          </a:p>
          <a:p>
            <a:r>
              <a:rPr lang="zh-CN" altLang="en-US"/>
              <a:t>（具体请自己课下查表，涉及机械设计方面的问题，留到下节课继续讲）</a:t>
            </a:r>
            <a:endParaRPr lang="zh-CN" altLang="en-US"/>
          </a:p>
          <a:p>
            <a:endParaRPr lang="zh-CN" altLang="en-US"/>
          </a:p>
          <a:p>
            <a:r>
              <a:rPr lang="zh-CN" altLang="en-US"/>
              <a:t>如果不是最终确认设计的机构没问题且不需要拆卸，不要轻易使用铆钉，更不要使用</a:t>
            </a:r>
            <a:r>
              <a:rPr lang="zh-CN" altLang="en-US">
                <a:solidFill>
                  <a:srgbClr val="FF0000"/>
                </a:solidFill>
                <a:effectLst>
                  <a:outerShdw blurRad="38100" dist="38100" dir="2700000" algn="tl">
                    <a:srgbClr val="000000">
                      <a:alpha val="43137"/>
                    </a:srgbClr>
                  </a:outerShdw>
                </a:effectLst>
              </a:rPr>
              <a:t>钢制</a:t>
            </a:r>
            <a:r>
              <a:rPr lang="zh-CN" altLang="en-US"/>
              <a:t>铆钉</a:t>
            </a:r>
            <a:endParaRPr lang="zh-CN" altLang="en-US"/>
          </a:p>
          <a:p>
            <a:endParaRPr lang="zh-CN" altLang="en-US"/>
          </a:p>
          <a:p>
            <a:r>
              <a:rPr lang="zh-CN" altLang="en-US"/>
              <a:t>实验室一般不需要攻丝，自攻螺丝也用的很少</a:t>
            </a:r>
            <a:endParaRPr lang="zh-CN" altLang="en-US"/>
          </a:p>
          <a:p>
            <a:endParaRPr lang="zh-CN" altLang="en-US"/>
          </a:p>
          <a:p>
            <a:r>
              <a:rPr lang="zh-CN" altLang="en-US"/>
              <a:t>在紧固件无法正常固定的情况下，可以试着给螺丝上胶水，简单粗暴</a:t>
            </a:r>
            <a:endParaRPr lang="zh-CN" alt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任意多边形 4"/>
          <p:cNvSpPr/>
          <p:nvPr/>
        </p:nvSpPr>
        <p:spPr>
          <a:xfrm>
            <a:off x="142875" y="99060"/>
            <a:ext cx="4759960" cy="1800860"/>
          </a:xfrm>
          <a:custGeom>
            <a:avLst/>
            <a:gdLst>
              <a:gd name="connsiteX0" fmla="*/ 0 w 6078"/>
              <a:gd name="connsiteY0" fmla="*/ 0 h 2816"/>
              <a:gd name="connsiteX1" fmla="*/ 6078 w 6078"/>
              <a:gd name="connsiteY1" fmla="*/ 0 h 2816"/>
              <a:gd name="connsiteX2" fmla="*/ 3195 w 6078"/>
              <a:gd name="connsiteY2" fmla="*/ 2794 h 2816"/>
              <a:gd name="connsiteX3" fmla="*/ 0 w 6078"/>
              <a:gd name="connsiteY3" fmla="*/ 2816 h 2816"/>
              <a:gd name="connsiteX4" fmla="*/ 0 w 6078"/>
              <a:gd name="connsiteY4" fmla="*/ 0 h 28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78" h="2816">
                <a:moveTo>
                  <a:pt x="0" y="0"/>
                </a:moveTo>
                <a:lnTo>
                  <a:pt x="6078" y="0"/>
                </a:lnTo>
                <a:lnTo>
                  <a:pt x="3195" y="2794"/>
                </a:lnTo>
                <a:lnTo>
                  <a:pt x="0" y="2816"/>
                </a:lnTo>
                <a:lnTo>
                  <a:pt x="0" y="0"/>
                </a:ln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直角三角形 14"/>
          <p:cNvSpPr/>
          <p:nvPr/>
        </p:nvSpPr>
        <p:spPr>
          <a:xfrm>
            <a:off x="0" y="5943600"/>
            <a:ext cx="2781935" cy="915035"/>
          </a:xfrm>
          <a:prstGeom prst="rtTriangle">
            <a:avLst/>
          </a:prstGeom>
          <a:solidFill>
            <a:schemeClr val="tx2">
              <a:lumMod val="20000"/>
              <a:lumOff val="80000"/>
            </a:schemeClr>
          </a:solidFill>
          <a:ln>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副标题 2"/>
          <p:cNvSpPr>
            <a:spLocks noGrp="1"/>
          </p:cNvSpPr>
          <p:nvPr>
            <p:ph type="subTitle" idx="1"/>
          </p:nvPr>
        </p:nvSpPr>
        <p:spPr>
          <a:xfrm>
            <a:off x="418465" y="548640"/>
            <a:ext cx="3429635" cy="1104265"/>
          </a:xfrm>
        </p:spPr>
        <p:txBody>
          <a:bodyPr>
            <a:noAutofit/>
          </a:bodyPr>
          <a:lstStyle/>
          <a:p>
            <a:r>
              <a:rPr lang="en-US" altLang="zh-CN" sz="4800" dirty="0">
                <a:latin typeface="Algerian" panose="04020705040A02060702" pitchFamily="82" charset="0"/>
                <a:ea typeface="华文琥珀" panose="02010800040101010101" charset="-122"/>
              </a:rPr>
              <a:t>2</a:t>
            </a:r>
            <a:r>
              <a:rPr lang="zh-CN" altLang="en-US" sz="4800" dirty="0">
                <a:latin typeface="Algerian" panose="04020705040A02060702" pitchFamily="82" charset="0"/>
                <a:ea typeface="华文琥珀" panose="02010800040101010101" charset="-122"/>
              </a:rPr>
              <a:t>：螺母</a:t>
            </a:r>
            <a:endParaRPr lang="zh-CN" altLang="en-US" sz="4800" dirty="0">
              <a:latin typeface="Algerian" panose="04020705040A02060702" pitchFamily="82" charset="0"/>
              <a:ea typeface="华文琥珀" panose="02010800040101010101" charset="-122"/>
            </a:endParaRPr>
          </a:p>
        </p:txBody>
      </p:sp>
      <p:pic>
        <p:nvPicPr>
          <p:cNvPr id="2" name="图片 1" descr="微信截图_20241024142856"/>
          <p:cNvPicPr>
            <a:picLocks noChangeAspect="1"/>
          </p:cNvPicPr>
          <p:nvPr/>
        </p:nvPicPr>
        <p:blipFill>
          <a:blip r:embed="rId1"/>
          <a:stretch>
            <a:fillRect/>
          </a:stretch>
        </p:blipFill>
        <p:spPr>
          <a:xfrm>
            <a:off x="7063740" y="999490"/>
            <a:ext cx="4808220" cy="4091940"/>
          </a:xfrm>
          <a:prstGeom prst="rect">
            <a:avLst/>
          </a:prstGeom>
        </p:spPr>
      </p:pic>
      <p:sp>
        <p:nvSpPr>
          <p:cNvPr id="6" name="文本框 5"/>
          <p:cNvSpPr txBox="1"/>
          <p:nvPr/>
        </p:nvSpPr>
        <p:spPr>
          <a:xfrm>
            <a:off x="418465" y="2016125"/>
            <a:ext cx="6725285" cy="4130040"/>
          </a:xfrm>
          <a:prstGeom prst="rect">
            <a:avLst/>
          </a:prstGeom>
          <a:noFill/>
        </p:spPr>
        <p:txBody>
          <a:bodyPr wrap="square" rtlCol="0">
            <a:noAutofit/>
          </a:bodyPr>
          <a:lstStyle/>
          <a:p>
            <a:r>
              <a:rPr lang="zh-CN" altLang="en-US"/>
              <a:t>常用：六角螺母，防松螺母，滚花螺母</a:t>
            </a:r>
            <a:endParaRPr lang="zh-CN" altLang="en-US"/>
          </a:p>
          <a:p>
            <a:endParaRPr lang="zh-CN" altLang="en-US"/>
          </a:p>
          <a:p>
            <a:r>
              <a:rPr lang="zh-CN" altLang="en-US"/>
              <a:t>防松螺母使用最多，使用时配合内六角扳手和尖嘴钳</a:t>
            </a:r>
            <a:endParaRPr lang="zh-CN" altLang="en-US"/>
          </a:p>
          <a:p>
            <a:r>
              <a:rPr lang="zh-CN" altLang="en-US"/>
              <a:t>（不是卡簧钳）</a:t>
            </a:r>
            <a:endParaRPr lang="zh-CN" altLang="en-US"/>
          </a:p>
          <a:p>
            <a:endParaRPr lang="zh-CN" altLang="en-US"/>
          </a:p>
          <a:p>
            <a:r>
              <a:rPr lang="zh-CN" altLang="en-US"/>
              <a:t>蝴蝶螺母一般不使用</a:t>
            </a:r>
            <a:r>
              <a:rPr lang="en-US" altLang="zh-CN"/>
              <a:t> </a:t>
            </a:r>
            <a:r>
              <a:rPr lang="zh-CN" altLang="en-US"/>
              <a:t>只在一些需要经常松紧的场合使用，比如</a:t>
            </a:r>
            <a:endParaRPr lang="zh-CN" altLang="en-US"/>
          </a:p>
          <a:p>
            <a:r>
              <a:rPr lang="zh-CN" altLang="en-US"/>
              <a:t>台虎钳</a:t>
            </a:r>
            <a:r>
              <a:rPr lang="en-US" altLang="zh-CN"/>
              <a:t> </a:t>
            </a:r>
            <a:endParaRPr lang="en-US" altLang="zh-CN"/>
          </a:p>
          <a:p>
            <a:endParaRPr lang="en-US" altLang="zh-CN"/>
          </a:p>
          <a:p>
            <a:r>
              <a:rPr lang="zh-CN" altLang="en-US"/>
              <a:t>滚花螺母一般用在打印件上，用电烙铁加热滚花螺母，由于是铜质的，所以滚花螺母会受热融化打印件，从而嵌进打印件内</a:t>
            </a:r>
            <a:endParaRPr lang="zh-CN" alt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任意多边形 4"/>
          <p:cNvSpPr/>
          <p:nvPr/>
        </p:nvSpPr>
        <p:spPr>
          <a:xfrm>
            <a:off x="142875" y="99060"/>
            <a:ext cx="4759960" cy="1800860"/>
          </a:xfrm>
          <a:custGeom>
            <a:avLst/>
            <a:gdLst>
              <a:gd name="connsiteX0" fmla="*/ 0 w 6078"/>
              <a:gd name="connsiteY0" fmla="*/ 0 h 2816"/>
              <a:gd name="connsiteX1" fmla="*/ 6078 w 6078"/>
              <a:gd name="connsiteY1" fmla="*/ 0 h 2816"/>
              <a:gd name="connsiteX2" fmla="*/ 3195 w 6078"/>
              <a:gd name="connsiteY2" fmla="*/ 2794 h 2816"/>
              <a:gd name="connsiteX3" fmla="*/ 0 w 6078"/>
              <a:gd name="connsiteY3" fmla="*/ 2816 h 2816"/>
              <a:gd name="connsiteX4" fmla="*/ 0 w 6078"/>
              <a:gd name="connsiteY4" fmla="*/ 0 h 28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78" h="2816">
                <a:moveTo>
                  <a:pt x="0" y="0"/>
                </a:moveTo>
                <a:lnTo>
                  <a:pt x="6078" y="0"/>
                </a:lnTo>
                <a:lnTo>
                  <a:pt x="3195" y="2794"/>
                </a:lnTo>
                <a:lnTo>
                  <a:pt x="0" y="2816"/>
                </a:lnTo>
                <a:lnTo>
                  <a:pt x="0" y="0"/>
                </a:ln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直角三角形 14"/>
          <p:cNvSpPr/>
          <p:nvPr/>
        </p:nvSpPr>
        <p:spPr>
          <a:xfrm>
            <a:off x="0" y="5943600"/>
            <a:ext cx="2781935" cy="915035"/>
          </a:xfrm>
          <a:prstGeom prst="rtTriangle">
            <a:avLst/>
          </a:prstGeom>
          <a:solidFill>
            <a:schemeClr val="tx2">
              <a:lumMod val="20000"/>
              <a:lumOff val="80000"/>
            </a:schemeClr>
          </a:solidFill>
          <a:ln>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副标题 2"/>
          <p:cNvSpPr>
            <a:spLocks noGrp="1"/>
          </p:cNvSpPr>
          <p:nvPr>
            <p:ph type="subTitle" idx="1"/>
          </p:nvPr>
        </p:nvSpPr>
        <p:spPr>
          <a:xfrm>
            <a:off x="418465" y="548640"/>
            <a:ext cx="10220960" cy="1104265"/>
          </a:xfrm>
        </p:spPr>
        <p:txBody>
          <a:bodyPr>
            <a:noAutofit/>
          </a:bodyPr>
          <a:lstStyle/>
          <a:p>
            <a:r>
              <a:rPr lang="en-US" altLang="zh-CN" sz="4800" dirty="0">
                <a:latin typeface="Algerian" panose="04020705040A02060702" pitchFamily="82" charset="0"/>
                <a:ea typeface="华文琥珀" panose="02010800040101010101" charset="-122"/>
              </a:rPr>
              <a:t>3</a:t>
            </a:r>
            <a:r>
              <a:rPr lang="zh-CN" altLang="en-US" sz="4800" dirty="0">
                <a:latin typeface="Algerian" panose="04020705040A02060702" pitchFamily="82" charset="0"/>
                <a:ea typeface="华文琥珀" panose="02010800040101010101" charset="-122"/>
              </a:rPr>
              <a:t>：法兰</a:t>
            </a:r>
            <a:r>
              <a:rPr lang="en-US" altLang="zh-CN" sz="4800" dirty="0">
                <a:latin typeface="Algerian" panose="04020705040A02060702" pitchFamily="82" charset="0"/>
                <a:ea typeface="华文琥珀" panose="02010800040101010101" charset="-122"/>
              </a:rPr>
              <a:t> </a:t>
            </a:r>
            <a:r>
              <a:rPr lang="zh-CN" altLang="en-US" sz="4800" dirty="0">
                <a:latin typeface="Algerian" panose="04020705040A02060702" pitchFamily="82" charset="0"/>
                <a:ea typeface="华文琥珀" panose="02010800040101010101" charset="-122"/>
              </a:rPr>
              <a:t>法兰联轴器</a:t>
            </a:r>
            <a:r>
              <a:rPr lang="en-US" altLang="zh-CN" sz="4800" dirty="0">
                <a:latin typeface="Algerian" panose="04020705040A02060702" pitchFamily="82" charset="0"/>
                <a:ea typeface="华文琥珀" panose="02010800040101010101" charset="-122"/>
              </a:rPr>
              <a:t> </a:t>
            </a:r>
            <a:r>
              <a:rPr lang="zh-CN" altLang="en-US" sz="4800" dirty="0">
                <a:latin typeface="Algerian" panose="04020705040A02060702" pitchFamily="82" charset="0"/>
                <a:ea typeface="华文琥珀" panose="02010800040101010101" charset="-122"/>
              </a:rPr>
              <a:t>法兰轴承</a:t>
            </a:r>
            <a:endParaRPr lang="zh-CN" altLang="en-US" sz="4800" dirty="0">
              <a:latin typeface="Algerian" panose="04020705040A02060702" pitchFamily="82" charset="0"/>
              <a:ea typeface="华文琥珀" panose="02010800040101010101" charset="-122"/>
            </a:endParaRPr>
          </a:p>
        </p:txBody>
      </p:sp>
      <p:sp>
        <p:nvSpPr>
          <p:cNvPr id="6" name="文本框 5"/>
          <p:cNvSpPr txBox="1"/>
          <p:nvPr/>
        </p:nvSpPr>
        <p:spPr>
          <a:xfrm>
            <a:off x="418465" y="2016125"/>
            <a:ext cx="6725285" cy="4130040"/>
          </a:xfrm>
          <a:prstGeom prst="rect">
            <a:avLst/>
          </a:prstGeom>
          <a:noFill/>
        </p:spPr>
        <p:txBody>
          <a:bodyPr wrap="square" rtlCol="0">
            <a:noAutofit/>
          </a:bodyPr>
          <a:lstStyle/>
          <a:p>
            <a:r>
              <a:rPr lang="zh-CN" altLang="en-US"/>
              <a:t>法兰（Flange），又叫法兰凸缘盘或</a:t>
            </a:r>
            <a:r>
              <a:rPr lang="zh-CN" altLang="en-US">
                <a:solidFill>
                  <a:srgbClr val="FF0000"/>
                </a:solidFill>
              </a:rPr>
              <a:t>突缘</a:t>
            </a:r>
            <a:r>
              <a:rPr lang="zh-CN" altLang="en-US"/>
              <a:t>。法兰是轴与轴之间相互连接的零件，用于管端之间的连接；也有用在设备进出口上的法兰，用于两个设备之间的连接</a:t>
            </a:r>
            <a:r>
              <a:rPr lang="en-US" altLang="zh-CN"/>
              <a:t> </a:t>
            </a:r>
            <a:endParaRPr lang="en-US" altLang="zh-CN"/>
          </a:p>
        </p:txBody>
      </p:sp>
      <p:pic>
        <p:nvPicPr>
          <p:cNvPr id="4" name="图片 3" descr="微信截图_20241024145357"/>
          <p:cNvPicPr>
            <a:picLocks noChangeAspect="1"/>
          </p:cNvPicPr>
          <p:nvPr/>
        </p:nvPicPr>
        <p:blipFill>
          <a:blip r:embed="rId1"/>
          <a:stretch>
            <a:fillRect/>
          </a:stretch>
        </p:blipFill>
        <p:spPr>
          <a:xfrm>
            <a:off x="418465" y="3011805"/>
            <a:ext cx="7178040" cy="3017520"/>
          </a:xfrm>
          <a:prstGeom prst="rect">
            <a:avLst/>
          </a:prstGeom>
        </p:spPr>
      </p:pic>
      <p:sp>
        <p:nvSpPr>
          <p:cNvPr id="7" name="文本框 6"/>
          <p:cNvSpPr txBox="1"/>
          <p:nvPr/>
        </p:nvSpPr>
        <p:spPr>
          <a:xfrm>
            <a:off x="7865110" y="2048510"/>
            <a:ext cx="4064000" cy="2734310"/>
          </a:xfrm>
          <a:prstGeom prst="rect">
            <a:avLst/>
          </a:prstGeom>
          <a:noFill/>
        </p:spPr>
        <p:txBody>
          <a:bodyPr wrap="square" rtlCol="0">
            <a:noAutofit/>
          </a:bodyPr>
          <a:lstStyle/>
          <a:p>
            <a:r>
              <a:rPr lang="zh-CN" altLang="en-US"/>
              <a:t>联轴器和轴承后面细说</a:t>
            </a:r>
            <a:endParaRPr lang="zh-CN" altLang="en-US"/>
          </a:p>
          <a:p>
            <a:r>
              <a:rPr lang="zh-CN" altLang="en-US"/>
              <a:t>可以理解成有着突缘的联轴器和轴承</a:t>
            </a:r>
            <a:endParaRPr lang="zh-CN" alt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任意多边形 4"/>
          <p:cNvSpPr/>
          <p:nvPr/>
        </p:nvSpPr>
        <p:spPr>
          <a:xfrm>
            <a:off x="142875" y="99060"/>
            <a:ext cx="4759960" cy="1800860"/>
          </a:xfrm>
          <a:custGeom>
            <a:avLst/>
            <a:gdLst>
              <a:gd name="connsiteX0" fmla="*/ 0 w 6078"/>
              <a:gd name="connsiteY0" fmla="*/ 0 h 2816"/>
              <a:gd name="connsiteX1" fmla="*/ 6078 w 6078"/>
              <a:gd name="connsiteY1" fmla="*/ 0 h 2816"/>
              <a:gd name="connsiteX2" fmla="*/ 3195 w 6078"/>
              <a:gd name="connsiteY2" fmla="*/ 2794 h 2816"/>
              <a:gd name="connsiteX3" fmla="*/ 0 w 6078"/>
              <a:gd name="connsiteY3" fmla="*/ 2816 h 2816"/>
              <a:gd name="connsiteX4" fmla="*/ 0 w 6078"/>
              <a:gd name="connsiteY4" fmla="*/ 0 h 28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78" h="2816">
                <a:moveTo>
                  <a:pt x="0" y="0"/>
                </a:moveTo>
                <a:lnTo>
                  <a:pt x="6078" y="0"/>
                </a:lnTo>
                <a:lnTo>
                  <a:pt x="3195" y="2794"/>
                </a:lnTo>
                <a:lnTo>
                  <a:pt x="0" y="2816"/>
                </a:lnTo>
                <a:lnTo>
                  <a:pt x="0" y="0"/>
                </a:ln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9" name="图片 18"/>
          <p:cNvPicPr>
            <a:picLocks noChangeAspect="1"/>
          </p:cNvPicPr>
          <p:nvPr>
            <p:custDataLst>
              <p:tags r:id="rId1"/>
            </p:custDataLst>
          </p:nvPr>
        </p:nvPicPr>
        <p:blipFill>
          <a:blip r:embed="rId2" cstate="print">
            <a:extLst>
              <a:ext uri="{28A0092B-C50C-407E-A947-70E740481C1C}">
                <a14:useLocalDpi xmlns:a14="http://schemas.microsoft.com/office/drawing/2010/main" val="0"/>
              </a:ext>
            </a:extLst>
          </a:blip>
          <a:stretch>
            <a:fillRect/>
          </a:stretch>
        </p:blipFill>
        <p:spPr>
          <a:xfrm>
            <a:off x="10145111" y="5472446"/>
            <a:ext cx="2291772" cy="1857342"/>
          </a:xfrm>
          <a:prstGeom prst="rect">
            <a:avLst/>
          </a:prstGeom>
        </p:spPr>
      </p:pic>
      <p:sp>
        <p:nvSpPr>
          <p:cNvPr id="15" name="直角三角形 14"/>
          <p:cNvSpPr/>
          <p:nvPr/>
        </p:nvSpPr>
        <p:spPr>
          <a:xfrm>
            <a:off x="0" y="5943600"/>
            <a:ext cx="2781935" cy="915035"/>
          </a:xfrm>
          <a:prstGeom prst="rtTriangle">
            <a:avLst/>
          </a:prstGeom>
          <a:solidFill>
            <a:schemeClr val="tx2">
              <a:lumMod val="20000"/>
              <a:lumOff val="80000"/>
            </a:schemeClr>
          </a:solidFill>
          <a:ln>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副标题 2"/>
          <p:cNvSpPr>
            <a:spLocks noGrp="1"/>
          </p:cNvSpPr>
          <p:nvPr>
            <p:ph type="subTitle" idx="1"/>
          </p:nvPr>
        </p:nvSpPr>
        <p:spPr>
          <a:xfrm>
            <a:off x="418465" y="548640"/>
            <a:ext cx="3429635" cy="1104265"/>
          </a:xfrm>
        </p:spPr>
        <p:txBody>
          <a:bodyPr>
            <a:noAutofit/>
          </a:bodyPr>
          <a:lstStyle/>
          <a:p>
            <a:r>
              <a:rPr lang="en-US" altLang="zh-CN" sz="4800" dirty="0">
                <a:latin typeface="Algerian" panose="04020705040A02060702" pitchFamily="82" charset="0"/>
                <a:ea typeface="华文琥珀" panose="02010800040101010101" charset="-122"/>
              </a:rPr>
              <a:t>4</a:t>
            </a:r>
            <a:r>
              <a:rPr lang="zh-CN" altLang="en-US" sz="4800" dirty="0">
                <a:latin typeface="Algerian" panose="04020705040A02060702" pitchFamily="82" charset="0"/>
                <a:ea typeface="华文琥珀" panose="02010800040101010101" charset="-122"/>
              </a:rPr>
              <a:t>：光轴</a:t>
            </a:r>
            <a:endParaRPr lang="zh-CN" altLang="en-US" sz="4800" dirty="0">
              <a:latin typeface="Algerian" panose="04020705040A02060702" pitchFamily="82" charset="0"/>
              <a:ea typeface="华文琥珀" panose="02010800040101010101" charset="-122"/>
            </a:endParaRPr>
          </a:p>
        </p:txBody>
      </p:sp>
      <p:sp>
        <p:nvSpPr>
          <p:cNvPr id="6" name="文本框 5"/>
          <p:cNvSpPr txBox="1"/>
          <p:nvPr/>
        </p:nvSpPr>
        <p:spPr>
          <a:xfrm>
            <a:off x="418465" y="2016125"/>
            <a:ext cx="6725285" cy="4130040"/>
          </a:xfrm>
          <a:prstGeom prst="rect">
            <a:avLst/>
          </a:prstGeom>
          <a:noFill/>
        </p:spPr>
        <p:txBody>
          <a:bodyPr wrap="square" rtlCol="0">
            <a:noAutofit/>
          </a:bodyPr>
          <a:lstStyle/>
          <a:p>
            <a:r>
              <a:rPr lang="zh-CN" altLang="en-US"/>
              <a:t>直线光轴是具有滑动轴承的引导作用，可使实行直线运动的产品。这些直线运动系统要求的必需条件是：</a:t>
            </a:r>
            <a:endParaRPr lang="zh-CN" altLang="en-US"/>
          </a:p>
          <a:p>
            <a:r>
              <a:rPr lang="zh-CN" altLang="en-US">
                <a:solidFill>
                  <a:srgbClr val="FF0000"/>
                </a:solidFill>
              </a:rPr>
              <a:t>简单的设计</a:t>
            </a:r>
            <a:r>
              <a:rPr lang="zh-CN" altLang="en-US"/>
              <a:t>，最好的执行能力，</a:t>
            </a:r>
            <a:r>
              <a:rPr lang="zh-CN" altLang="en-US">
                <a:solidFill>
                  <a:srgbClr val="FF0000"/>
                </a:solidFill>
              </a:rPr>
              <a:t>低价的维修费用</a:t>
            </a:r>
            <a:r>
              <a:rPr lang="zh-CN" altLang="en-US"/>
              <a:t>，使用严格挑选</a:t>
            </a:r>
            <a:r>
              <a:rPr lang="zh-CN" altLang="en-US">
                <a:solidFill>
                  <a:srgbClr val="FF0000"/>
                </a:solidFill>
              </a:rPr>
              <a:t>坚固耐用的材料</a:t>
            </a:r>
            <a:r>
              <a:rPr lang="zh-CN" altLang="en-US"/>
              <a:t>，高频热处理，</a:t>
            </a:r>
            <a:r>
              <a:rPr lang="zh-CN" altLang="en-US">
                <a:solidFill>
                  <a:srgbClr val="FF0000"/>
                </a:solidFill>
              </a:rPr>
              <a:t>准确的外径尺寸</a:t>
            </a:r>
            <a:r>
              <a:rPr lang="zh-CN" altLang="en-US"/>
              <a:t>，真圆度，真直度及表面处理等。</a:t>
            </a:r>
            <a:endParaRPr lang="zh-CN" altLang="en-US"/>
          </a:p>
          <a:p>
            <a:endParaRPr lang="zh-CN" altLang="en-US"/>
          </a:p>
          <a:p>
            <a:r>
              <a:rPr lang="zh-CN" altLang="en-US"/>
              <a:t>常用于需要直线运动的机构</a:t>
            </a:r>
            <a:r>
              <a:rPr lang="en-US" altLang="zh-CN"/>
              <a:t> </a:t>
            </a:r>
            <a:r>
              <a:rPr lang="zh-CN" altLang="en-US"/>
              <a:t>比如气缸活塞</a:t>
            </a:r>
            <a:endParaRPr lang="zh-CN" altLang="en-US"/>
          </a:p>
          <a:p>
            <a:r>
              <a:rPr lang="zh-CN" altLang="en-US"/>
              <a:t>或者提供转动</a:t>
            </a:r>
            <a:r>
              <a:rPr lang="en-US" altLang="zh-CN"/>
              <a:t> </a:t>
            </a:r>
            <a:r>
              <a:rPr lang="zh-CN" altLang="en-US"/>
              <a:t>如</a:t>
            </a:r>
            <a:r>
              <a:rPr lang="en-US" altLang="zh-CN"/>
              <a:t>“</a:t>
            </a:r>
            <a:r>
              <a:rPr lang="zh-CN" altLang="en-US"/>
              <a:t>电机轴</a:t>
            </a:r>
            <a:r>
              <a:rPr lang="en-US" altLang="zh-CN"/>
              <a:t>-</a:t>
            </a:r>
            <a:r>
              <a:rPr lang="zh-CN" altLang="en-US"/>
              <a:t>联轴器</a:t>
            </a:r>
            <a:r>
              <a:rPr lang="en-US" altLang="zh-CN"/>
              <a:t>-</a:t>
            </a:r>
            <a:r>
              <a:rPr lang="zh-CN" altLang="en-US"/>
              <a:t>光轴</a:t>
            </a:r>
            <a:r>
              <a:rPr lang="en-US" altLang="zh-CN"/>
              <a:t>-</a:t>
            </a:r>
            <a:r>
              <a:rPr lang="zh-CN" altLang="en-US"/>
              <a:t>固定环</a:t>
            </a:r>
            <a:r>
              <a:rPr lang="en-US" altLang="zh-CN"/>
              <a:t>-</a:t>
            </a:r>
            <a:r>
              <a:rPr lang="zh-CN" altLang="en-US"/>
              <a:t>构件</a:t>
            </a:r>
            <a:r>
              <a:rPr lang="en-US" altLang="zh-CN"/>
              <a:t>”</a:t>
            </a:r>
            <a:r>
              <a:rPr lang="zh-CN" altLang="en-US"/>
              <a:t>组合</a:t>
            </a:r>
            <a:endParaRPr lang="zh-CN" altLang="en-US"/>
          </a:p>
          <a:p>
            <a:endParaRPr lang="zh-CN" altLang="en-US"/>
          </a:p>
          <a:p>
            <a:r>
              <a:rPr lang="zh-CN" altLang="en-US"/>
              <a:t>首先选择你需要的直径</a:t>
            </a:r>
            <a:r>
              <a:rPr lang="en-US" altLang="zh-CN"/>
              <a:t> </a:t>
            </a:r>
            <a:endParaRPr lang="en-US" altLang="zh-CN"/>
          </a:p>
          <a:p>
            <a:r>
              <a:rPr lang="zh-CN" altLang="en-US"/>
              <a:t>一般要和法兰轴承的内径或者固定件的内径相同</a:t>
            </a:r>
            <a:endParaRPr lang="zh-CN" altLang="en-US"/>
          </a:p>
          <a:p>
            <a:r>
              <a:rPr lang="zh-CN" altLang="en-US"/>
              <a:t>直径越大越重，此时可以选空心光轴减少重量</a:t>
            </a:r>
            <a:endParaRPr lang="zh-CN" altLang="en-US"/>
          </a:p>
        </p:txBody>
      </p:sp>
      <p:pic>
        <p:nvPicPr>
          <p:cNvPr id="4" name="图片 3" descr="微信截图_20241024152443"/>
          <p:cNvPicPr>
            <a:picLocks noChangeAspect="1"/>
          </p:cNvPicPr>
          <p:nvPr/>
        </p:nvPicPr>
        <p:blipFill>
          <a:blip r:embed="rId3"/>
          <a:stretch>
            <a:fillRect/>
          </a:stretch>
        </p:blipFill>
        <p:spPr>
          <a:xfrm>
            <a:off x="6990715" y="220980"/>
            <a:ext cx="4762500" cy="3208020"/>
          </a:xfrm>
          <a:prstGeom prst="rect">
            <a:avLst/>
          </a:prstGeom>
        </p:spPr>
      </p:pic>
      <p:pic>
        <p:nvPicPr>
          <p:cNvPr id="7" name="图片 6" descr="微信截图_20241024152529"/>
          <p:cNvPicPr>
            <a:picLocks noChangeAspect="1"/>
          </p:cNvPicPr>
          <p:nvPr/>
        </p:nvPicPr>
        <p:blipFill>
          <a:blip r:embed="rId4"/>
          <a:stretch>
            <a:fillRect/>
          </a:stretch>
        </p:blipFill>
        <p:spPr>
          <a:xfrm>
            <a:off x="7287895" y="3486785"/>
            <a:ext cx="4800600" cy="316992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任意多边形 4"/>
          <p:cNvSpPr/>
          <p:nvPr/>
        </p:nvSpPr>
        <p:spPr>
          <a:xfrm>
            <a:off x="142875" y="99060"/>
            <a:ext cx="4759960" cy="1800860"/>
          </a:xfrm>
          <a:custGeom>
            <a:avLst/>
            <a:gdLst>
              <a:gd name="connsiteX0" fmla="*/ 0 w 6078"/>
              <a:gd name="connsiteY0" fmla="*/ 0 h 2816"/>
              <a:gd name="connsiteX1" fmla="*/ 6078 w 6078"/>
              <a:gd name="connsiteY1" fmla="*/ 0 h 2816"/>
              <a:gd name="connsiteX2" fmla="*/ 3195 w 6078"/>
              <a:gd name="connsiteY2" fmla="*/ 2794 h 2816"/>
              <a:gd name="connsiteX3" fmla="*/ 0 w 6078"/>
              <a:gd name="connsiteY3" fmla="*/ 2816 h 2816"/>
              <a:gd name="connsiteX4" fmla="*/ 0 w 6078"/>
              <a:gd name="connsiteY4" fmla="*/ 0 h 28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78" h="2816">
                <a:moveTo>
                  <a:pt x="0" y="0"/>
                </a:moveTo>
                <a:lnTo>
                  <a:pt x="6078" y="0"/>
                </a:lnTo>
                <a:lnTo>
                  <a:pt x="3195" y="2794"/>
                </a:lnTo>
                <a:lnTo>
                  <a:pt x="0" y="2816"/>
                </a:lnTo>
                <a:lnTo>
                  <a:pt x="0" y="0"/>
                </a:ln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直角三角形 14"/>
          <p:cNvSpPr/>
          <p:nvPr/>
        </p:nvSpPr>
        <p:spPr>
          <a:xfrm>
            <a:off x="0" y="5943600"/>
            <a:ext cx="2781935" cy="915035"/>
          </a:xfrm>
          <a:prstGeom prst="rtTriangle">
            <a:avLst/>
          </a:prstGeom>
          <a:solidFill>
            <a:schemeClr val="tx2">
              <a:lumMod val="20000"/>
              <a:lumOff val="80000"/>
            </a:schemeClr>
          </a:solidFill>
          <a:ln>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副标题 2"/>
          <p:cNvSpPr>
            <a:spLocks noGrp="1"/>
          </p:cNvSpPr>
          <p:nvPr>
            <p:ph type="subTitle" idx="1"/>
          </p:nvPr>
        </p:nvSpPr>
        <p:spPr>
          <a:xfrm>
            <a:off x="418465" y="548640"/>
            <a:ext cx="3429635" cy="1104265"/>
          </a:xfrm>
        </p:spPr>
        <p:txBody>
          <a:bodyPr>
            <a:noAutofit/>
          </a:bodyPr>
          <a:lstStyle/>
          <a:p>
            <a:r>
              <a:rPr lang="en-US" altLang="zh-CN" sz="4800" dirty="0">
                <a:latin typeface="Algerian" panose="04020705040A02060702" pitchFamily="82" charset="0"/>
                <a:ea typeface="华文琥珀" panose="02010800040101010101" charset="-122"/>
              </a:rPr>
              <a:t>5</a:t>
            </a:r>
            <a:r>
              <a:rPr lang="zh-CN" altLang="en-US" sz="4800" dirty="0">
                <a:latin typeface="Algerian" panose="04020705040A02060702" pitchFamily="82" charset="0"/>
                <a:ea typeface="华文琥珀" panose="02010800040101010101" charset="-122"/>
              </a:rPr>
              <a:t>：固定件</a:t>
            </a:r>
            <a:endParaRPr lang="zh-CN" altLang="en-US" sz="4800" dirty="0">
              <a:latin typeface="Algerian" panose="04020705040A02060702" pitchFamily="82" charset="0"/>
              <a:ea typeface="华文琥珀" panose="02010800040101010101" charset="-122"/>
            </a:endParaRPr>
          </a:p>
        </p:txBody>
      </p:sp>
      <p:sp>
        <p:nvSpPr>
          <p:cNvPr id="6" name="文本框 5"/>
          <p:cNvSpPr txBox="1"/>
          <p:nvPr/>
        </p:nvSpPr>
        <p:spPr>
          <a:xfrm>
            <a:off x="418465" y="2016125"/>
            <a:ext cx="6725285" cy="4130040"/>
          </a:xfrm>
          <a:prstGeom prst="rect">
            <a:avLst/>
          </a:prstGeom>
          <a:noFill/>
        </p:spPr>
        <p:txBody>
          <a:bodyPr wrap="square" rtlCol="0">
            <a:noAutofit/>
          </a:bodyPr>
          <a:lstStyle/>
          <a:p>
            <a:r>
              <a:rPr lang="zh-CN" altLang="en-US"/>
              <a:t>固定环：</a:t>
            </a:r>
            <a:r>
              <a:t>固定环可用于挡块、定位以及带轮的固定等普通用途，也可以用于轴承的内圈固定，通过开设各种安装孔也可以安装各种固定板等零件，孔的种类有通孔、螺孔、沉孔，同时也可以安装传感器或者用作缓冲器</a:t>
            </a:r>
          </a:p>
          <a:p>
            <a:r>
              <a:rPr lang="zh-CN"/>
              <a:t>通过拧紧顶丝来锁紧固定环，同样要注意不要滑丝</a:t>
            </a:r>
            <a:endParaRPr lang="zh-CN"/>
          </a:p>
          <a:p>
            <a:endParaRPr lang="zh-CN"/>
          </a:p>
          <a:p>
            <a:r>
              <a:rPr lang="en-US" altLang="zh-CN"/>
              <a:t> </a:t>
            </a:r>
            <a:r>
              <a:rPr lang="zh-CN" altLang="en-US"/>
              <a:t>固定座：可以用于固定光轴</a:t>
            </a:r>
            <a:r>
              <a:rPr lang="en-US" altLang="zh-CN"/>
              <a:t> </a:t>
            </a:r>
            <a:r>
              <a:rPr lang="zh-CN" altLang="en-US"/>
              <a:t>也可以用来固定丝杆</a:t>
            </a:r>
            <a:endParaRPr lang="zh-CN" altLang="en-US"/>
          </a:p>
          <a:p>
            <a:r>
              <a:rPr lang="zh-CN" altLang="en-US"/>
              <a:t>（需要额外安装锁紧螺帽）</a:t>
            </a:r>
            <a:endParaRPr lang="zh-CN" altLang="en-US"/>
          </a:p>
          <a:p>
            <a:r>
              <a:rPr lang="zh-CN" altLang="en-US"/>
              <a:t>种类很多，按情况选择</a:t>
            </a:r>
            <a:endParaRPr lang="zh-CN" altLang="en-US"/>
          </a:p>
          <a:p>
            <a:endParaRPr lang="zh-CN" altLang="en-US"/>
          </a:p>
        </p:txBody>
      </p:sp>
      <p:pic>
        <p:nvPicPr>
          <p:cNvPr id="4" name="图片 3" descr="微信截图_20241024153224"/>
          <p:cNvPicPr>
            <a:picLocks noChangeAspect="1"/>
          </p:cNvPicPr>
          <p:nvPr/>
        </p:nvPicPr>
        <p:blipFill>
          <a:blip r:embed="rId1"/>
          <a:stretch>
            <a:fillRect/>
          </a:stretch>
        </p:blipFill>
        <p:spPr>
          <a:xfrm>
            <a:off x="7143750" y="99060"/>
            <a:ext cx="4884420" cy="3284220"/>
          </a:xfrm>
          <a:prstGeom prst="rect">
            <a:avLst/>
          </a:prstGeom>
        </p:spPr>
      </p:pic>
      <p:pic>
        <p:nvPicPr>
          <p:cNvPr id="7" name="图片 6" descr="微信截图_20241024152925"/>
          <p:cNvPicPr>
            <a:picLocks noChangeAspect="1"/>
          </p:cNvPicPr>
          <p:nvPr/>
        </p:nvPicPr>
        <p:blipFill>
          <a:blip r:embed="rId2"/>
          <a:stretch>
            <a:fillRect/>
          </a:stretch>
        </p:blipFill>
        <p:spPr>
          <a:xfrm>
            <a:off x="5452110" y="3573780"/>
            <a:ext cx="4808220" cy="320802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任意多边形 4"/>
          <p:cNvSpPr/>
          <p:nvPr/>
        </p:nvSpPr>
        <p:spPr>
          <a:xfrm>
            <a:off x="142875" y="99060"/>
            <a:ext cx="4759960" cy="1800860"/>
          </a:xfrm>
          <a:custGeom>
            <a:avLst/>
            <a:gdLst>
              <a:gd name="connsiteX0" fmla="*/ 0 w 6078"/>
              <a:gd name="connsiteY0" fmla="*/ 0 h 2816"/>
              <a:gd name="connsiteX1" fmla="*/ 6078 w 6078"/>
              <a:gd name="connsiteY1" fmla="*/ 0 h 2816"/>
              <a:gd name="connsiteX2" fmla="*/ 3195 w 6078"/>
              <a:gd name="connsiteY2" fmla="*/ 2794 h 2816"/>
              <a:gd name="connsiteX3" fmla="*/ 0 w 6078"/>
              <a:gd name="connsiteY3" fmla="*/ 2816 h 2816"/>
              <a:gd name="connsiteX4" fmla="*/ 0 w 6078"/>
              <a:gd name="connsiteY4" fmla="*/ 0 h 28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78" h="2816">
                <a:moveTo>
                  <a:pt x="0" y="0"/>
                </a:moveTo>
                <a:lnTo>
                  <a:pt x="6078" y="0"/>
                </a:lnTo>
                <a:lnTo>
                  <a:pt x="3195" y="2794"/>
                </a:lnTo>
                <a:lnTo>
                  <a:pt x="0" y="2816"/>
                </a:lnTo>
                <a:lnTo>
                  <a:pt x="0" y="0"/>
                </a:ln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直角三角形 14"/>
          <p:cNvSpPr/>
          <p:nvPr/>
        </p:nvSpPr>
        <p:spPr>
          <a:xfrm>
            <a:off x="0" y="5943600"/>
            <a:ext cx="2781935" cy="915035"/>
          </a:xfrm>
          <a:prstGeom prst="rtTriangle">
            <a:avLst/>
          </a:prstGeom>
          <a:solidFill>
            <a:schemeClr val="tx2">
              <a:lumMod val="20000"/>
              <a:lumOff val="80000"/>
            </a:schemeClr>
          </a:solidFill>
          <a:ln>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副标题 2"/>
          <p:cNvSpPr>
            <a:spLocks noGrp="1"/>
          </p:cNvSpPr>
          <p:nvPr>
            <p:ph type="subTitle" idx="1"/>
          </p:nvPr>
        </p:nvSpPr>
        <p:spPr>
          <a:xfrm>
            <a:off x="-68580" y="548640"/>
            <a:ext cx="5182235" cy="1104265"/>
          </a:xfrm>
        </p:spPr>
        <p:txBody>
          <a:bodyPr>
            <a:noAutofit/>
          </a:bodyPr>
          <a:lstStyle/>
          <a:p>
            <a:r>
              <a:rPr lang="en-US" altLang="zh-CN" sz="4800" dirty="0">
                <a:latin typeface="Algerian" panose="04020705040A02060702" pitchFamily="82" charset="0"/>
                <a:ea typeface="华文琥珀" panose="02010800040101010101" charset="-122"/>
              </a:rPr>
              <a:t>6</a:t>
            </a:r>
            <a:r>
              <a:rPr lang="zh-CN" altLang="en-US" sz="4800" dirty="0">
                <a:latin typeface="Algerian" panose="04020705040A02060702" pitchFamily="82" charset="0"/>
                <a:ea typeface="华文琥珀" panose="02010800040101010101" charset="-122"/>
              </a:rPr>
              <a:t>：滑块滑轨</a:t>
            </a:r>
            <a:endParaRPr lang="zh-CN" altLang="en-US" sz="4800" dirty="0">
              <a:latin typeface="Algerian" panose="04020705040A02060702" pitchFamily="82" charset="0"/>
              <a:ea typeface="华文琥珀" panose="02010800040101010101" charset="-122"/>
            </a:endParaRPr>
          </a:p>
        </p:txBody>
      </p:sp>
      <p:sp>
        <p:nvSpPr>
          <p:cNvPr id="6" name="文本框 5"/>
          <p:cNvSpPr txBox="1"/>
          <p:nvPr/>
        </p:nvSpPr>
        <p:spPr>
          <a:xfrm>
            <a:off x="418465" y="2016125"/>
            <a:ext cx="6725285" cy="4130040"/>
          </a:xfrm>
          <a:prstGeom prst="rect">
            <a:avLst/>
          </a:prstGeom>
          <a:noFill/>
        </p:spPr>
        <p:txBody>
          <a:bodyPr wrap="square" rtlCol="0">
            <a:noAutofit/>
          </a:bodyPr>
          <a:lstStyle/>
          <a:p>
            <a:r>
              <a:rPr lang="zh-CN" altLang="en-US"/>
              <a:t>优点：精度高，摩擦力小，不易出现爬行现象，寿命长，静音</a:t>
            </a:r>
            <a:endParaRPr lang="zh-CN" altLang="en-US"/>
          </a:p>
          <a:p>
            <a:endParaRPr lang="zh-CN" altLang="en-US"/>
          </a:p>
          <a:p>
            <a:r>
              <a:rPr lang="zh-CN" altLang="en-US"/>
              <a:t>爬行现象：在机械学中指滑动摩擦副中从动件在匀速驱动和一定摩擦条件下产生的周期性时停时走或时慢时快的运动现象</a:t>
            </a:r>
            <a:endParaRPr lang="zh-CN" altLang="en-US"/>
          </a:p>
          <a:p>
            <a:endParaRPr lang="zh-CN" altLang="en-US"/>
          </a:p>
          <a:p>
            <a:r>
              <a:rPr lang="zh-CN" altLang="en-US"/>
              <a:t>缺点：滑块贵，特别贵，拆卸会掉钢珠，拆卸</a:t>
            </a:r>
            <a:r>
              <a:rPr lang="zh-CN" altLang="en-US">
                <a:solidFill>
                  <a:srgbClr val="FF0000"/>
                </a:solidFill>
              </a:rPr>
              <a:t>必须小心，十分小心！万分小心！！！</a:t>
            </a:r>
            <a:endParaRPr lang="zh-CN" altLang="en-US">
              <a:solidFill>
                <a:srgbClr val="FF0000"/>
              </a:solidFill>
            </a:endParaRPr>
          </a:p>
          <a:p>
            <a:endParaRPr lang="zh-CN" altLang="en-US">
              <a:solidFill>
                <a:srgbClr val="FF0000"/>
              </a:solidFill>
            </a:endParaRPr>
          </a:p>
          <a:p>
            <a:r>
              <a:rPr lang="zh-CN" altLang="en-US">
                <a:solidFill>
                  <a:schemeClr val="tx1"/>
                </a:solidFill>
              </a:rPr>
              <a:t>如何使用？将滑块和构件使用对应的螺丝锁紧，然后小心将滑块滑入滑轨内</a:t>
            </a:r>
            <a:endParaRPr lang="zh-CN" altLang="en-US">
              <a:solidFill>
                <a:schemeClr val="tx1"/>
              </a:solidFill>
            </a:endParaRPr>
          </a:p>
          <a:p>
            <a:endParaRPr lang="zh-CN" altLang="en-US">
              <a:solidFill>
                <a:schemeClr val="tx1"/>
              </a:solidFill>
            </a:endParaRPr>
          </a:p>
          <a:p>
            <a:r>
              <a:rPr lang="zh-CN" altLang="en-US">
                <a:solidFill>
                  <a:schemeClr val="tx1"/>
                </a:solidFill>
              </a:rPr>
              <a:t>有些特别精密的滑块会有注油孔，定时保养，实验室目前用不上</a:t>
            </a:r>
            <a:endParaRPr lang="zh-CN" altLang="en-US">
              <a:solidFill>
                <a:schemeClr val="tx1"/>
              </a:solidFill>
            </a:endParaRPr>
          </a:p>
          <a:p>
            <a:r>
              <a:rPr lang="zh-CN" altLang="en-US">
                <a:solidFill>
                  <a:srgbClr val="FF0000"/>
                </a:solidFill>
              </a:rPr>
              <a:t>用的最多的是</a:t>
            </a:r>
            <a:r>
              <a:rPr lang="en-US" altLang="zh-CN">
                <a:solidFill>
                  <a:srgbClr val="FF0000"/>
                </a:solidFill>
              </a:rPr>
              <a:t>mgn7 mgn9</a:t>
            </a:r>
            <a:endParaRPr lang="en-US" altLang="zh-CN">
              <a:solidFill>
                <a:srgbClr val="FF0000"/>
              </a:solidFill>
            </a:endParaRPr>
          </a:p>
        </p:txBody>
      </p:sp>
      <p:pic>
        <p:nvPicPr>
          <p:cNvPr id="2" name="图片 1" descr="微信截图_20241024154945"/>
          <p:cNvPicPr>
            <a:picLocks noChangeAspect="1"/>
          </p:cNvPicPr>
          <p:nvPr/>
        </p:nvPicPr>
        <p:blipFill>
          <a:blip r:embed="rId1"/>
          <a:stretch>
            <a:fillRect/>
          </a:stretch>
        </p:blipFill>
        <p:spPr>
          <a:xfrm>
            <a:off x="6973570" y="3558540"/>
            <a:ext cx="2729865" cy="3120390"/>
          </a:xfrm>
          <a:prstGeom prst="rect">
            <a:avLst/>
          </a:prstGeom>
        </p:spPr>
      </p:pic>
      <p:pic>
        <p:nvPicPr>
          <p:cNvPr id="8" name="图片 7" descr="微信截图_20241024154955"/>
          <p:cNvPicPr>
            <a:picLocks noChangeAspect="1"/>
          </p:cNvPicPr>
          <p:nvPr/>
        </p:nvPicPr>
        <p:blipFill>
          <a:blip r:embed="rId2"/>
          <a:stretch>
            <a:fillRect/>
          </a:stretch>
        </p:blipFill>
        <p:spPr>
          <a:xfrm>
            <a:off x="9218930" y="358140"/>
            <a:ext cx="2407920" cy="320040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任意多边形 4"/>
          <p:cNvSpPr/>
          <p:nvPr/>
        </p:nvSpPr>
        <p:spPr>
          <a:xfrm>
            <a:off x="142875" y="99060"/>
            <a:ext cx="4759960" cy="1800860"/>
          </a:xfrm>
          <a:custGeom>
            <a:avLst/>
            <a:gdLst>
              <a:gd name="connsiteX0" fmla="*/ 0 w 6078"/>
              <a:gd name="connsiteY0" fmla="*/ 0 h 2816"/>
              <a:gd name="connsiteX1" fmla="*/ 6078 w 6078"/>
              <a:gd name="connsiteY1" fmla="*/ 0 h 2816"/>
              <a:gd name="connsiteX2" fmla="*/ 3195 w 6078"/>
              <a:gd name="connsiteY2" fmla="*/ 2794 h 2816"/>
              <a:gd name="connsiteX3" fmla="*/ 0 w 6078"/>
              <a:gd name="connsiteY3" fmla="*/ 2816 h 2816"/>
              <a:gd name="connsiteX4" fmla="*/ 0 w 6078"/>
              <a:gd name="connsiteY4" fmla="*/ 0 h 28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78" h="2816">
                <a:moveTo>
                  <a:pt x="0" y="0"/>
                </a:moveTo>
                <a:lnTo>
                  <a:pt x="6078" y="0"/>
                </a:lnTo>
                <a:lnTo>
                  <a:pt x="3195" y="2794"/>
                </a:lnTo>
                <a:lnTo>
                  <a:pt x="0" y="2816"/>
                </a:lnTo>
                <a:lnTo>
                  <a:pt x="0" y="0"/>
                </a:ln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9" name="图片 18"/>
          <p:cNvPicPr>
            <a:picLocks noChangeAspect="1"/>
          </p:cNvPicPr>
          <p:nvPr>
            <p:custDataLst>
              <p:tags r:id="rId1"/>
            </p:custDataLst>
          </p:nvPr>
        </p:nvPicPr>
        <p:blipFill>
          <a:blip r:embed="rId2" cstate="print">
            <a:extLst>
              <a:ext uri="{28A0092B-C50C-407E-A947-70E740481C1C}">
                <a14:useLocalDpi xmlns:a14="http://schemas.microsoft.com/office/drawing/2010/main" val="0"/>
              </a:ext>
            </a:extLst>
          </a:blip>
          <a:stretch>
            <a:fillRect/>
          </a:stretch>
        </p:blipFill>
        <p:spPr>
          <a:xfrm>
            <a:off x="10145111" y="5472446"/>
            <a:ext cx="2291772" cy="1857342"/>
          </a:xfrm>
          <a:prstGeom prst="rect">
            <a:avLst/>
          </a:prstGeom>
        </p:spPr>
      </p:pic>
      <p:sp>
        <p:nvSpPr>
          <p:cNvPr id="15" name="直角三角形 14"/>
          <p:cNvSpPr/>
          <p:nvPr/>
        </p:nvSpPr>
        <p:spPr>
          <a:xfrm>
            <a:off x="0" y="5943600"/>
            <a:ext cx="2781935" cy="915035"/>
          </a:xfrm>
          <a:prstGeom prst="rtTriangle">
            <a:avLst/>
          </a:prstGeom>
          <a:solidFill>
            <a:schemeClr val="tx2">
              <a:lumMod val="20000"/>
              <a:lumOff val="80000"/>
            </a:schemeClr>
          </a:solidFill>
          <a:ln>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副标题 2"/>
          <p:cNvSpPr>
            <a:spLocks noGrp="1"/>
          </p:cNvSpPr>
          <p:nvPr>
            <p:ph type="subTitle" idx="1"/>
          </p:nvPr>
        </p:nvSpPr>
        <p:spPr>
          <a:xfrm>
            <a:off x="-586740" y="548640"/>
            <a:ext cx="5182235" cy="1104265"/>
          </a:xfrm>
        </p:spPr>
        <p:txBody>
          <a:bodyPr>
            <a:noAutofit/>
          </a:bodyPr>
          <a:lstStyle/>
          <a:p>
            <a:r>
              <a:rPr lang="en-US" altLang="zh-CN" sz="4800" dirty="0">
                <a:latin typeface="Algerian" panose="04020705040A02060702" pitchFamily="82" charset="0"/>
                <a:ea typeface="华文琥珀" panose="02010800040101010101" charset="-122"/>
              </a:rPr>
              <a:t>7</a:t>
            </a:r>
            <a:r>
              <a:rPr lang="zh-CN" altLang="en-US" sz="4800" dirty="0">
                <a:latin typeface="Algerian" panose="04020705040A02060702" pitchFamily="82" charset="0"/>
                <a:ea typeface="华文琥珀" panose="02010800040101010101" charset="-122"/>
              </a:rPr>
              <a:t>：丝杆</a:t>
            </a:r>
            <a:endParaRPr lang="zh-CN" altLang="en-US" sz="4800" dirty="0">
              <a:latin typeface="Algerian" panose="04020705040A02060702" pitchFamily="82" charset="0"/>
              <a:ea typeface="华文琥珀" panose="02010800040101010101" charset="-122"/>
            </a:endParaRPr>
          </a:p>
        </p:txBody>
      </p:sp>
      <p:sp>
        <p:nvSpPr>
          <p:cNvPr id="6" name="文本框 5"/>
          <p:cNvSpPr txBox="1"/>
          <p:nvPr/>
        </p:nvSpPr>
        <p:spPr>
          <a:xfrm>
            <a:off x="418465" y="2016125"/>
            <a:ext cx="6725285" cy="4130040"/>
          </a:xfrm>
          <a:prstGeom prst="rect">
            <a:avLst/>
          </a:prstGeom>
          <a:noFill/>
        </p:spPr>
        <p:txBody>
          <a:bodyPr wrap="square" rtlCol="0">
            <a:noAutofit/>
          </a:bodyPr>
          <a:lstStyle/>
          <a:p>
            <a:r>
              <a:rPr lang="zh-CN" altLang="en-US" dirty="0">
                <a:solidFill>
                  <a:schemeClr val="tx1"/>
                </a:solidFill>
              </a:rPr>
              <a:t>https://zhuanlan.zhihu.com/p/116655775</a:t>
            </a:r>
            <a:endParaRPr lang="zh-CN" altLang="en-US" dirty="0">
              <a:solidFill>
                <a:schemeClr val="tx1"/>
              </a:solidFill>
            </a:endParaRPr>
          </a:p>
          <a:p>
            <a:endParaRPr lang="en-US" altLang="zh-CN" sz="2800" dirty="0">
              <a:solidFill>
                <a:schemeClr val="tx1"/>
              </a:solidFill>
            </a:endParaRPr>
          </a:p>
          <a:p>
            <a:r>
              <a:rPr lang="zh-CN" altLang="en-US" sz="2800" dirty="0">
                <a:solidFill>
                  <a:schemeClr val="tx1"/>
                </a:solidFill>
              </a:rPr>
              <a:t>普通丝杆满足螺纹升角小于当量摩擦角的条件时，可以自锁</a:t>
            </a:r>
            <a:endParaRPr lang="zh-CN" altLang="en-US" sz="2800" dirty="0">
              <a:solidFill>
                <a:schemeClr val="tx1"/>
              </a:solidFill>
            </a:endParaRPr>
          </a:p>
          <a:p>
            <a:r>
              <a:rPr lang="zh-CN" altLang="en-US" sz="2800" dirty="0">
                <a:solidFill>
                  <a:schemeClr val="tx1"/>
                </a:solidFill>
              </a:rPr>
              <a:t>一般要查表格</a:t>
            </a:r>
            <a:endParaRPr lang="zh-CN" altLang="en-US" sz="2800" dirty="0">
              <a:solidFill>
                <a:schemeClr val="tx1"/>
              </a:solidFill>
            </a:endParaRPr>
          </a:p>
          <a:p>
            <a:endParaRPr lang="zh-CN" altLang="en-US" sz="2800" dirty="0">
              <a:solidFill>
                <a:schemeClr val="tx1"/>
              </a:solidFill>
            </a:endParaRPr>
          </a:p>
          <a:p>
            <a:r>
              <a:rPr lang="zh-CN" altLang="en-US" sz="2800" dirty="0">
                <a:solidFill>
                  <a:schemeClr val="tx1"/>
                </a:solidFill>
              </a:rPr>
              <a:t>滚珠丝杆一般自锁不了，可以认为滚珠减小了接触面积</a:t>
            </a:r>
            <a:endParaRPr lang="zh-CN" altLang="en-US" sz="2800" dirty="0">
              <a:solidFill>
                <a:schemeClr val="tx1"/>
              </a:solidFill>
            </a:endParaRPr>
          </a:p>
          <a:p>
            <a:endParaRPr lang="zh-CN" altLang="en-US" dirty="0">
              <a:solidFill>
                <a:schemeClr val="tx1"/>
              </a:solidFill>
            </a:endParaRPr>
          </a:p>
          <a:p>
            <a:endParaRPr lang="zh-CN" altLang="en-US" dirty="0">
              <a:solidFill>
                <a:schemeClr val="tx1"/>
              </a:solidFill>
            </a:endParaRPr>
          </a:p>
        </p:txBody>
      </p:sp>
      <p:pic>
        <p:nvPicPr>
          <p:cNvPr id="7" name="图片 6" descr="微信截图_20241024155457"/>
          <p:cNvPicPr>
            <a:picLocks noChangeAspect="1"/>
          </p:cNvPicPr>
          <p:nvPr/>
        </p:nvPicPr>
        <p:blipFill>
          <a:blip r:embed="rId3"/>
          <a:stretch>
            <a:fillRect/>
          </a:stretch>
        </p:blipFill>
        <p:spPr>
          <a:xfrm>
            <a:off x="7710170" y="4555490"/>
            <a:ext cx="4406900" cy="2214245"/>
          </a:xfrm>
          <a:prstGeom prst="rect">
            <a:avLst/>
          </a:prstGeom>
        </p:spPr>
      </p:pic>
      <p:pic>
        <p:nvPicPr>
          <p:cNvPr id="8" name="图片 7"/>
          <p:cNvPicPr>
            <a:picLocks noChangeAspect="1"/>
          </p:cNvPicPr>
          <p:nvPr/>
        </p:nvPicPr>
        <p:blipFill>
          <a:blip r:embed="rId4"/>
          <a:stretch>
            <a:fillRect/>
          </a:stretch>
        </p:blipFill>
        <p:spPr>
          <a:xfrm>
            <a:off x="4818062" y="0"/>
            <a:ext cx="2804478" cy="2750547"/>
          </a:xfrm>
          <a:prstGeom prst="rect">
            <a:avLst/>
          </a:prstGeom>
        </p:spPr>
      </p:pic>
      <p:sp>
        <p:nvSpPr>
          <p:cNvPr id="2" name="文本框 1"/>
          <p:cNvSpPr txBox="1"/>
          <p:nvPr/>
        </p:nvSpPr>
        <p:spPr>
          <a:xfrm>
            <a:off x="7622540" y="636905"/>
            <a:ext cx="4064000" cy="2553335"/>
          </a:xfrm>
          <a:prstGeom prst="rect">
            <a:avLst/>
          </a:prstGeom>
          <a:noFill/>
        </p:spPr>
        <p:txBody>
          <a:bodyPr wrap="square" rtlCol="0">
            <a:spAutoFit/>
          </a:bodyPr>
          <a:p>
            <a:r>
              <a:rPr lang="en-US" altLang="zh-CN" sz="2000" b="1">
                <a:latin typeface="宋体" panose="02010600030101010101" pitchFamily="2" charset="-122"/>
                <a:ea typeface="宋体" panose="02010600030101010101" pitchFamily="2" charset="-122"/>
                <a:cs typeface="宋体" panose="02010600030101010101" pitchFamily="2" charset="-122"/>
              </a:rPr>
              <a:t>F= 2πηT/P</a:t>
            </a:r>
            <a:endParaRPr lang="en-US" altLang="zh-CN" sz="2000" b="1">
              <a:latin typeface="宋体" panose="02010600030101010101" pitchFamily="2" charset="-122"/>
              <a:ea typeface="宋体" panose="02010600030101010101" pitchFamily="2" charset="-122"/>
              <a:cs typeface="宋体" panose="02010600030101010101" pitchFamily="2" charset="-122"/>
            </a:endParaRPr>
          </a:p>
          <a:p>
            <a:r>
              <a:rPr lang="en-US" altLang="zh-CN" sz="2000" b="1">
                <a:latin typeface="宋体" panose="02010600030101010101" pitchFamily="2" charset="-122"/>
                <a:ea typeface="宋体" panose="02010600030101010101" pitchFamily="2" charset="-122"/>
                <a:cs typeface="宋体" panose="02010600030101010101" pitchFamily="2" charset="-122"/>
              </a:rPr>
              <a:t>F：</a:t>
            </a:r>
            <a:r>
              <a:rPr lang="zh-CN" altLang="en-US" sz="2000" b="1">
                <a:latin typeface="宋体" panose="02010600030101010101" pitchFamily="2" charset="-122"/>
                <a:ea typeface="宋体" panose="02010600030101010101" pitchFamily="2" charset="-122"/>
                <a:cs typeface="宋体" panose="02010600030101010101" pitchFamily="2" charset="-122"/>
              </a:rPr>
              <a:t>丝杆轴向驱动力（推力），</a:t>
            </a:r>
            <a:r>
              <a:rPr lang="en-US" altLang="zh-CN" sz="2000" b="1">
                <a:latin typeface="宋体" panose="02010600030101010101" pitchFamily="2" charset="-122"/>
                <a:ea typeface="宋体" panose="02010600030101010101" pitchFamily="2" charset="-122"/>
                <a:cs typeface="宋体" panose="02010600030101010101" pitchFamily="2" charset="-122"/>
              </a:rPr>
              <a:t>N</a:t>
            </a:r>
            <a:br>
              <a:rPr lang="en-US" altLang="zh-CN" sz="2000" b="1">
                <a:latin typeface="宋体" panose="02010600030101010101" pitchFamily="2" charset="-122"/>
                <a:ea typeface="宋体" panose="02010600030101010101" pitchFamily="2" charset="-122"/>
                <a:cs typeface="宋体" panose="02010600030101010101" pitchFamily="2" charset="-122"/>
              </a:rPr>
            </a:br>
            <a:r>
              <a:rPr lang="en-US" altLang="zh-CN" sz="2000" b="1">
                <a:latin typeface="宋体" panose="02010600030101010101" pitchFamily="2" charset="-122"/>
                <a:ea typeface="宋体" panose="02010600030101010101" pitchFamily="2" charset="-122"/>
                <a:cs typeface="宋体" panose="02010600030101010101" pitchFamily="2" charset="-122"/>
              </a:rPr>
              <a:t>T：</a:t>
            </a:r>
            <a:r>
              <a:rPr lang="zh-CN" altLang="en-US" sz="2000" b="1">
                <a:latin typeface="宋体" panose="02010600030101010101" pitchFamily="2" charset="-122"/>
                <a:ea typeface="宋体" panose="02010600030101010101" pitchFamily="2" charset="-122"/>
                <a:cs typeface="宋体" panose="02010600030101010101" pitchFamily="2" charset="-122"/>
              </a:rPr>
              <a:t>电机输出扭矩，</a:t>
            </a:r>
            <a:r>
              <a:rPr lang="en-US" altLang="zh-CN" sz="2000" b="1">
                <a:latin typeface="宋体" panose="02010600030101010101" pitchFamily="2" charset="-122"/>
                <a:ea typeface="宋体" panose="02010600030101010101" pitchFamily="2" charset="-122"/>
                <a:cs typeface="宋体" panose="02010600030101010101" pitchFamily="2" charset="-122"/>
              </a:rPr>
              <a:t>N・m</a:t>
            </a:r>
            <a:endParaRPr lang="en-US" altLang="zh-CN" sz="2000" b="1">
              <a:latin typeface="宋体" panose="02010600030101010101" pitchFamily="2" charset="-122"/>
              <a:ea typeface="宋体" panose="02010600030101010101" pitchFamily="2" charset="-122"/>
              <a:cs typeface="宋体" panose="02010600030101010101" pitchFamily="2" charset="-122"/>
            </a:endParaRPr>
          </a:p>
          <a:p>
            <a:r>
              <a:rPr lang="en-US" altLang="zh-CN" sz="2000" b="1">
                <a:latin typeface="宋体" panose="02010600030101010101" pitchFamily="2" charset="-122"/>
                <a:ea typeface="宋体" panose="02010600030101010101" pitchFamily="2" charset="-122"/>
                <a:cs typeface="宋体" panose="02010600030101010101" pitchFamily="2" charset="-122"/>
              </a:rPr>
              <a:t>P：</a:t>
            </a:r>
            <a:r>
              <a:rPr lang="zh-CN" altLang="en-US" sz="2000" b="1">
                <a:latin typeface="宋体" panose="02010600030101010101" pitchFamily="2" charset="-122"/>
                <a:ea typeface="宋体" panose="02010600030101010101" pitchFamily="2" charset="-122"/>
                <a:cs typeface="宋体" panose="02010600030101010101" pitchFamily="2" charset="-122"/>
              </a:rPr>
              <a:t>丝杆导程（转一圈移动距离），</a:t>
            </a:r>
            <a:r>
              <a:rPr lang="en-US" altLang="zh-CN" sz="2000" b="1">
                <a:latin typeface="宋体" panose="02010600030101010101" pitchFamily="2" charset="-122"/>
                <a:ea typeface="宋体" panose="02010600030101010101" pitchFamily="2" charset="-122"/>
                <a:cs typeface="宋体" panose="02010600030101010101" pitchFamily="2" charset="-122"/>
              </a:rPr>
              <a:t>m</a:t>
            </a:r>
            <a:endParaRPr lang="en-US" altLang="zh-CN" sz="2000" b="1">
              <a:latin typeface="宋体" panose="02010600030101010101" pitchFamily="2" charset="-122"/>
              <a:ea typeface="宋体" panose="02010600030101010101" pitchFamily="2" charset="-122"/>
              <a:cs typeface="宋体" panose="02010600030101010101" pitchFamily="2" charset="-122"/>
            </a:endParaRPr>
          </a:p>
          <a:p>
            <a:r>
              <a:rPr lang="en-US" altLang="zh-CN" sz="2000" b="1">
                <a:latin typeface="宋体" panose="02010600030101010101" pitchFamily="2" charset="-122"/>
                <a:ea typeface="宋体" panose="02010600030101010101" pitchFamily="2" charset="-122"/>
                <a:cs typeface="宋体" panose="02010600030101010101" pitchFamily="2" charset="-122"/>
                <a:sym typeface="+mn-ea"/>
              </a:rPr>
              <a:t>η</a:t>
            </a:r>
            <a:r>
              <a:rPr lang="en-US" altLang="zh-CN" sz="2000" b="1">
                <a:latin typeface="宋体" panose="02010600030101010101" pitchFamily="2" charset="-122"/>
                <a:ea typeface="宋体" panose="02010600030101010101" pitchFamily="2" charset="-122"/>
                <a:cs typeface="宋体" panose="02010600030101010101" pitchFamily="2" charset="-122"/>
              </a:rPr>
              <a:t>：</a:t>
            </a:r>
            <a:r>
              <a:rPr lang="zh-CN" altLang="en-US" sz="2000" b="1">
                <a:latin typeface="宋体" panose="02010600030101010101" pitchFamily="2" charset="-122"/>
                <a:ea typeface="宋体" panose="02010600030101010101" pitchFamily="2" charset="-122"/>
                <a:cs typeface="宋体" panose="02010600030101010101" pitchFamily="2" charset="-122"/>
              </a:rPr>
              <a:t>传动效率（滚珠丝杆 0.85~0.95；</a:t>
            </a:r>
            <a:r>
              <a:rPr lang="en-US" altLang="zh-CN" sz="2000" b="1">
                <a:latin typeface="宋体" panose="02010600030101010101" pitchFamily="2" charset="-122"/>
                <a:ea typeface="宋体" panose="02010600030101010101" pitchFamily="2" charset="-122"/>
                <a:cs typeface="宋体" panose="02010600030101010101" pitchFamily="2" charset="-122"/>
              </a:rPr>
              <a:t>T</a:t>
            </a:r>
            <a:r>
              <a:rPr lang="zh-CN" altLang="en-US" sz="2000" b="1">
                <a:latin typeface="宋体" panose="02010600030101010101" pitchFamily="2" charset="-122"/>
                <a:ea typeface="宋体" panose="02010600030101010101" pitchFamily="2" charset="-122"/>
                <a:cs typeface="宋体" panose="02010600030101010101" pitchFamily="2" charset="-122"/>
              </a:rPr>
              <a:t>型丝杆 0.25~0.5）</a:t>
            </a:r>
            <a:endParaRPr lang="zh-CN" altLang="en-US" sz="2000" b="1">
              <a:latin typeface="宋体" panose="02010600030101010101" pitchFamily="2" charset="-122"/>
              <a:ea typeface="宋体" panose="02010600030101010101" pitchFamily="2" charset="-122"/>
              <a:cs typeface="宋体" panose="02010600030101010101" pitchFamily="2" charset="-122"/>
            </a:endParaRPr>
          </a:p>
          <a:p>
            <a:endParaRPr lang="en-US" altLang="zh-CN" sz="2000" b="1">
              <a:latin typeface="宋体" panose="02010600030101010101" pitchFamily="2" charset="-122"/>
              <a:ea typeface="宋体" panose="02010600030101010101" pitchFamily="2" charset="-122"/>
              <a:cs typeface="宋体" panose="02010600030101010101" pitchFamily="2" charset="-122"/>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任意多边形 4"/>
          <p:cNvSpPr/>
          <p:nvPr/>
        </p:nvSpPr>
        <p:spPr>
          <a:xfrm>
            <a:off x="142875" y="0"/>
            <a:ext cx="4759960" cy="1800860"/>
          </a:xfrm>
          <a:custGeom>
            <a:avLst/>
            <a:gdLst>
              <a:gd name="connsiteX0" fmla="*/ 0 w 6078"/>
              <a:gd name="connsiteY0" fmla="*/ 0 h 2816"/>
              <a:gd name="connsiteX1" fmla="*/ 6078 w 6078"/>
              <a:gd name="connsiteY1" fmla="*/ 0 h 2816"/>
              <a:gd name="connsiteX2" fmla="*/ 3195 w 6078"/>
              <a:gd name="connsiteY2" fmla="*/ 2794 h 2816"/>
              <a:gd name="connsiteX3" fmla="*/ 0 w 6078"/>
              <a:gd name="connsiteY3" fmla="*/ 2816 h 2816"/>
              <a:gd name="connsiteX4" fmla="*/ 0 w 6078"/>
              <a:gd name="connsiteY4" fmla="*/ 0 h 28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78" h="2816">
                <a:moveTo>
                  <a:pt x="0" y="0"/>
                </a:moveTo>
                <a:lnTo>
                  <a:pt x="6078" y="0"/>
                </a:lnTo>
                <a:lnTo>
                  <a:pt x="3195" y="2794"/>
                </a:lnTo>
                <a:lnTo>
                  <a:pt x="0" y="2816"/>
                </a:lnTo>
                <a:lnTo>
                  <a:pt x="0" y="0"/>
                </a:ln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9" name="图片 18"/>
          <p:cNvPicPr>
            <a:picLocks noChangeAspect="1"/>
          </p:cNvPicPr>
          <p:nvPr>
            <p:custDataLst>
              <p:tags r:id="rId1"/>
            </p:custDataLst>
          </p:nvPr>
        </p:nvPicPr>
        <p:blipFill>
          <a:blip r:embed="rId2" cstate="print">
            <a:extLst>
              <a:ext uri="{28A0092B-C50C-407E-A947-70E740481C1C}">
                <a14:useLocalDpi xmlns:a14="http://schemas.microsoft.com/office/drawing/2010/main" val="0"/>
              </a:ext>
            </a:extLst>
          </a:blip>
          <a:stretch>
            <a:fillRect/>
          </a:stretch>
        </p:blipFill>
        <p:spPr>
          <a:xfrm>
            <a:off x="10145111" y="5472446"/>
            <a:ext cx="2291772" cy="1857342"/>
          </a:xfrm>
          <a:prstGeom prst="rect">
            <a:avLst/>
          </a:prstGeom>
        </p:spPr>
      </p:pic>
      <p:sp>
        <p:nvSpPr>
          <p:cNvPr id="15" name="直角三角形 14"/>
          <p:cNvSpPr/>
          <p:nvPr/>
        </p:nvSpPr>
        <p:spPr>
          <a:xfrm>
            <a:off x="0" y="5943600"/>
            <a:ext cx="2781935" cy="915035"/>
          </a:xfrm>
          <a:prstGeom prst="rtTriangle">
            <a:avLst/>
          </a:prstGeom>
          <a:solidFill>
            <a:schemeClr val="tx2">
              <a:lumMod val="20000"/>
              <a:lumOff val="80000"/>
            </a:schemeClr>
          </a:solidFill>
          <a:ln>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副标题 2"/>
          <p:cNvSpPr>
            <a:spLocks noGrp="1"/>
          </p:cNvSpPr>
          <p:nvPr>
            <p:ph type="subTitle" idx="1"/>
          </p:nvPr>
        </p:nvSpPr>
        <p:spPr>
          <a:xfrm>
            <a:off x="-615950" y="321945"/>
            <a:ext cx="7308850" cy="1104265"/>
          </a:xfrm>
        </p:spPr>
        <p:txBody>
          <a:bodyPr>
            <a:noAutofit/>
          </a:bodyPr>
          <a:lstStyle/>
          <a:p>
            <a:r>
              <a:rPr lang="en-US" altLang="zh-CN" sz="4800" dirty="0">
                <a:latin typeface="Algerian" panose="04020705040A02060702" pitchFamily="82" charset="0"/>
                <a:ea typeface="华文琥珀" panose="02010800040101010101" charset="-122"/>
              </a:rPr>
              <a:t>7.1</a:t>
            </a:r>
            <a:r>
              <a:rPr lang="zh-CN" altLang="en-US" sz="4800" dirty="0">
                <a:latin typeface="Algerian" panose="04020705040A02060702" pitchFamily="82" charset="0"/>
                <a:ea typeface="华文琥珀" panose="02010800040101010101" charset="-122"/>
              </a:rPr>
              <a:t>：丝杆自锁公式</a:t>
            </a:r>
            <a:endParaRPr lang="zh-CN" altLang="en-US" sz="4800" dirty="0">
              <a:latin typeface="Algerian" panose="04020705040A02060702" pitchFamily="82" charset="0"/>
              <a:ea typeface="华文琥珀" panose="02010800040101010101" charset="-122"/>
            </a:endParaRPr>
          </a:p>
        </p:txBody>
      </p:sp>
      <p:sp>
        <p:nvSpPr>
          <p:cNvPr id="6" name="文本框 5"/>
          <p:cNvSpPr txBox="1"/>
          <p:nvPr/>
        </p:nvSpPr>
        <p:spPr>
          <a:xfrm>
            <a:off x="418465" y="2016125"/>
            <a:ext cx="6725285" cy="4130040"/>
          </a:xfrm>
          <a:prstGeom prst="rect">
            <a:avLst/>
          </a:prstGeom>
          <a:noFill/>
        </p:spPr>
        <p:txBody>
          <a:bodyPr wrap="square" rtlCol="0">
            <a:noAutofit/>
          </a:bodyPr>
          <a:lstStyle/>
          <a:p>
            <a:r>
              <a:rPr lang="zh-CN" altLang="en-US">
                <a:solidFill>
                  <a:schemeClr val="tx1"/>
                </a:solidFill>
              </a:rPr>
              <a:t>https://zhuanlan.zhihu.com/p/116655775</a:t>
            </a:r>
            <a:endParaRPr lang="zh-CN" altLang="en-US">
              <a:solidFill>
                <a:schemeClr val="tx1"/>
              </a:solidFill>
            </a:endParaRPr>
          </a:p>
          <a:p>
            <a:endParaRPr lang="en-US" altLang="zh-CN">
              <a:solidFill>
                <a:schemeClr val="tx1"/>
              </a:solidFill>
            </a:endParaRPr>
          </a:p>
          <a:p>
            <a:r>
              <a:rPr lang="zh-CN" altLang="en-US">
                <a:solidFill>
                  <a:schemeClr val="tx1"/>
                </a:solidFill>
              </a:rPr>
              <a:t>普通丝杆满足螺纹升角小于当量摩擦角的条件时，可以自锁</a:t>
            </a:r>
            <a:endParaRPr lang="zh-CN" altLang="en-US">
              <a:solidFill>
                <a:schemeClr val="tx1"/>
              </a:solidFill>
            </a:endParaRPr>
          </a:p>
          <a:p>
            <a:r>
              <a:rPr lang="zh-CN" altLang="en-US">
                <a:solidFill>
                  <a:schemeClr val="tx1"/>
                </a:solidFill>
              </a:rPr>
              <a:t>一般要查表格</a:t>
            </a:r>
            <a:endParaRPr lang="zh-CN" altLang="en-US">
              <a:solidFill>
                <a:schemeClr val="tx1"/>
              </a:solidFill>
            </a:endParaRPr>
          </a:p>
          <a:p>
            <a:r>
              <a:rPr lang="zh-CN" altLang="en-US">
                <a:solidFill>
                  <a:schemeClr val="tx1"/>
                </a:solidFill>
              </a:rPr>
              <a:t>滚珠丝杆一般自锁不了，可以认为滚珠减小了接触面积</a:t>
            </a:r>
            <a:endParaRPr lang="zh-CN" altLang="en-US">
              <a:solidFill>
                <a:schemeClr val="tx1"/>
              </a:solidFill>
            </a:endParaRPr>
          </a:p>
          <a:p>
            <a:endParaRPr lang="zh-CN" altLang="en-US">
              <a:solidFill>
                <a:schemeClr val="tx1"/>
              </a:solidFill>
            </a:endParaRPr>
          </a:p>
          <a:p>
            <a:endParaRPr lang="zh-CN" altLang="en-US">
              <a:solidFill>
                <a:schemeClr val="tx1"/>
              </a:solidFill>
            </a:endParaRPr>
          </a:p>
        </p:txBody>
      </p:sp>
      <p:pic>
        <p:nvPicPr>
          <p:cNvPr id="4" name="图片 3" descr="微信截图_20241024155524"/>
          <p:cNvPicPr>
            <a:picLocks noChangeAspect="1"/>
          </p:cNvPicPr>
          <p:nvPr/>
        </p:nvPicPr>
        <p:blipFill>
          <a:blip r:embed="rId3"/>
          <a:stretch>
            <a:fillRect/>
          </a:stretch>
        </p:blipFill>
        <p:spPr>
          <a:xfrm>
            <a:off x="7929880" y="321945"/>
            <a:ext cx="4187190" cy="4233545"/>
          </a:xfrm>
          <a:prstGeom prst="rect">
            <a:avLst/>
          </a:prstGeom>
        </p:spPr>
      </p:pic>
      <p:pic>
        <p:nvPicPr>
          <p:cNvPr id="7" name="图片 6" descr="微信截图_20241024155457"/>
          <p:cNvPicPr>
            <a:picLocks noChangeAspect="1"/>
          </p:cNvPicPr>
          <p:nvPr/>
        </p:nvPicPr>
        <p:blipFill>
          <a:blip r:embed="rId4"/>
          <a:stretch>
            <a:fillRect/>
          </a:stretch>
        </p:blipFill>
        <p:spPr>
          <a:xfrm>
            <a:off x="7710170" y="4555490"/>
            <a:ext cx="4406900" cy="2214245"/>
          </a:xfrm>
          <a:prstGeom prst="rect">
            <a:avLst/>
          </a:prstGeom>
        </p:spPr>
      </p:pic>
      <p:pic>
        <p:nvPicPr>
          <p:cNvPr id="9" name="图片 8" descr="345733d0fec5717c1760a898ff57274"/>
          <p:cNvPicPr>
            <a:picLocks noChangeAspect="1"/>
          </p:cNvPicPr>
          <p:nvPr/>
        </p:nvPicPr>
        <p:blipFill>
          <a:blip r:embed="rId5"/>
          <a:stretch>
            <a:fillRect/>
          </a:stretch>
        </p:blipFill>
        <p:spPr>
          <a:xfrm rot="16200000">
            <a:off x="1226185" y="198755"/>
            <a:ext cx="5285105" cy="7451725"/>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任意多边形 4"/>
          <p:cNvSpPr/>
          <p:nvPr/>
        </p:nvSpPr>
        <p:spPr>
          <a:xfrm>
            <a:off x="142875" y="99060"/>
            <a:ext cx="4759960" cy="1800860"/>
          </a:xfrm>
          <a:custGeom>
            <a:avLst/>
            <a:gdLst>
              <a:gd name="connsiteX0" fmla="*/ 0 w 6078"/>
              <a:gd name="connsiteY0" fmla="*/ 0 h 2816"/>
              <a:gd name="connsiteX1" fmla="*/ 6078 w 6078"/>
              <a:gd name="connsiteY1" fmla="*/ 0 h 2816"/>
              <a:gd name="connsiteX2" fmla="*/ 3195 w 6078"/>
              <a:gd name="connsiteY2" fmla="*/ 2794 h 2816"/>
              <a:gd name="connsiteX3" fmla="*/ 0 w 6078"/>
              <a:gd name="connsiteY3" fmla="*/ 2816 h 2816"/>
              <a:gd name="connsiteX4" fmla="*/ 0 w 6078"/>
              <a:gd name="connsiteY4" fmla="*/ 0 h 28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78" h="2816">
                <a:moveTo>
                  <a:pt x="0" y="0"/>
                </a:moveTo>
                <a:lnTo>
                  <a:pt x="6078" y="0"/>
                </a:lnTo>
                <a:lnTo>
                  <a:pt x="3195" y="2794"/>
                </a:lnTo>
                <a:lnTo>
                  <a:pt x="0" y="2816"/>
                </a:lnTo>
                <a:lnTo>
                  <a:pt x="0" y="0"/>
                </a:ln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直角三角形 14"/>
          <p:cNvSpPr/>
          <p:nvPr/>
        </p:nvSpPr>
        <p:spPr>
          <a:xfrm>
            <a:off x="0" y="5943600"/>
            <a:ext cx="2781935" cy="915035"/>
          </a:xfrm>
          <a:prstGeom prst="rtTriangle">
            <a:avLst/>
          </a:prstGeom>
          <a:solidFill>
            <a:schemeClr val="tx2">
              <a:lumMod val="20000"/>
              <a:lumOff val="80000"/>
            </a:schemeClr>
          </a:solidFill>
          <a:ln>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副标题 2"/>
          <p:cNvSpPr>
            <a:spLocks noGrp="1"/>
          </p:cNvSpPr>
          <p:nvPr>
            <p:ph type="subTitle" idx="1"/>
          </p:nvPr>
        </p:nvSpPr>
        <p:spPr>
          <a:xfrm>
            <a:off x="-586740" y="548640"/>
            <a:ext cx="6139815" cy="1104265"/>
          </a:xfrm>
        </p:spPr>
        <p:txBody>
          <a:bodyPr>
            <a:noAutofit/>
          </a:bodyPr>
          <a:lstStyle/>
          <a:p>
            <a:r>
              <a:rPr lang="en-US" altLang="zh-CN" sz="4800" dirty="0">
                <a:latin typeface="Algerian" panose="04020705040A02060702" pitchFamily="82" charset="0"/>
                <a:ea typeface="华文琥珀" panose="02010800040101010101" charset="-122"/>
              </a:rPr>
              <a:t>7.2</a:t>
            </a:r>
            <a:r>
              <a:rPr lang="zh-CN" altLang="en-US" sz="4800" dirty="0">
                <a:latin typeface="Algerian" panose="04020705040A02060702" pitchFamily="82" charset="0"/>
                <a:ea typeface="华文琥珀" panose="02010800040101010101" charset="-122"/>
              </a:rPr>
              <a:t>：丝杆导程</a:t>
            </a:r>
            <a:endParaRPr lang="zh-CN" altLang="en-US" sz="4800" dirty="0">
              <a:latin typeface="Algerian" panose="04020705040A02060702" pitchFamily="82" charset="0"/>
              <a:ea typeface="华文琥珀" panose="02010800040101010101" charset="-122"/>
            </a:endParaRPr>
          </a:p>
        </p:txBody>
      </p:sp>
      <p:sp>
        <p:nvSpPr>
          <p:cNvPr id="6" name="文本框 5"/>
          <p:cNvSpPr txBox="1"/>
          <p:nvPr/>
        </p:nvSpPr>
        <p:spPr>
          <a:xfrm>
            <a:off x="418465" y="2016125"/>
            <a:ext cx="6725285" cy="4130040"/>
          </a:xfrm>
          <a:prstGeom prst="rect">
            <a:avLst/>
          </a:prstGeom>
          <a:noFill/>
        </p:spPr>
        <p:txBody>
          <a:bodyPr wrap="square" rtlCol="0">
            <a:noAutofit/>
          </a:bodyPr>
          <a:lstStyle/>
          <a:p>
            <a:endParaRPr lang="zh-CN" altLang="en-US">
              <a:solidFill>
                <a:schemeClr val="tx1"/>
              </a:solidFill>
            </a:endParaRPr>
          </a:p>
          <a:p>
            <a:endParaRPr lang="zh-CN" altLang="en-US">
              <a:solidFill>
                <a:schemeClr val="tx1"/>
              </a:solidFill>
            </a:endParaRPr>
          </a:p>
        </p:txBody>
      </p:sp>
      <p:pic>
        <p:nvPicPr>
          <p:cNvPr id="2" name="图片 1" descr="微信图片_20241024171930"/>
          <p:cNvPicPr>
            <a:picLocks noChangeAspect="1"/>
          </p:cNvPicPr>
          <p:nvPr/>
        </p:nvPicPr>
        <p:blipFill>
          <a:blip r:embed="rId1"/>
          <a:stretch>
            <a:fillRect/>
          </a:stretch>
        </p:blipFill>
        <p:spPr>
          <a:xfrm>
            <a:off x="483870" y="1310005"/>
            <a:ext cx="11071860" cy="3893820"/>
          </a:xfrm>
          <a:prstGeom prst="rect">
            <a:avLst/>
          </a:prstGeom>
        </p:spPr>
      </p:pic>
      <p:pic>
        <p:nvPicPr>
          <p:cNvPr id="8" name="图片 7" descr="微信图片_20241024171933"/>
          <p:cNvPicPr>
            <a:picLocks noChangeAspect="1"/>
          </p:cNvPicPr>
          <p:nvPr/>
        </p:nvPicPr>
        <p:blipFill>
          <a:blip r:embed="rId2"/>
          <a:stretch>
            <a:fillRect/>
          </a:stretch>
        </p:blipFill>
        <p:spPr>
          <a:xfrm>
            <a:off x="332105" y="5318760"/>
            <a:ext cx="7086600" cy="109728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任意多边形 4"/>
          <p:cNvSpPr/>
          <p:nvPr/>
        </p:nvSpPr>
        <p:spPr>
          <a:xfrm>
            <a:off x="142875" y="99060"/>
            <a:ext cx="4759960" cy="1800860"/>
          </a:xfrm>
          <a:custGeom>
            <a:avLst/>
            <a:gdLst>
              <a:gd name="connsiteX0" fmla="*/ 0 w 6078"/>
              <a:gd name="connsiteY0" fmla="*/ 0 h 2816"/>
              <a:gd name="connsiteX1" fmla="*/ 6078 w 6078"/>
              <a:gd name="connsiteY1" fmla="*/ 0 h 2816"/>
              <a:gd name="connsiteX2" fmla="*/ 3195 w 6078"/>
              <a:gd name="connsiteY2" fmla="*/ 2794 h 2816"/>
              <a:gd name="connsiteX3" fmla="*/ 0 w 6078"/>
              <a:gd name="connsiteY3" fmla="*/ 2816 h 2816"/>
              <a:gd name="connsiteX4" fmla="*/ 0 w 6078"/>
              <a:gd name="connsiteY4" fmla="*/ 0 h 28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78" h="2816">
                <a:moveTo>
                  <a:pt x="0" y="0"/>
                </a:moveTo>
                <a:lnTo>
                  <a:pt x="6078" y="0"/>
                </a:lnTo>
                <a:lnTo>
                  <a:pt x="3195" y="2794"/>
                </a:lnTo>
                <a:lnTo>
                  <a:pt x="0" y="2816"/>
                </a:lnTo>
                <a:lnTo>
                  <a:pt x="0" y="0"/>
                </a:ln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9" name="图片 18"/>
          <p:cNvPicPr>
            <a:picLocks noChangeAspect="1"/>
          </p:cNvPicPr>
          <p:nvPr>
            <p:custDataLst>
              <p:tags r:id="rId1"/>
            </p:custDataLst>
          </p:nvPr>
        </p:nvPicPr>
        <p:blipFill>
          <a:blip r:embed="rId2" cstate="print">
            <a:extLst>
              <a:ext uri="{28A0092B-C50C-407E-A947-70E740481C1C}">
                <a14:useLocalDpi xmlns:a14="http://schemas.microsoft.com/office/drawing/2010/main" val="0"/>
              </a:ext>
            </a:extLst>
          </a:blip>
          <a:stretch>
            <a:fillRect/>
          </a:stretch>
        </p:blipFill>
        <p:spPr>
          <a:xfrm>
            <a:off x="10145111" y="5472446"/>
            <a:ext cx="2291772" cy="1857342"/>
          </a:xfrm>
          <a:prstGeom prst="rect">
            <a:avLst/>
          </a:prstGeom>
        </p:spPr>
      </p:pic>
      <p:sp>
        <p:nvSpPr>
          <p:cNvPr id="15" name="直角三角形 14"/>
          <p:cNvSpPr/>
          <p:nvPr/>
        </p:nvSpPr>
        <p:spPr>
          <a:xfrm>
            <a:off x="0" y="5943600"/>
            <a:ext cx="2781935" cy="915035"/>
          </a:xfrm>
          <a:prstGeom prst="rtTriangle">
            <a:avLst/>
          </a:prstGeom>
          <a:solidFill>
            <a:schemeClr val="tx2">
              <a:lumMod val="20000"/>
              <a:lumOff val="80000"/>
            </a:schemeClr>
          </a:solidFill>
          <a:ln>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副标题 2"/>
          <p:cNvSpPr>
            <a:spLocks noGrp="1"/>
          </p:cNvSpPr>
          <p:nvPr>
            <p:ph type="subTitle" idx="1"/>
          </p:nvPr>
        </p:nvSpPr>
        <p:spPr>
          <a:xfrm>
            <a:off x="142875" y="347980"/>
            <a:ext cx="3623310" cy="1104265"/>
          </a:xfrm>
        </p:spPr>
        <p:txBody>
          <a:bodyPr>
            <a:noAutofit/>
          </a:bodyPr>
          <a:lstStyle/>
          <a:p>
            <a:r>
              <a:rPr lang="en-US" altLang="zh-CN" sz="4800" dirty="0">
                <a:latin typeface="Algerian" panose="04020705040A02060702" pitchFamily="82" charset="0"/>
                <a:ea typeface="华文琥珀" panose="02010800040101010101" charset="-122"/>
              </a:rPr>
              <a:t>8.</a:t>
            </a:r>
            <a:r>
              <a:rPr lang="zh-CN" altLang="en-US" sz="4800" dirty="0">
                <a:latin typeface="Algerian" panose="04020705040A02060702" pitchFamily="82" charset="0"/>
                <a:ea typeface="华文琥珀" panose="02010800040101010101" charset="-122"/>
              </a:rPr>
              <a:t>联轴器</a:t>
            </a:r>
            <a:endParaRPr lang="zh-CN" altLang="en-US" sz="4800" dirty="0">
              <a:latin typeface="Algerian" panose="04020705040A02060702" pitchFamily="82" charset="0"/>
              <a:ea typeface="华文琥珀" panose="02010800040101010101" charset="-122"/>
            </a:endParaRPr>
          </a:p>
        </p:txBody>
      </p:sp>
      <p:sp>
        <p:nvSpPr>
          <p:cNvPr id="6" name="文本框 5"/>
          <p:cNvSpPr txBox="1"/>
          <p:nvPr/>
        </p:nvSpPr>
        <p:spPr>
          <a:xfrm>
            <a:off x="4424045" y="548640"/>
            <a:ext cx="2719705" cy="5597525"/>
          </a:xfrm>
          <a:prstGeom prst="rect">
            <a:avLst/>
          </a:prstGeom>
          <a:noFill/>
        </p:spPr>
        <p:txBody>
          <a:bodyPr wrap="square" rtlCol="0">
            <a:noAutofit/>
          </a:bodyPr>
          <a:lstStyle/>
          <a:p>
            <a:r>
              <a:rPr lang="zh-CN" altLang="en-US">
                <a:solidFill>
                  <a:schemeClr val="tx1"/>
                </a:solidFill>
              </a:rPr>
              <a:t>一般有这四种联轴器</a:t>
            </a:r>
            <a:endParaRPr lang="zh-CN" altLang="en-US">
              <a:solidFill>
                <a:schemeClr val="tx1"/>
              </a:solidFill>
            </a:endParaRPr>
          </a:p>
          <a:p>
            <a:endParaRPr lang="zh-CN" altLang="en-US">
              <a:solidFill>
                <a:schemeClr val="tx1"/>
              </a:solidFill>
            </a:endParaRPr>
          </a:p>
          <a:p>
            <a:r>
              <a:rPr lang="zh-CN" altLang="en-US">
                <a:solidFill>
                  <a:schemeClr val="tx1"/>
                </a:solidFill>
              </a:rPr>
              <a:t>中心补偿能力：</a:t>
            </a:r>
            <a:endParaRPr lang="zh-CN" altLang="en-US">
              <a:solidFill>
                <a:schemeClr val="tx1"/>
              </a:solidFill>
            </a:endParaRPr>
          </a:p>
          <a:p>
            <a:r>
              <a:rPr lang="zh-CN" altLang="en-US">
                <a:solidFill>
                  <a:schemeClr val="tx1"/>
                </a:solidFill>
              </a:rPr>
              <a:t>绕线＞膜片＞刚性</a:t>
            </a:r>
            <a:endParaRPr lang="zh-CN" altLang="en-US">
              <a:solidFill>
                <a:schemeClr val="tx1"/>
              </a:solidFill>
            </a:endParaRPr>
          </a:p>
          <a:p>
            <a:endParaRPr lang="zh-CN" altLang="en-US">
              <a:solidFill>
                <a:schemeClr val="tx1"/>
              </a:solidFill>
            </a:endParaRPr>
          </a:p>
          <a:p>
            <a:r>
              <a:rPr lang="zh-CN" altLang="en-US">
                <a:solidFill>
                  <a:srgbClr val="FF0000"/>
                </a:solidFill>
              </a:rPr>
              <a:t>不推荐使用梅花联轴器</a:t>
            </a:r>
            <a:endParaRPr lang="zh-CN" altLang="en-US">
              <a:solidFill>
                <a:srgbClr val="FF0000"/>
              </a:solidFill>
            </a:endParaRPr>
          </a:p>
          <a:p>
            <a:r>
              <a:rPr lang="zh-CN" altLang="en-US">
                <a:solidFill>
                  <a:srgbClr val="FF0000"/>
                </a:solidFill>
              </a:rPr>
              <a:t>非常容易坏</a:t>
            </a:r>
            <a:endParaRPr lang="zh-CN" altLang="en-US">
              <a:solidFill>
                <a:srgbClr val="FF0000"/>
              </a:solidFill>
            </a:endParaRPr>
          </a:p>
          <a:p>
            <a:endParaRPr lang="zh-CN" altLang="en-US">
              <a:solidFill>
                <a:schemeClr val="tx1"/>
              </a:solidFill>
            </a:endParaRPr>
          </a:p>
          <a:p>
            <a:r>
              <a:rPr lang="zh-CN" altLang="en-US">
                <a:solidFill>
                  <a:schemeClr val="tx1"/>
                </a:solidFill>
              </a:rPr>
              <a:t>绕线联轴器只能一定程度上减轻两个轴不对心的问题</a:t>
            </a:r>
            <a:r>
              <a:rPr lang="en-US" altLang="zh-CN">
                <a:solidFill>
                  <a:schemeClr val="tx1"/>
                </a:solidFill>
              </a:rPr>
              <a:t> </a:t>
            </a:r>
            <a:r>
              <a:rPr lang="zh-CN" altLang="en-US">
                <a:solidFill>
                  <a:schemeClr val="tx1"/>
                </a:solidFill>
              </a:rPr>
              <a:t>不能完全解决（强行对齐是一定会严重变形的）</a:t>
            </a:r>
            <a:endParaRPr lang="zh-CN" altLang="en-US">
              <a:solidFill>
                <a:schemeClr val="tx1"/>
              </a:solidFill>
            </a:endParaRPr>
          </a:p>
          <a:p>
            <a:endParaRPr lang="zh-CN" altLang="en-US">
              <a:solidFill>
                <a:schemeClr val="tx1"/>
              </a:solidFill>
            </a:endParaRPr>
          </a:p>
          <a:p>
            <a:r>
              <a:rPr lang="zh-CN" altLang="en-US">
                <a:solidFill>
                  <a:schemeClr val="tx1"/>
                </a:solidFill>
              </a:rPr>
              <a:t>联轴器是指联接两轴或轴与回转件，在传递运动和动力过程中一同回转，在正常情况下不脱开的一种装置。有时也作为一种安全装置用来防止被联接机件承受过大的载荷，起到过载保护的作用。</a:t>
            </a:r>
            <a:endParaRPr lang="zh-CN" altLang="en-US">
              <a:solidFill>
                <a:schemeClr val="tx1"/>
              </a:solidFill>
            </a:endParaRPr>
          </a:p>
        </p:txBody>
      </p:sp>
      <p:pic>
        <p:nvPicPr>
          <p:cNvPr id="2" name="图片 1" descr="微信截图_20241024165653"/>
          <p:cNvPicPr>
            <a:picLocks noChangeAspect="1"/>
          </p:cNvPicPr>
          <p:nvPr/>
        </p:nvPicPr>
        <p:blipFill>
          <a:blip r:embed="rId3"/>
          <a:stretch>
            <a:fillRect/>
          </a:stretch>
        </p:blipFill>
        <p:spPr>
          <a:xfrm>
            <a:off x="142875" y="1243965"/>
            <a:ext cx="4267835" cy="2858770"/>
          </a:xfrm>
          <a:prstGeom prst="rect">
            <a:avLst/>
          </a:prstGeom>
        </p:spPr>
      </p:pic>
      <p:pic>
        <p:nvPicPr>
          <p:cNvPr id="8" name="图片 7" descr="微信截图_20241024165725"/>
          <p:cNvPicPr>
            <a:picLocks noChangeAspect="1"/>
          </p:cNvPicPr>
          <p:nvPr/>
        </p:nvPicPr>
        <p:blipFill>
          <a:blip r:embed="rId4"/>
          <a:stretch>
            <a:fillRect/>
          </a:stretch>
        </p:blipFill>
        <p:spPr>
          <a:xfrm>
            <a:off x="7345680" y="3734435"/>
            <a:ext cx="4846320" cy="3124200"/>
          </a:xfrm>
          <a:prstGeom prst="rect">
            <a:avLst/>
          </a:prstGeom>
        </p:spPr>
      </p:pic>
      <p:pic>
        <p:nvPicPr>
          <p:cNvPr id="10" name="图片 9" descr="微信截图_20241024165705"/>
          <p:cNvPicPr>
            <a:picLocks noChangeAspect="1"/>
          </p:cNvPicPr>
          <p:nvPr/>
        </p:nvPicPr>
        <p:blipFill>
          <a:blip r:embed="rId5"/>
          <a:stretch>
            <a:fillRect/>
          </a:stretch>
        </p:blipFill>
        <p:spPr>
          <a:xfrm>
            <a:off x="7230745" y="433070"/>
            <a:ext cx="4739640" cy="3177540"/>
          </a:xfrm>
          <a:prstGeom prst="rect">
            <a:avLst/>
          </a:prstGeom>
        </p:spPr>
      </p:pic>
      <p:pic>
        <p:nvPicPr>
          <p:cNvPr id="11" name="图片 10" descr="微信截图_20241024165948"/>
          <p:cNvPicPr>
            <a:picLocks noChangeAspect="1"/>
          </p:cNvPicPr>
          <p:nvPr/>
        </p:nvPicPr>
        <p:blipFill>
          <a:blip r:embed="rId6"/>
          <a:stretch>
            <a:fillRect/>
          </a:stretch>
        </p:blipFill>
        <p:spPr>
          <a:xfrm>
            <a:off x="142875" y="3911600"/>
            <a:ext cx="4204970" cy="2769235"/>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任意多边形 4"/>
          <p:cNvSpPr/>
          <p:nvPr/>
        </p:nvSpPr>
        <p:spPr>
          <a:xfrm>
            <a:off x="142875" y="99060"/>
            <a:ext cx="4759960" cy="1800860"/>
          </a:xfrm>
          <a:custGeom>
            <a:avLst/>
            <a:gdLst>
              <a:gd name="connsiteX0" fmla="*/ 0 w 6078"/>
              <a:gd name="connsiteY0" fmla="*/ 0 h 2816"/>
              <a:gd name="connsiteX1" fmla="*/ 6078 w 6078"/>
              <a:gd name="connsiteY1" fmla="*/ 0 h 2816"/>
              <a:gd name="connsiteX2" fmla="*/ 3195 w 6078"/>
              <a:gd name="connsiteY2" fmla="*/ 2794 h 2816"/>
              <a:gd name="connsiteX3" fmla="*/ 0 w 6078"/>
              <a:gd name="connsiteY3" fmla="*/ 2816 h 2816"/>
              <a:gd name="connsiteX4" fmla="*/ 0 w 6078"/>
              <a:gd name="connsiteY4" fmla="*/ 0 h 28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78" h="2816">
                <a:moveTo>
                  <a:pt x="0" y="0"/>
                </a:moveTo>
                <a:lnTo>
                  <a:pt x="6078" y="0"/>
                </a:lnTo>
                <a:lnTo>
                  <a:pt x="3195" y="2794"/>
                </a:lnTo>
                <a:lnTo>
                  <a:pt x="0" y="2816"/>
                </a:lnTo>
                <a:lnTo>
                  <a:pt x="0" y="0"/>
                </a:ln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9" name="图片 18"/>
          <p:cNvPicPr>
            <a:picLocks noChangeAspect="1"/>
          </p:cNvPicPr>
          <p:nvPr>
            <p:custDataLst>
              <p:tags r:id="rId1"/>
            </p:custDataLst>
          </p:nvPr>
        </p:nvPicPr>
        <p:blipFill>
          <a:blip r:embed="rId2" cstate="print">
            <a:extLst>
              <a:ext uri="{28A0092B-C50C-407E-A947-70E740481C1C}">
                <a14:useLocalDpi xmlns:a14="http://schemas.microsoft.com/office/drawing/2010/main" val="0"/>
              </a:ext>
            </a:extLst>
          </a:blip>
          <a:stretch>
            <a:fillRect/>
          </a:stretch>
        </p:blipFill>
        <p:spPr>
          <a:xfrm>
            <a:off x="10145111" y="5472446"/>
            <a:ext cx="2291772" cy="1857342"/>
          </a:xfrm>
          <a:prstGeom prst="rect">
            <a:avLst/>
          </a:prstGeom>
        </p:spPr>
      </p:pic>
      <p:sp>
        <p:nvSpPr>
          <p:cNvPr id="15" name="直角三角形 14"/>
          <p:cNvSpPr/>
          <p:nvPr/>
        </p:nvSpPr>
        <p:spPr>
          <a:xfrm>
            <a:off x="0" y="5943600"/>
            <a:ext cx="2781935" cy="915035"/>
          </a:xfrm>
          <a:prstGeom prst="rtTriangle">
            <a:avLst/>
          </a:prstGeom>
          <a:solidFill>
            <a:schemeClr val="tx2">
              <a:lumMod val="20000"/>
              <a:lumOff val="80000"/>
            </a:schemeClr>
          </a:solidFill>
          <a:ln>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副标题 2"/>
          <p:cNvSpPr>
            <a:spLocks noGrp="1"/>
          </p:cNvSpPr>
          <p:nvPr>
            <p:ph type="subTitle" idx="1"/>
          </p:nvPr>
        </p:nvSpPr>
        <p:spPr>
          <a:xfrm>
            <a:off x="142875" y="347980"/>
            <a:ext cx="6782435" cy="1104265"/>
          </a:xfrm>
        </p:spPr>
        <p:txBody>
          <a:bodyPr>
            <a:noAutofit/>
          </a:bodyPr>
          <a:lstStyle/>
          <a:p>
            <a:r>
              <a:rPr lang="en-US" altLang="zh-CN" sz="4800" dirty="0">
                <a:latin typeface="Algerian" panose="04020705040A02060702" pitchFamily="82" charset="0"/>
                <a:ea typeface="华文琥珀" panose="02010800040101010101" charset="-122"/>
              </a:rPr>
              <a:t>8.1.</a:t>
            </a:r>
            <a:r>
              <a:rPr lang="zh-CN" altLang="en-US" sz="4800" dirty="0">
                <a:latin typeface="Algerian" panose="04020705040A02060702" pitchFamily="82" charset="0"/>
                <a:ea typeface="华文琥珀" panose="02010800040101010101" charset="-122"/>
              </a:rPr>
              <a:t>联轴器注意事项</a:t>
            </a:r>
            <a:endParaRPr lang="zh-CN" altLang="en-US" sz="4800" dirty="0">
              <a:latin typeface="Algerian" panose="04020705040A02060702" pitchFamily="82" charset="0"/>
              <a:ea typeface="华文琥珀" panose="02010800040101010101" charset="-122"/>
            </a:endParaRPr>
          </a:p>
        </p:txBody>
      </p:sp>
      <p:sp>
        <p:nvSpPr>
          <p:cNvPr id="6" name="文本框 5"/>
          <p:cNvSpPr txBox="1"/>
          <p:nvPr/>
        </p:nvSpPr>
        <p:spPr>
          <a:xfrm>
            <a:off x="4424045" y="548640"/>
            <a:ext cx="2719705" cy="5597525"/>
          </a:xfrm>
          <a:prstGeom prst="rect">
            <a:avLst/>
          </a:prstGeom>
          <a:noFill/>
        </p:spPr>
        <p:txBody>
          <a:bodyPr wrap="square" rtlCol="0">
            <a:noAutofit/>
          </a:bodyPr>
          <a:lstStyle/>
          <a:p>
            <a:endParaRPr lang="zh-CN" altLang="en-US">
              <a:solidFill>
                <a:schemeClr val="tx1"/>
              </a:solidFill>
            </a:endParaRPr>
          </a:p>
          <a:p>
            <a:endParaRPr lang="zh-CN" altLang="en-US">
              <a:solidFill>
                <a:schemeClr val="tx1"/>
              </a:solidFill>
            </a:endParaRPr>
          </a:p>
          <a:p>
            <a:endParaRPr lang="zh-CN" altLang="en-US">
              <a:solidFill>
                <a:schemeClr val="tx1"/>
              </a:solidFill>
            </a:endParaRPr>
          </a:p>
          <a:p>
            <a:endParaRPr lang="zh-CN" altLang="en-US">
              <a:solidFill>
                <a:schemeClr val="tx1"/>
              </a:solidFill>
            </a:endParaRPr>
          </a:p>
          <a:p>
            <a:r>
              <a:rPr lang="en-US" altLang="zh-CN">
                <a:solidFill>
                  <a:schemeClr val="tx1"/>
                </a:solidFill>
              </a:rPr>
              <a:t>1.</a:t>
            </a:r>
            <a:r>
              <a:rPr lang="zh-CN" altLang="en-US">
                <a:solidFill>
                  <a:schemeClr val="tx1"/>
                </a:solidFill>
              </a:rPr>
              <a:t>所需传递转矩的大小和性质</a:t>
            </a:r>
            <a:endParaRPr lang="zh-CN" altLang="en-US">
              <a:solidFill>
                <a:schemeClr val="tx1"/>
              </a:solidFill>
            </a:endParaRPr>
          </a:p>
          <a:p>
            <a:endParaRPr lang="zh-CN" altLang="en-US">
              <a:solidFill>
                <a:schemeClr val="tx1"/>
              </a:solidFill>
            </a:endParaRPr>
          </a:p>
          <a:p>
            <a:r>
              <a:rPr lang="en-US" altLang="zh-CN">
                <a:solidFill>
                  <a:schemeClr val="tx1"/>
                </a:solidFill>
              </a:rPr>
              <a:t>2.</a:t>
            </a:r>
            <a:r>
              <a:rPr lang="zh-CN" altLang="en-US">
                <a:solidFill>
                  <a:schemeClr val="tx1"/>
                </a:solidFill>
              </a:rPr>
              <a:t>由制造和装配误差、轴受载和热膨胀变形以及部件之间的相对运动等引起两轴轴线的相对位移程度</a:t>
            </a:r>
            <a:endParaRPr lang="zh-CN" altLang="en-US">
              <a:solidFill>
                <a:schemeClr val="tx1"/>
              </a:solidFill>
            </a:endParaRPr>
          </a:p>
          <a:p>
            <a:endParaRPr lang="zh-CN" altLang="en-US">
              <a:solidFill>
                <a:schemeClr val="tx1"/>
              </a:solidFill>
            </a:endParaRPr>
          </a:p>
          <a:p>
            <a:r>
              <a:rPr lang="en-US" altLang="zh-CN">
                <a:solidFill>
                  <a:schemeClr val="tx1"/>
                </a:solidFill>
              </a:rPr>
              <a:t>3.</a:t>
            </a:r>
            <a:r>
              <a:rPr lang="zh-CN" altLang="en-US">
                <a:solidFill>
                  <a:schemeClr val="tx1"/>
                </a:solidFill>
              </a:rPr>
              <a:t>为了便于装配、调整和维修所必需的操作空间</a:t>
            </a:r>
            <a:endParaRPr lang="zh-CN" altLang="en-US">
              <a:solidFill>
                <a:schemeClr val="tx1"/>
              </a:solidFill>
            </a:endParaRPr>
          </a:p>
          <a:p>
            <a:endParaRPr lang="zh-CN" altLang="en-US">
              <a:solidFill>
                <a:schemeClr val="tx1"/>
              </a:solidFill>
            </a:endParaRPr>
          </a:p>
          <a:p>
            <a:r>
              <a:rPr lang="zh-CN" altLang="en-US">
                <a:solidFill>
                  <a:schemeClr val="tx1"/>
                </a:solidFill>
              </a:rPr>
              <a:t>日常保养：</a:t>
            </a:r>
            <a:endParaRPr lang="zh-CN" altLang="en-US">
              <a:solidFill>
                <a:schemeClr val="tx1"/>
              </a:solidFill>
            </a:endParaRPr>
          </a:p>
          <a:p>
            <a:r>
              <a:rPr lang="zh-CN" altLang="en-US">
                <a:solidFill>
                  <a:schemeClr val="tx1"/>
                </a:solidFill>
              </a:rPr>
              <a:t>检查是否变形</a:t>
            </a:r>
            <a:r>
              <a:rPr lang="en-US" altLang="zh-CN">
                <a:solidFill>
                  <a:schemeClr val="tx1"/>
                </a:solidFill>
              </a:rPr>
              <a:t> </a:t>
            </a:r>
            <a:r>
              <a:rPr lang="zh-CN" altLang="en-US">
                <a:solidFill>
                  <a:schemeClr val="tx1"/>
                </a:solidFill>
              </a:rPr>
              <a:t>有裂纹</a:t>
            </a:r>
            <a:r>
              <a:rPr lang="en-US" altLang="zh-CN">
                <a:solidFill>
                  <a:schemeClr val="tx1"/>
                </a:solidFill>
              </a:rPr>
              <a:t> </a:t>
            </a:r>
            <a:r>
              <a:rPr lang="zh-CN" altLang="en-US">
                <a:solidFill>
                  <a:schemeClr val="tx1"/>
                </a:solidFill>
              </a:rPr>
              <a:t>检查顶丝是否紧固</a:t>
            </a:r>
            <a:endParaRPr lang="zh-CN" altLang="en-US">
              <a:solidFill>
                <a:schemeClr val="tx1"/>
              </a:solidFill>
            </a:endParaRPr>
          </a:p>
        </p:txBody>
      </p:sp>
      <p:pic>
        <p:nvPicPr>
          <p:cNvPr id="2" name="图片 1" descr="微信截图_20241024165653"/>
          <p:cNvPicPr>
            <a:picLocks noChangeAspect="1"/>
          </p:cNvPicPr>
          <p:nvPr/>
        </p:nvPicPr>
        <p:blipFill>
          <a:blip r:embed="rId3"/>
          <a:stretch>
            <a:fillRect/>
          </a:stretch>
        </p:blipFill>
        <p:spPr>
          <a:xfrm>
            <a:off x="142875" y="1243965"/>
            <a:ext cx="4267835" cy="2858770"/>
          </a:xfrm>
          <a:prstGeom prst="rect">
            <a:avLst/>
          </a:prstGeom>
        </p:spPr>
      </p:pic>
      <p:pic>
        <p:nvPicPr>
          <p:cNvPr id="8" name="图片 7" descr="微信截图_20241024165725"/>
          <p:cNvPicPr>
            <a:picLocks noChangeAspect="1"/>
          </p:cNvPicPr>
          <p:nvPr/>
        </p:nvPicPr>
        <p:blipFill>
          <a:blip r:embed="rId4"/>
          <a:stretch>
            <a:fillRect/>
          </a:stretch>
        </p:blipFill>
        <p:spPr>
          <a:xfrm>
            <a:off x="7345680" y="3734435"/>
            <a:ext cx="4846320" cy="3124200"/>
          </a:xfrm>
          <a:prstGeom prst="rect">
            <a:avLst/>
          </a:prstGeom>
        </p:spPr>
      </p:pic>
      <p:pic>
        <p:nvPicPr>
          <p:cNvPr id="10" name="图片 9" descr="微信截图_20241024165705"/>
          <p:cNvPicPr>
            <a:picLocks noChangeAspect="1"/>
          </p:cNvPicPr>
          <p:nvPr/>
        </p:nvPicPr>
        <p:blipFill>
          <a:blip r:embed="rId5"/>
          <a:stretch>
            <a:fillRect/>
          </a:stretch>
        </p:blipFill>
        <p:spPr>
          <a:xfrm>
            <a:off x="7230745" y="433070"/>
            <a:ext cx="4739640" cy="3177540"/>
          </a:xfrm>
          <a:prstGeom prst="rect">
            <a:avLst/>
          </a:prstGeom>
        </p:spPr>
      </p:pic>
      <p:pic>
        <p:nvPicPr>
          <p:cNvPr id="11" name="图片 10" descr="微信截图_20241024165948"/>
          <p:cNvPicPr>
            <a:picLocks noChangeAspect="1"/>
          </p:cNvPicPr>
          <p:nvPr/>
        </p:nvPicPr>
        <p:blipFill>
          <a:blip r:embed="rId6"/>
          <a:stretch>
            <a:fillRect/>
          </a:stretch>
        </p:blipFill>
        <p:spPr>
          <a:xfrm>
            <a:off x="142875" y="3911600"/>
            <a:ext cx="4204970" cy="2769235"/>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任意多边形 4"/>
          <p:cNvSpPr/>
          <p:nvPr/>
        </p:nvSpPr>
        <p:spPr>
          <a:xfrm>
            <a:off x="142875" y="99060"/>
            <a:ext cx="4759960" cy="1800860"/>
          </a:xfrm>
          <a:custGeom>
            <a:avLst/>
            <a:gdLst>
              <a:gd name="connsiteX0" fmla="*/ 0 w 6078"/>
              <a:gd name="connsiteY0" fmla="*/ 0 h 2816"/>
              <a:gd name="connsiteX1" fmla="*/ 6078 w 6078"/>
              <a:gd name="connsiteY1" fmla="*/ 0 h 2816"/>
              <a:gd name="connsiteX2" fmla="*/ 3195 w 6078"/>
              <a:gd name="connsiteY2" fmla="*/ 2794 h 2816"/>
              <a:gd name="connsiteX3" fmla="*/ 0 w 6078"/>
              <a:gd name="connsiteY3" fmla="*/ 2816 h 2816"/>
              <a:gd name="connsiteX4" fmla="*/ 0 w 6078"/>
              <a:gd name="connsiteY4" fmla="*/ 0 h 28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78" h="2816">
                <a:moveTo>
                  <a:pt x="0" y="0"/>
                </a:moveTo>
                <a:lnTo>
                  <a:pt x="6078" y="0"/>
                </a:lnTo>
                <a:lnTo>
                  <a:pt x="3195" y="2794"/>
                </a:lnTo>
                <a:lnTo>
                  <a:pt x="0" y="2816"/>
                </a:lnTo>
                <a:lnTo>
                  <a:pt x="0" y="0"/>
                </a:ln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直角三角形 14"/>
          <p:cNvSpPr/>
          <p:nvPr/>
        </p:nvSpPr>
        <p:spPr>
          <a:xfrm>
            <a:off x="0" y="5943600"/>
            <a:ext cx="2781935" cy="915035"/>
          </a:xfrm>
          <a:prstGeom prst="rtTriangle">
            <a:avLst/>
          </a:prstGeom>
          <a:solidFill>
            <a:schemeClr val="tx2">
              <a:lumMod val="20000"/>
              <a:lumOff val="80000"/>
            </a:schemeClr>
          </a:solidFill>
          <a:ln>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副标题 2"/>
          <p:cNvSpPr>
            <a:spLocks noGrp="1"/>
          </p:cNvSpPr>
          <p:nvPr>
            <p:ph type="subTitle" idx="1"/>
          </p:nvPr>
        </p:nvSpPr>
        <p:spPr>
          <a:xfrm>
            <a:off x="142875" y="347980"/>
            <a:ext cx="3775075" cy="1104265"/>
          </a:xfrm>
        </p:spPr>
        <p:txBody>
          <a:bodyPr>
            <a:noAutofit/>
          </a:bodyPr>
          <a:lstStyle/>
          <a:p>
            <a:r>
              <a:rPr lang="en-US" altLang="zh-CN" sz="4800" dirty="0">
                <a:latin typeface="Algerian" panose="04020705040A02060702" pitchFamily="82" charset="0"/>
                <a:ea typeface="华文琥珀" panose="02010800040101010101" charset="-122"/>
              </a:rPr>
              <a:t>9.</a:t>
            </a:r>
            <a:r>
              <a:rPr lang="zh-CN" altLang="en-US" sz="4800" dirty="0">
                <a:latin typeface="Algerian" panose="04020705040A02060702" pitchFamily="82" charset="0"/>
                <a:ea typeface="华文琥珀" panose="02010800040101010101" charset="-122"/>
              </a:rPr>
              <a:t>轴承</a:t>
            </a:r>
            <a:endParaRPr lang="zh-CN" altLang="en-US" sz="4800" dirty="0">
              <a:latin typeface="Algerian" panose="04020705040A02060702" pitchFamily="82" charset="0"/>
              <a:ea typeface="华文琥珀" panose="02010800040101010101" charset="-122"/>
            </a:endParaRPr>
          </a:p>
        </p:txBody>
      </p:sp>
      <p:sp>
        <p:nvSpPr>
          <p:cNvPr id="6" name="文本框 5"/>
          <p:cNvSpPr txBox="1"/>
          <p:nvPr/>
        </p:nvSpPr>
        <p:spPr>
          <a:xfrm>
            <a:off x="4424045" y="548640"/>
            <a:ext cx="2719705" cy="5597525"/>
          </a:xfrm>
          <a:prstGeom prst="rect">
            <a:avLst/>
          </a:prstGeom>
          <a:noFill/>
        </p:spPr>
        <p:txBody>
          <a:bodyPr wrap="square" rtlCol="0">
            <a:noAutofit/>
          </a:bodyPr>
          <a:lstStyle/>
          <a:p>
            <a:endParaRPr lang="zh-CN" altLang="en-US">
              <a:solidFill>
                <a:schemeClr val="tx1"/>
              </a:solidFill>
            </a:endParaRPr>
          </a:p>
          <a:p>
            <a:r>
              <a:rPr lang="zh-CN" altLang="en-US">
                <a:solidFill>
                  <a:schemeClr val="tx1"/>
                </a:solidFill>
              </a:rPr>
              <a:t>轴承的种类繁多，在这里只是简单的介绍几种，在轴系设计课程中会详细的介绍，这里只讲三种实验室最常用的轴承</a:t>
            </a:r>
            <a:endParaRPr lang="zh-CN" altLang="en-US">
              <a:solidFill>
                <a:schemeClr val="tx1"/>
              </a:solidFill>
            </a:endParaRPr>
          </a:p>
          <a:p>
            <a:endParaRPr lang="zh-CN" altLang="en-US">
              <a:solidFill>
                <a:schemeClr val="tx1"/>
              </a:solidFill>
            </a:endParaRPr>
          </a:p>
          <a:p>
            <a:r>
              <a:rPr lang="en-US" altLang="zh-CN">
                <a:solidFill>
                  <a:schemeClr val="tx1"/>
                </a:solidFill>
              </a:rPr>
              <a:t>1.</a:t>
            </a:r>
            <a:r>
              <a:rPr lang="zh-CN" altLang="en-US">
                <a:solidFill>
                  <a:schemeClr val="tx1"/>
                </a:solidFill>
              </a:rPr>
              <a:t>深沟球</a:t>
            </a:r>
            <a:r>
              <a:rPr lang="en-US" altLang="zh-CN">
                <a:solidFill>
                  <a:schemeClr val="tx1"/>
                </a:solidFill>
              </a:rPr>
              <a:t>/</a:t>
            </a:r>
            <a:r>
              <a:rPr lang="zh-CN" altLang="en-US">
                <a:solidFill>
                  <a:schemeClr val="tx1"/>
                </a:solidFill>
              </a:rPr>
              <a:t>滚子</a:t>
            </a:r>
            <a:r>
              <a:rPr lang="en-US" altLang="zh-CN">
                <a:solidFill>
                  <a:schemeClr val="tx1"/>
                </a:solidFill>
              </a:rPr>
              <a:t>/</a:t>
            </a:r>
            <a:r>
              <a:rPr lang="zh-CN" altLang="en-US">
                <a:solidFill>
                  <a:schemeClr val="tx1"/>
                </a:solidFill>
              </a:rPr>
              <a:t>滚针轴承</a:t>
            </a:r>
            <a:endParaRPr lang="zh-CN" altLang="en-US">
              <a:solidFill>
                <a:schemeClr val="tx1"/>
              </a:solidFill>
            </a:endParaRPr>
          </a:p>
          <a:p>
            <a:endParaRPr lang="zh-CN" altLang="en-US">
              <a:solidFill>
                <a:schemeClr val="tx1"/>
              </a:solidFill>
            </a:endParaRPr>
          </a:p>
          <a:p>
            <a:r>
              <a:rPr lang="en-US" altLang="zh-CN">
                <a:solidFill>
                  <a:schemeClr val="tx1"/>
                </a:solidFill>
              </a:rPr>
              <a:t>2.</a:t>
            </a:r>
            <a:r>
              <a:rPr lang="zh-CN" altLang="en-US">
                <a:solidFill>
                  <a:schemeClr val="tx1"/>
                </a:solidFill>
              </a:rPr>
              <a:t>推力球</a:t>
            </a:r>
            <a:r>
              <a:rPr lang="en-US" altLang="zh-CN">
                <a:solidFill>
                  <a:schemeClr val="tx1"/>
                </a:solidFill>
              </a:rPr>
              <a:t>/</a:t>
            </a:r>
            <a:r>
              <a:rPr lang="zh-CN" altLang="en-US">
                <a:solidFill>
                  <a:schemeClr val="tx1"/>
                </a:solidFill>
              </a:rPr>
              <a:t>滚子</a:t>
            </a:r>
            <a:r>
              <a:rPr lang="en-US" altLang="zh-CN">
                <a:solidFill>
                  <a:schemeClr val="tx1"/>
                </a:solidFill>
              </a:rPr>
              <a:t>/</a:t>
            </a:r>
            <a:r>
              <a:rPr lang="zh-CN" altLang="en-US">
                <a:solidFill>
                  <a:schemeClr val="tx1"/>
                </a:solidFill>
              </a:rPr>
              <a:t>滚针轴承</a:t>
            </a:r>
            <a:endParaRPr lang="zh-CN" altLang="en-US">
              <a:solidFill>
                <a:schemeClr val="tx1"/>
              </a:solidFill>
            </a:endParaRPr>
          </a:p>
          <a:p>
            <a:endParaRPr lang="zh-CN" altLang="en-US">
              <a:solidFill>
                <a:schemeClr val="tx1"/>
              </a:solidFill>
            </a:endParaRPr>
          </a:p>
          <a:p>
            <a:r>
              <a:rPr lang="en-US" altLang="zh-CN">
                <a:solidFill>
                  <a:schemeClr val="tx1"/>
                </a:solidFill>
              </a:rPr>
              <a:t>3.</a:t>
            </a:r>
            <a:r>
              <a:rPr lang="zh-CN" altLang="en-US">
                <a:solidFill>
                  <a:schemeClr val="tx1"/>
                </a:solidFill>
              </a:rPr>
              <a:t>角接触球轴承</a:t>
            </a:r>
            <a:endParaRPr lang="zh-CN" altLang="en-US">
              <a:solidFill>
                <a:schemeClr val="tx1"/>
              </a:solidFill>
            </a:endParaRPr>
          </a:p>
          <a:p>
            <a:endParaRPr lang="zh-CN" altLang="en-US">
              <a:solidFill>
                <a:schemeClr val="tx1"/>
              </a:solidFill>
            </a:endParaRPr>
          </a:p>
          <a:p>
            <a:r>
              <a:rPr lang="en-US" altLang="zh-CN">
                <a:solidFill>
                  <a:schemeClr val="tx1"/>
                </a:solidFill>
              </a:rPr>
              <a:t>4.</a:t>
            </a:r>
            <a:r>
              <a:rPr lang="zh-CN" altLang="en-US">
                <a:solidFill>
                  <a:schemeClr val="tx1"/>
                </a:solidFill>
              </a:rPr>
              <a:t>法兰轴承</a:t>
            </a:r>
            <a:endParaRPr lang="zh-CN" altLang="en-US">
              <a:solidFill>
                <a:schemeClr val="tx1"/>
              </a:solidFill>
            </a:endParaRPr>
          </a:p>
          <a:p>
            <a:endParaRPr lang="zh-CN" altLang="en-US">
              <a:solidFill>
                <a:schemeClr val="tx1"/>
              </a:solidFill>
            </a:endParaRPr>
          </a:p>
          <a:p>
            <a:endParaRPr lang="zh-CN" altLang="en-US">
              <a:solidFill>
                <a:schemeClr val="tx1"/>
              </a:solidFill>
            </a:endParaRPr>
          </a:p>
        </p:txBody>
      </p:sp>
      <p:pic>
        <p:nvPicPr>
          <p:cNvPr id="4" name="图片 3" descr="微信截图_20241024195941"/>
          <p:cNvPicPr>
            <a:picLocks noChangeAspect="1"/>
          </p:cNvPicPr>
          <p:nvPr/>
        </p:nvPicPr>
        <p:blipFill>
          <a:blip r:embed="rId1"/>
          <a:stretch>
            <a:fillRect/>
          </a:stretch>
        </p:blipFill>
        <p:spPr>
          <a:xfrm>
            <a:off x="0" y="3887470"/>
            <a:ext cx="2476500" cy="3086100"/>
          </a:xfrm>
          <a:prstGeom prst="rect">
            <a:avLst/>
          </a:prstGeom>
        </p:spPr>
      </p:pic>
      <p:pic>
        <p:nvPicPr>
          <p:cNvPr id="7" name="图片 6" descr="微信截图_20241024200010"/>
          <p:cNvPicPr>
            <a:picLocks noChangeAspect="1"/>
          </p:cNvPicPr>
          <p:nvPr/>
        </p:nvPicPr>
        <p:blipFill>
          <a:blip r:embed="rId2"/>
          <a:stretch>
            <a:fillRect/>
          </a:stretch>
        </p:blipFill>
        <p:spPr>
          <a:xfrm>
            <a:off x="142875" y="1111250"/>
            <a:ext cx="4313555" cy="2776220"/>
          </a:xfrm>
          <a:prstGeom prst="rect">
            <a:avLst/>
          </a:prstGeom>
        </p:spPr>
      </p:pic>
      <p:pic>
        <p:nvPicPr>
          <p:cNvPr id="9" name="图片 8" descr="微信截图_20241024200042"/>
          <p:cNvPicPr>
            <a:picLocks noChangeAspect="1"/>
          </p:cNvPicPr>
          <p:nvPr/>
        </p:nvPicPr>
        <p:blipFill>
          <a:blip r:embed="rId3"/>
          <a:stretch>
            <a:fillRect/>
          </a:stretch>
        </p:blipFill>
        <p:spPr>
          <a:xfrm>
            <a:off x="7440930" y="228600"/>
            <a:ext cx="2293620" cy="3200400"/>
          </a:xfrm>
          <a:prstGeom prst="rect">
            <a:avLst/>
          </a:prstGeom>
        </p:spPr>
      </p:pic>
      <p:pic>
        <p:nvPicPr>
          <p:cNvPr id="12" name="图片 11" descr="微信截图_20241024201517"/>
          <p:cNvPicPr>
            <a:picLocks noChangeAspect="1"/>
          </p:cNvPicPr>
          <p:nvPr/>
        </p:nvPicPr>
        <p:blipFill>
          <a:blip r:embed="rId4"/>
          <a:stretch>
            <a:fillRect/>
          </a:stretch>
        </p:blipFill>
        <p:spPr>
          <a:xfrm>
            <a:off x="7230110" y="3623945"/>
            <a:ext cx="3065145" cy="3051175"/>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任意多边形 4"/>
          <p:cNvSpPr/>
          <p:nvPr/>
        </p:nvSpPr>
        <p:spPr>
          <a:xfrm>
            <a:off x="142875" y="99060"/>
            <a:ext cx="4759960" cy="1800860"/>
          </a:xfrm>
          <a:custGeom>
            <a:avLst/>
            <a:gdLst>
              <a:gd name="connsiteX0" fmla="*/ 0 w 6078"/>
              <a:gd name="connsiteY0" fmla="*/ 0 h 2816"/>
              <a:gd name="connsiteX1" fmla="*/ 6078 w 6078"/>
              <a:gd name="connsiteY1" fmla="*/ 0 h 2816"/>
              <a:gd name="connsiteX2" fmla="*/ 3195 w 6078"/>
              <a:gd name="connsiteY2" fmla="*/ 2794 h 2816"/>
              <a:gd name="connsiteX3" fmla="*/ 0 w 6078"/>
              <a:gd name="connsiteY3" fmla="*/ 2816 h 2816"/>
              <a:gd name="connsiteX4" fmla="*/ 0 w 6078"/>
              <a:gd name="connsiteY4" fmla="*/ 0 h 28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78" h="2816">
                <a:moveTo>
                  <a:pt x="0" y="0"/>
                </a:moveTo>
                <a:lnTo>
                  <a:pt x="6078" y="0"/>
                </a:lnTo>
                <a:lnTo>
                  <a:pt x="3195" y="2794"/>
                </a:lnTo>
                <a:lnTo>
                  <a:pt x="0" y="2816"/>
                </a:lnTo>
                <a:lnTo>
                  <a:pt x="0" y="0"/>
                </a:ln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直角三角形 14"/>
          <p:cNvSpPr/>
          <p:nvPr/>
        </p:nvSpPr>
        <p:spPr>
          <a:xfrm>
            <a:off x="0" y="5943600"/>
            <a:ext cx="2781935" cy="915035"/>
          </a:xfrm>
          <a:prstGeom prst="rtTriangle">
            <a:avLst/>
          </a:prstGeom>
          <a:solidFill>
            <a:schemeClr val="tx2">
              <a:lumMod val="20000"/>
              <a:lumOff val="80000"/>
            </a:schemeClr>
          </a:solidFill>
          <a:ln>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副标题 2"/>
          <p:cNvSpPr>
            <a:spLocks noGrp="1"/>
          </p:cNvSpPr>
          <p:nvPr>
            <p:ph type="subTitle" idx="1"/>
          </p:nvPr>
        </p:nvSpPr>
        <p:spPr>
          <a:xfrm>
            <a:off x="142875" y="347980"/>
            <a:ext cx="3775075" cy="1104265"/>
          </a:xfrm>
        </p:spPr>
        <p:txBody>
          <a:bodyPr>
            <a:noAutofit/>
          </a:bodyPr>
          <a:lstStyle/>
          <a:p>
            <a:r>
              <a:rPr lang="en-US" altLang="zh-CN" sz="4800" dirty="0">
                <a:latin typeface="Algerian" panose="04020705040A02060702" pitchFamily="82" charset="0"/>
                <a:ea typeface="华文琥珀" panose="02010800040101010101" charset="-122"/>
              </a:rPr>
              <a:t>9.1</a:t>
            </a:r>
            <a:r>
              <a:rPr lang="zh-CN" altLang="en-US" sz="4800" dirty="0">
                <a:latin typeface="Algerian" panose="04020705040A02060702" pitchFamily="82" charset="0"/>
                <a:ea typeface="华文琥珀" panose="02010800040101010101" charset="-122"/>
              </a:rPr>
              <a:t>轴承</a:t>
            </a:r>
            <a:endParaRPr lang="zh-CN" altLang="en-US" sz="4800" dirty="0">
              <a:latin typeface="Algerian" panose="04020705040A02060702" pitchFamily="82" charset="0"/>
              <a:ea typeface="华文琥珀" panose="02010800040101010101" charset="-122"/>
            </a:endParaRPr>
          </a:p>
        </p:txBody>
      </p:sp>
      <p:sp>
        <p:nvSpPr>
          <p:cNvPr id="6" name="文本框 5"/>
          <p:cNvSpPr txBox="1"/>
          <p:nvPr/>
        </p:nvSpPr>
        <p:spPr>
          <a:xfrm>
            <a:off x="0" y="630555"/>
            <a:ext cx="6376670" cy="6090285"/>
          </a:xfrm>
          <a:prstGeom prst="rect">
            <a:avLst/>
          </a:prstGeom>
          <a:noFill/>
        </p:spPr>
        <p:txBody>
          <a:bodyPr wrap="square" rtlCol="0">
            <a:noAutofit/>
          </a:bodyPr>
          <a:lstStyle/>
          <a:p>
            <a:endParaRPr lang="zh-CN" altLang="en-US" sz="2400">
              <a:solidFill>
                <a:schemeClr val="tx1"/>
              </a:solidFill>
            </a:endParaRPr>
          </a:p>
          <a:p>
            <a:r>
              <a:rPr lang="zh-CN" altLang="en-US">
                <a:solidFill>
                  <a:schemeClr val="tx1"/>
                </a:solidFill>
              </a:rPr>
              <a:t>所有的轴承都是由四部分组成：内圈</a:t>
            </a:r>
            <a:r>
              <a:rPr lang="en-US" altLang="zh-CN">
                <a:solidFill>
                  <a:schemeClr val="tx1"/>
                </a:solidFill>
              </a:rPr>
              <a:t> </a:t>
            </a:r>
            <a:r>
              <a:rPr lang="zh-CN" altLang="en-US">
                <a:solidFill>
                  <a:schemeClr val="tx1"/>
                </a:solidFill>
              </a:rPr>
              <a:t>外圈</a:t>
            </a:r>
            <a:r>
              <a:rPr lang="en-US" altLang="zh-CN">
                <a:solidFill>
                  <a:schemeClr val="tx1"/>
                </a:solidFill>
              </a:rPr>
              <a:t> </a:t>
            </a:r>
            <a:endParaRPr lang="en-US" altLang="zh-CN">
              <a:solidFill>
                <a:schemeClr val="tx1"/>
              </a:solidFill>
            </a:endParaRPr>
          </a:p>
          <a:p>
            <a:r>
              <a:rPr lang="zh-CN" altLang="en-US">
                <a:solidFill>
                  <a:schemeClr val="tx1"/>
                </a:solidFill>
              </a:rPr>
              <a:t>滚动体</a:t>
            </a:r>
            <a:r>
              <a:rPr lang="en-US" altLang="zh-CN">
                <a:solidFill>
                  <a:schemeClr val="tx1"/>
                </a:solidFill>
              </a:rPr>
              <a:t> </a:t>
            </a:r>
            <a:r>
              <a:rPr lang="zh-CN" altLang="en-US">
                <a:solidFill>
                  <a:schemeClr val="tx1"/>
                </a:solidFill>
              </a:rPr>
              <a:t>保持架</a:t>
            </a:r>
            <a:endParaRPr lang="zh-CN" altLang="en-US">
              <a:solidFill>
                <a:schemeClr val="tx1"/>
              </a:solidFill>
            </a:endParaRPr>
          </a:p>
          <a:p>
            <a:endParaRPr lang="zh-CN" altLang="en-US">
              <a:solidFill>
                <a:schemeClr val="tx1"/>
              </a:solidFill>
            </a:endParaRPr>
          </a:p>
          <a:p>
            <a:r>
              <a:rPr lang="zh-CN" altLang="en-US">
                <a:solidFill>
                  <a:schemeClr val="tx1"/>
                </a:solidFill>
              </a:rPr>
              <a:t>其中文章最多的是：滚动体，可以分为三类</a:t>
            </a:r>
            <a:endParaRPr lang="zh-CN" altLang="en-US">
              <a:solidFill>
                <a:schemeClr val="tx1"/>
              </a:solidFill>
            </a:endParaRPr>
          </a:p>
          <a:p>
            <a:r>
              <a:rPr lang="zh-CN" altLang="en-US">
                <a:solidFill>
                  <a:schemeClr val="tx1"/>
                </a:solidFill>
              </a:rPr>
              <a:t>滚珠</a:t>
            </a:r>
            <a:r>
              <a:rPr lang="en-US" altLang="zh-CN">
                <a:solidFill>
                  <a:schemeClr val="tx1"/>
                </a:solidFill>
              </a:rPr>
              <a:t>/</a:t>
            </a:r>
            <a:r>
              <a:rPr lang="zh-CN" altLang="en-US">
                <a:solidFill>
                  <a:schemeClr val="tx1"/>
                </a:solidFill>
              </a:rPr>
              <a:t>滚子</a:t>
            </a:r>
            <a:r>
              <a:rPr lang="en-US" altLang="zh-CN">
                <a:solidFill>
                  <a:schemeClr val="tx1"/>
                </a:solidFill>
              </a:rPr>
              <a:t>/</a:t>
            </a:r>
            <a:r>
              <a:rPr lang="zh-CN" altLang="en-US">
                <a:solidFill>
                  <a:schemeClr val="tx1"/>
                </a:solidFill>
              </a:rPr>
              <a:t>滚针</a:t>
            </a:r>
            <a:endParaRPr lang="zh-CN" altLang="en-US">
              <a:solidFill>
                <a:schemeClr val="tx1"/>
              </a:solidFill>
            </a:endParaRPr>
          </a:p>
          <a:p>
            <a:endParaRPr lang="zh-CN" altLang="en-US">
              <a:solidFill>
                <a:schemeClr val="tx1"/>
              </a:solidFill>
            </a:endParaRPr>
          </a:p>
          <a:p>
            <a:r>
              <a:rPr lang="zh-CN" altLang="en-US">
                <a:solidFill>
                  <a:schemeClr val="tx1"/>
                </a:solidFill>
              </a:rPr>
              <a:t>滚珠：球</a:t>
            </a:r>
            <a:endParaRPr lang="zh-CN" altLang="en-US">
              <a:solidFill>
                <a:schemeClr val="tx1"/>
              </a:solidFill>
            </a:endParaRPr>
          </a:p>
          <a:p>
            <a:r>
              <a:rPr lang="zh-CN" altLang="en-US">
                <a:solidFill>
                  <a:schemeClr val="tx1"/>
                </a:solidFill>
              </a:rPr>
              <a:t>滚子：圆柱体</a:t>
            </a:r>
            <a:endParaRPr lang="zh-CN" altLang="en-US">
              <a:solidFill>
                <a:schemeClr val="tx1"/>
              </a:solidFill>
            </a:endParaRPr>
          </a:p>
          <a:p>
            <a:r>
              <a:rPr lang="zh-CN" altLang="en-US">
                <a:solidFill>
                  <a:schemeClr val="tx1"/>
                </a:solidFill>
              </a:rPr>
              <a:t>滚针：特别细长的圆柱体</a:t>
            </a:r>
            <a:endParaRPr lang="zh-CN" altLang="en-US">
              <a:solidFill>
                <a:schemeClr val="tx1"/>
              </a:solidFill>
            </a:endParaRPr>
          </a:p>
          <a:p>
            <a:r>
              <a:rPr lang="zh-CN" altLang="en-US">
                <a:solidFill>
                  <a:schemeClr val="tx1"/>
                </a:solidFill>
              </a:rPr>
              <a:t>当滚子直径D≤5mm，L/D≥2.5时，就叫滚针，</a:t>
            </a:r>
            <a:endParaRPr lang="zh-CN" altLang="en-US">
              <a:solidFill>
                <a:schemeClr val="tx1"/>
              </a:solidFill>
            </a:endParaRPr>
          </a:p>
          <a:p>
            <a:r>
              <a:rPr lang="zh-CN" altLang="en-US">
                <a:solidFill>
                  <a:schemeClr val="tx1"/>
                </a:solidFill>
              </a:rPr>
              <a:t>L为滚子长度</a:t>
            </a:r>
            <a:endParaRPr lang="zh-CN" altLang="en-US">
              <a:solidFill>
                <a:schemeClr val="tx1"/>
              </a:solidFill>
            </a:endParaRPr>
          </a:p>
          <a:p>
            <a:endParaRPr lang="zh-CN" altLang="en-US">
              <a:solidFill>
                <a:schemeClr val="tx1"/>
              </a:solidFill>
            </a:endParaRPr>
          </a:p>
          <a:p>
            <a:r>
              <a:rPr lang="zh-CN" altLang="en-US">
                <a:solidFill>
                  <a:schemeClr val="tx1"/>
                </a:solidFill>
              </a:rPr>
              <a:t>角接触轴承在内外圈，改变了与滚动体的角度</a:t>
            </a:r>
            <a:r>
              <a:rPr lang="en-US" altLang="zh-CN">
                <a:solidFill>
                  <a:schemeClr val="tx1"/>
                </a:solidFill>
              </a:rPr>
              <a:t> </a:t>
            </a:r>
            <a:r>
              <a:rPr lang="zh-CN" altLang="en-US">
                <a:solidFill>
                  <a:schemeClr val="tx1"/>
                </a:solidFill>
              </a:rPr>
              <a:t>一般是</a:t>
            </a:r>
            <a:r>
              <a:rPr lang="en-US" altLang="zh-CN">
                <a:solidFill>
                  <a:schemeClr val="tx1"/>
                </a:solidFill>
              </a:rPr>
              <a:t>15</a:t>
            </a:r>
            <a:r>
              <a:rPr lang="zh-CN" altLang="en-US">
                <a:solidFill>
                  <a:schemeClr val="tx1"/>
                </a:solidFill>
              </a:rPr>
              <a:t>°</a:t>
            </a:r>
            <a:r>
              <a:rPr lang="en-US" altLang="zh-CN">
                <a:solidFill>
                  <a:schemeClr val="tx1"/>
                </a:solidFill>
              </a:rPr>
              <a:t> 30</a:t>
            </a:r>
            <a:r>
              <a:rPr lang="zh-CN" altLang="en-US">
                <a:solidFill>
                  <a:schemeClr val="tx1"/>
                </a:solidFill>
              </a:rPr>
              <a:t>°</a:t>
            </a:r>
            <a:r>
              <a:rPr lang="en-US" altLang="zh-CN">
                <a:solidFill>
                  <a:schemeClr val="tx1"/>
                </a:solidFill>
              </a:rPr>
              <a:t> 45</a:t>
            </a:r>
            <a:r>
              <a:rPr lang="zh-CN" altLang="en-US">
                <a:solidFill>
                  <a:schemeClr val="tx1"/>
                </a:solidFill>
              </a:rPr>
              <a:t>°</a:t>
            </a:r>
            <a:endParaRPr lang="zh-CN" altLang="en-US">
              <a:solidFill>
                <a:schemeClr val="tx1"/>
              </a:solidFill>
            </a:endParaRPr>
          </a:p>
          <a:p>
            <a:endParaRPr lang="zh-CN" altLang="en-US">
              <a:solidFill>
                <a:schemeClr val="tx1"/>
              </a:solidFill>
            </a:endParaRPr>
          </a:p>
          <a:p>
            <a:r>
              <a:rPr lang="zh-CN" altLang="en-US">
                <a:solidFill>
                  <a:schemeClr val="tx1"/>
                </a:solidFill>
              </a:rPr>
              <a:t>另外：轴承型号后面可能带有</a:t>
            </a:r>
            <a:r>
              <a:rPr lang="en-US" altLang="zh-CN">
                <a:solidFill>
                  <a:schemeClr val="tx1"/>
                </a:solidFill>
              </a:rPr>
              <a:t>Z/F/ZZ/RS</a:t>
            </a:r>
            <a:r>
              <a:rPr lang="zh-CN" altLang="en-US">
                <a:solidFill>
                  <a:schemeClr val="tx1"/>
                </a:solidFill>
              </a:rPr>
              <a:t>等代号</a:t>
            </a:r>
            <a:endParaRPr lang="zh-CN" altLang="en-US">
              <a:solidFill>
                <a:schemeClr val="tx1"/>
              </a:solidFill>
            </a:endParaRPr>
          </a:p>
          <a:p>
            <a:r>
              <a:rPr lang="en-US" altLang="zh-CN">
                <a:solidFill>
                  <a:schemeClr val="tx1"/>
                </a:solidFill>
              </a:rPr>
              <a:t>Z</a:t>
            </a:r>
            <a:r>
              <a:rPr lang="zh-CN" altLang="en-US">
                <a:solidFill>
                  <a:schemeClr val="tx1"/>
                </a:solidFill>
              </a:rPr>
              <a:t>：代表单面防尘盖</a:t>
            </a:r>
            <a:endParaRPr lang="zh-CN" altLang="en-US">
              <a:solidFill>
                <a:schemeClr val="tx1"/>
              </a:solidFill>
            </a:endParaRPr>
          </a:p>
          <a:p>
            <a:r>
              <a:rPr lang="en-US" altLang="zh-CN">
                <a:solidFill>
                  <a:schemeClr val="tx1"/>
                </a:solidFill>
              </a:rPr>
              <a:t>ZZ</a:t>
            </a:r>
            <a:r>
              <a:rPr lang="zh-CN" altLang="en-US">
                <a:solidFill>
                  <a:schemeClr val="tx1"/>
                </a:solidFill>
              </a:rPr>
              <a:t>：代表双面防尘盖</a:t>
            </a:r>
            <a:r>
              <a:rPr lang="en-US" altLang="zh-CN">
                <a:solidFill>
                  <a:schemeClr val="tx1"/>
                </a:solidFill>
              </a:rPr>
              <a:t>  </a:t>
            </a:r>
            <a:r>
              <a:rPr lang="en-US" altLang="zh-CN">
                <a:sym typeface="+mn-ea"/>
              </a:rPr>
              <a:t>RS</a:t>
            </a:r>
            <a:r>
              <a:rPr lang="zh-CN" altLang="en-US">
                <a:sym typeface="+mn-ea"/>
              </a:rPr>
              <a:t>：双面密封圈</a:t>
            </a:r>
            <a:br>
              <a:rPr lang="zh-CN" altLang="en-US">
                <a:solidFill>
                  <a:schemeClr val="tx1"/>
                </a:solidFill>
              </a:rPr>
            </a:br>
            <a:r>
              <a:rPr lang="en-US" altLang="zh-CN">
                <a:solidFill>
                  <a:schemeClr val="tx1"/>
                </a:solidFill>
              </a:rPr>
              <a:t>F</a:t>
            </a:r>
            <a:r>
              <a:rPr lang="zh-CN" altLang="en-US">
                <a:solidFill>
                  <a:schemeClr val="tx1"/>
                </a:solidFill>
              </a:rPr>
              <a:t>：法兰轴承</a:t>
            </a:r>
            <a:endParaRPr lang="zh-CN" altLang="en-US">
              <a:solidFill>
                <a:schemeClr val="tx1"/>
              </a:solidFill>
            </a:endParaRPr>
          </a:p>
          <a:p>
            <a:endParaRPr lang="zh-CN" altLang="en-US">
              <a:solidFill>
                <a:schemeClr val="tx1"/>
              </a:solidFill>
            </a:endParaRPr>
          </a:p>
        </p:txBody>
      </p:sp>
      <p:pic>
        <p:nvPicPr>
          <p:cNvPr id="2" name="图片 1" descr="R-C"/>
          <p:cNvPicPr>
            <a:picLocks noChangeAspect="1"/>
          </p:cNvPicPr>
          <p:nvPr/>
        </p:nvPicPr>
        <p:blipFill>
          <a:blip r:embed="rId1"/>
          <a:stretch>
            <a:fillRect/>
          </a:stretch>
        </p:blipFill>
        <p:spPr>
          <a:xfrm>
            <a:off x="6284595" y="1786890"/>
            <a:ext cx="5260975" cy="2541905"/>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任意多边形 4"/>
          <p:cNvSpPr/>
          <p:nvPr/>
        </p:nvSpPr>
        <p:spPr>
          <a:xfrm>
            <a:off x="142875" y="99060"/>
            <a:ext cx="4759960" cy="1800860"/>
          </a:xfrm>
          <a:custGeom>
            <a:avLst/>
            <a:gdLst>
              <a:gd name="connsiteX0" fmla="*/ 0 w 6078"/>
              <a:gd name="connsiteY0" fmla="*/ 0 h 2816"/>
              <a:gd name="connsiteX1" fmla="*/ 6078 w 6078"/>
              <a:gd name="connsiteY1" fmla="*/ 0 h 2816"/>
              <a:gd name="connsiteX2" fmla="*/ 3195 w 6078"/>
              <a:gd name="connsiteY2" fmla="*/ 2794 h 2816"/>
              <a:gd name="connsiteX3" fmla="*/ 0 w 6078"/>
              <a:gd name="connsiteY3" fmla="*/ 2816 h 2816"/>
              <a:gd name="connsiteX4" fmla="*/ 0 w 6078"/>
              <a:gd name="connsiteY4" fmla="*/ 0 h 28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78" h="2816">
                <a:moveTo>
                  <a:pt x="0" y="0"/>
                </a:moveTo>
                <a:lnTo>
                  <a:pt x="6078" y="0"/>
                </a:lnTo>
                <a:lnTo>
                  <a:pt x="3195" y="2794"/>
                </a:lnTo>
                <a:lnTo>
                  <a:pt x="0" y="2816"/>
                </a:lnTo>
                <a:lnTo>
                  <a:pt x="0" y="0"/>
                </a:ln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直角三角形 14"/>
          <p:cNvSpPr/>
          <p:nvPr/>
        </p:nvSpPr>
        <p:spPr>
          <a:xfrm>
            <a:off x="0" y="5943600"/>
            <a:ext cx="2781935" cy="915035"/>
          </a:xfrm>
          <a:prstGeom prst="rtTriangle">
            <a:avLst/>
          </a:prstGeom>
          <a:solidFill>
            <a:schemeClr val="tx2">
              <a:lumMod val="20000"/>
              <a:lumOff val="80000"/>
            </a:schemeClr>
          </a:solidFill>
          <a:ln>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副标题 2"/>
          <p:cNvSpPr>
            <a:spLocks noGrp="1"/>
          </p:cNvSpPr>
          <p:nvPr>
            <p:ph type="subTitle" idx="1"/>
          </p:nvPr>
        </p:nvSpPr>
        <p:spPr>
          <a:xfrm>
            <a:off x="142875" y="347980"/>
            <a:ext cx="4281805" cy="1104265"/>
          </a:xfrm>
        </p:spPr>
        <p:txBody>
          <a:bodyPr>
            <a:noAutofit/>
          </a:bodyPr>
          <a:lstStyle/>
          <a:p>
            <a:r>
              <a:rPr lang="en-US" altLang="zh-CN" sz="4800" dirty="0">
                <a:latin typeface="Algerian" panose="04020705040A02060702" pitchFamily="82" charset="0"/>
                <a:ea typeface="华文琥珀" panose="02010800040101010101" charset="-122"/>
              </a:rPr>
              <a:t>9.2</a:t>
            </a:r>
            <a:r>
              <a:rPr lang="zh-CN" altLang="en-US" sz="4800" dirty="0">
                <a:latin typeface="Algerian" panose="04020705040A02060702" pitchFamily="82" charset="0"/>
                <a:ea typeface="华文琥珀" panose="02010800040101010101" charset="-122"/>
              </a:rPr>
              <a:t>各轴承特点</a:t>
            </a:r>
            <a:endParaRPr lang="zh-CN" altLang="en-US" sz="4800" dirty="0">
              <a:latin typeface="Algerian" panose="04020705040A02060702" pitchFamily="82" charset="0"/>
              <a:ea typeface="华文琥珀" panose="02010800040101010101" charset="-122"/>
            </a:endParaRPr>
          </a:p>
        </p:txBody>
      </p:sp>
      <p:sp>
        <p:nvSpPr>
          <p:cNvPr id="6" name="文本框 5"/>
          <p:cNvSpPr txBox="1"/>
          <p:nvPr/>
        </p:nvSpPr>
        <p:spPr>
          <a:xfrm>
            <a:off x="4424045" y="548640"/>
            <a:ext cx="2719705" cy="5597525"/>
          </a:xfrm>
          <a:prstGeom prst="rect">
            <a:avLst/>
          </a:prstGeom>
          <a:noFill/>
        </p:spPr>
        <p:txBody>
          <a:bodyPr wrap="square" rtlCol="0">
            <a:noAutofit/>
          </a:bodyPr>
          <a:lstStyle/>
          <a:p>
            <a:r>
              <a:rPr lang="zh-CN" altLang="en-US">
                <a:solidFill>
                  <a:schemeClr val="tx1"/>
                </a:solidFill>
              </a:rPr>
              <a:t>深沟球轴承：</a:t>
            </a:r>
            <a:endParaRPr lang="zh-CN" altLang="en-US">
              <a:solidFill>
                <a:schemeClr val="tx1"/>
              </a:solidFill>
            </a:endParaRPr>
          </a:p>
          <a:p>
            <a:endParaRPr lang="zh-CN" altLang="en-US">
              <a:solidFill>
                <a:schemeClr val="tx1"/>
              </a:solidFill>
            </a:endParaRPr>
          </a:p>
          <a:p>
            <a:r>
              <a:rPr lang="zh-CN" altLang="en-US">
                <a:solidFill>
                  <a:schemeClr val="tx1"/>
                </a:solidFill>
              </a:rPr>
              <a:t>实验室最常见用的也最多的轴承</a:t>
            </a:r>
            <a:endParaRPr lang="zh-CN" altLang="en-US">
              <a:solidFill>
                <a:schemeClr val="tx1"/>
              </a:solidFill>
            </a:endParaRPr>
          </a:p>
          <a:p>
            <a:endParaRPr lang="zh-CN" altLang="en-US">
              <a:solidFill>
                <a:schemeClr val="tx1"/>
              </a:solidFill>
            </a:endParaRPr>
          </a:p>
          <a:p>
            <a:r>
              <a:rPr lang="zh-CN" altLang="en-US">
                <a:solidFill>
                  <a:schemeClr val="tx1"/>
                </a:solidFill>
              </a:rPr>
              <a:t>主要承受径向载荷</a:t>
            </a:r>
            <a:r>
              <a:rPr lang="en-US" altLang="zh-CN">
                <a:solidFill>
                  <a:schemeClr val="tx1"/>
                </a:solidFill>
              </a:rPr>
              <a:t> </a:t>
            </a:r>
            <a:r>
              <a:rPr lang="zh-CN" altLang="en-US">
                <a:solidFill>
                  <a:schemeClr val="tx1"/>
                </a:solidFill>
              </a:rPr>
              <a:t>能承受一定的轴向载荷</a:t>
            </a:r>
            <a:r>
              <a:rPr lang="en-US" altLang="zh-CN">
                <a:solidFill>
                  <a:schemeClr val="tx1"/>
                </a:solidFill>
              </a:rPr>
              <a:t> </a:t>
            </a:r>
            <a:r>
              <a:rPr lang="zh-CN" altLang="en-US">
                <a:solidFill>
                  <a:schemeClr val="tx1"/>
                </a:solidFill>
              </a:rPr>
              <a:t>但设计上一般不用来承受轴向载荷</a:t>
            </a:r>
            <a:endParaRPr lang="zh-CN" altLang="en-US">
              <a:solidFill>
                <a:schemeClr val="tx1"/>
              </a:solidFill>
            </a:endParaRPr>
          </a:p>
          <a:p>
            <a:endParaRPr lang="zh-CN" altLang="en-US">
              <a:solidFill>
                <a:schemeClr val="tx1"/>
              </a:solidFill>
            </a:endParaRPr>
          </a:p>
          <a:p>
            <a:r>
              <a:rPr lang="zh-CN" altLang="en-US">
                <a:solidFill>
                  <a:schemeClr val="tx1"/>
                </a:solidFill>
              </a:rPr>
              <a:t>轴向：顺着轴的方向</a:t>
            </a:r>
            <a:endParaRPr lang="zh-CN" altLang="en-US">
              <a:solidFill>
                <a:schemeClr val="tx1"/>
              </a:solidFill>
            </a:endParaRPr>
          </a:p>
          <a:p>
            <a:r>
              <a:rPr lang="zh-CN" altLang="en-US">
                <a:solidFill>
                  <a:schemeClr val="tx1"/>
                </a:solidFill>
              </a:rPr>
              <a:t>径向：垂直于轴的方向</a:t>
            </a:r>
            <a:endParaRPr lang="zh-CN" altLang="en-US">
              <a:solidFill>
                <a:schemeClr val="tx1"/>
              </a:solidFill>
            </a:endParaRPr>
          </a:p>
          <a:p>
            <a:endParaRPr lang="zh-CN" altLang="en-US">
              <a:solidFill>
                <a:schemeClr val="tx1"/>
              </a:solidFill>
            </a:endParaRPr>
          </a:p>
          <a:p>
            <a:r>
              <a:rPr lang="zh-CN" altLang="en-US">
                <a:solidFill>
                  <a:schemeClr val="tx1"/>
                </a:solidFill>
              </a:rPr>
              <a:t>选型时一般看内外径和厚度</a:t>
            </a:r>
            <a:endParaRPr lang="zh-CN" altLang="en-US">
              <a:solidFill>
                <a:schemeClr val="tx1"/>
              </a:solidFill>
            </a:endParaRPr>
          </a:p>
          <a:p>
            <a:endParaRPr lang="zh-CN" altLang="en-US">
              <a:solidFill>
                <a:schemeClr val="tx1"/>
              </a:solidFill>
            </a:endParaRPr>
          </a:p>
          <a:p>
            <a:r>
              <a:rPr lang="zh-CN" altLang="en-US">
                <a:solidFill>
                  <a:schemeClr val="tx1"/>
                </a:solidFill>
              </a:rPr>
              <a:t>合适就好</a:t>
            </a:r>
            <a:r>
              <a:rPr lang="en-US" altLang="zh-CN">
                <a:solidFill>
                  <a:schemeClr val="tx1"/>
                </a:solidFill>
              </a:rPr>
              <a:t> </a:t>
            </a:r>
            <a:r>
              <a:rPr lang="zh-CN" altLang="en-US">
                <a:solidFill>
                  <a:schemeClr val="tx1"/>
                </a:solidFill>
              </a:rPr>
              <a:t>有精度要求的需要自己查公差表，这里不赘述</a:t>
            </a:r>
            <a:endParaRPr lang="zh-CN" altLang="en-US">
              <a:solidFill>
                <a:schemeClr val="tx1"/>
              </a:solidFill>
            </a:endParaRPr>
          </a:p>
          <a:p>
            <a:endParaRPr lang="zh-CN" altLang="en-US">
              <a:solidFill>
                <a:schemeClr val="tx1"/>
              </a:solidFill>
            </a:endParaRPr>
          </a:p>
          <a:p>
            <a:r>
              <a:rPr lang="zh-CN" altLang="en-US">
                <a:solidFill>
                  <a:schemeClr val="tx1"/>
                </a:solidFill>
              </a:rPr>
              <a:t>也有滚子</a:t>
            </a:r>
            <a:r>
              <a:rPr lang="en-US" altLang="zh-CN">
                <a:solidFill>
                  <a:schemeClr val="tx1"/>
                </a:solidFill>
              </a:rPr>
              <a:t>/</a:t>
            </a:r>
            <a:r>
              <a:rPr lang="zh-CN" altLang="en-US">
                <a:solidFill>
                  <a:schemeClr val="tx1"/>
                </a:solidFill>
              </a:rPr>
              <a:t>滚针轴承</a:t>
            </a:r>
            <a:endParaRPr lang="zh-CN" altLang="en-US">
              <a:solidFill>
                <a:schemeClr val="tx1"/>
              </a:solidFill>
            </a:endParaRPr>
          </a:p>
          <a:p>
            <a:endParaRPr lang="zh-CN" altLang="en-US">
              <a:solidFill>
                <a:schemeClr val="tx1"/>
              </a:solidFill>
            </a:endParaRPr>
          </a:p>
        </p:txBody>
      </p:sp>
      <p:pic>
        <p:nvPicPr>
          <p:cNvPr id="4" name="图片 3" descr="微信截图_20241024195941"/>
          <p:cNvPicPr>
            <a:picLocks noChangeAspect="1"/>
          </p:cNvPicPr>
          <p:nvPr/>
        </p:nvPicPr>
        <p:blipFill>
          <a:blip r:embed="rId1"/>
          <a:stretch>
            <a:fillRect/>
          </a:stretch>
        </p:blipFill>
        <p:spPr>
          <a:xfrm>
            <a:off x="142875" y="1716405"/>
            <a:ext cx="3576320" cy="4456430"/>
          </a:xfrm>
          <a:prstGeom prst="rect">
            <a:avLst/>
          </a:prstGeom>
        </p:spPr>
      </p:pic>
      <p:pic>
        <p:nvPicPr>
          <p:cNvPr id="2" name="图片 1" descr="微信截图_20241024201952"/>
          <p:cNvPicPr>
            <a:picLocks noChangeAspect="1"/>
          </p:cNvPicPr>
          <p:nvPr/>
        </p:nvPicPr>
        <p:blipFill>
          <a:blip r:embed="rId2"/>
          <a:stretch>
            <a:fillRect/>
          </a:stretch>
        </p:blipFill>
        <p:spPr>
          <a:xfrm>
            <a:off x="7238365" y="347345"/>
            <a:ext cx="4440555" cy="4455160"/>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任意多边形 4"/>
          <p:cNvSpPr/>
          <p:nvPr/>
        </p:nvSpPr>
        <p:spPr>
          <a:xfrm>
            <a:off x="142875" y="99060"/>
            <a:ext cx="4759960" cy="1800860"/>
          </a:xfrm>
          <a:custGeom>
            <a:avLst/>
            <a:gdLst>
              <a:gd name="connsiteX0" fmla="*/ 0 w 6078"/>
              <a:gd name="connsiteY0" fmla="*/ 0 h 2816"/>
              <a:gd name="connsiteX1" fmla="*/ 6078 w 6078"/>
              <a:gd name="connsiteY1" fmla="*/ 0 h 2816"/>
              <a:gd name="connsiteX2" fmla="*/ 3195 w 6078"/>
              <a:gd name="connsiteY2" fmla="*/ 2794 h 2816"/>
              <a:gd name="connsiteX3" fmla="*/ 0 w 6078"/>
              <a:gd name="connsiteY3" fmla="*/ 2816 h 2816"/>
              <a:gd name="connsiteX4" fmla="*/ 0 w 6078"/>
              <a:gd name="connsiteY4" fmla="*/ 0 h 28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78" h="2816">
                <a:moveTo>
                  <a:pt x="0" y="0"/>
                </a:moveTo>
                <a:lnTo>
                  <a:pt x="6078" y="0"/>
                </a:lnTo>
                <a:lnTo>
                  <a:pt x="3195" y="2794"/>
                </a:lnTo>
                <a:lnTo>
                  <a:pt x="0" y="2816"/>
                </a:lnTo>
                <a:lnTo>
                  <a:pt x="0" y="0"/>
                </a:ln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直角三角形 14"/>
          <p:cNvSpPr/>
          <p:nvPr/>
        </p:nvSpPr>
        <p:spPr>
          <a:xfrm>
            <a:off x="0" y="5943600"/>
            <a:ext cx="2781935" cy="915035"/>
          </a:xfrm>
          <a:prstGeom prst="rtTriangle">
            <a:avLst/>
          </a:prstGeom>
          <a:solidFill>
            <a:schemeClr val="tx2">
              <a:lumMod val="20000"/>
              <a:lumOff val="80000"/>
            </a:schemeClr>
          </a:solidFill>
          <a:ln>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副标题 2"/>
          <p:cNvSpPr>
            <a:spLocks noGrp="1"/>
          </p:cNvSpPr>
          <p:nvPr>
            <p:ph type="subTitle" idx="1"/>
          </p:nvPr>
        </p:nvSpPr>
        <p:spPr>
          <a:xfrm>
            <a:off x="142875" y="347980"/>
            <a:ext cx="4281805" cy="1104265"/>
          </a:xfrm>
        </p:spPr>
        <p:txBody>
          <a:bodyPr>
            <a:noAutofit/>
          </a:bodyPr>
          <a:lstStyle/>
          <a:p>
            <a:r>
              <a:rPr lang="en-US" altLang="zh-CN" sz="4800" dirty="0">
                <a:latin typeface="Algerian" panose="04020705040A02060702" pitchFamily="82" charset="0"/>
                <a:ea typeface="华文琥珀" panose="02010800040101010101" charset="-122"/>
              </a:rPr>
              <a:t>9.2</a:t>
            </a:r>
            <a:r>
              <a:rPr lang="zh-CN" altLang="en-US" sz="4800" dirty="0">
                <a:latin typeface="Algerian" panose="04020705040A02060702" pitchFamily="82" charset="0"/>
                <a:ea typeface="华文琥珀" panose="02010800040101010101" charset="-122"/>
              </a:rPr>
              <a:t>各轴承特点</a:t>
            </a:r>
            <a:endParaRPr lang="zh-CN" altLang="en-US" sz="4800" dirty="0">
              <a:latin typeface="Algerian" panose="04020705040A02060702" pitchFamily="82" charset="0"/>
              <a:ea typeface="华文琥珀" panose="02010800040101010101" charset="-122"/>
            </a:endParaRPr>
          </a:p>
        </p:txBody>
      </p:sp>
      <p:sp>
        <p:nvSpPr>
          <p:cNvPr id="6" name="文本框 5"/>
          <p:cNvSpPr txBox="1"/>
          <p:nvPr/>
        </p:nvSpPr>
        <p:spPr>
          <a:xfrm>
            <a:off x="4424045" y="548640"/>
            <a:ext cx="2719705" cy="5597525"/>
          </a:xfrm>
          <a:prstGeom prst="rect">
            <a:avLst/>
          </a:prstGeom>
          <a:noFill/>
        </p:spPr>
        <p:txBody>
          <a:bodyPr wrap="square" rtlCol="0">
            <a:noAutofit/>
          </a:bodyPr>
          <a:lstStyle/>
          <a:p>
            <a:r>
              <a:rPr lang="zh-CN" altLang="en-US">
                <a:solidFill>
                  <a:schemeClr val="tx1"/>
                </a:solidFill>
              </a:rPr>
              <a:t>推力球轴承：</a:t>
            </a:r>
            <a:endParaRPr lang="zh-CN" altLang="en-US">
              <a:solidFill>
                <a:schemeClr val="tx1"/>
              </a:solidFill>
            </a:endParaRPr>
          </a:p>
          <a:p>
            <a:endParaRPr lang="zh-CN" altLang="en-US">
              <a:solidFill>
                <a:schemeClr val="tx1"/>
              </a:solidFill>
            </a:endParaRPr>
          </a:p>
          <a:p>
            <a:r>
              <a:rPr lang="zh-CN" altLang="en-US">
                <a:solidFill>
                  <a:schemeClr val="tx1"/>
                </a:solidFill>
              </a:rPr>
              <a:t>最容易爆装备的轴承，未固定时会分成三片，妥善保管</a:t>
            </a:r>
            <a:endParaRPr lang="zh-CN" altLang="en-US">
              <a:solidFill>
                <a:schemeClr val="tx1"/>
              </a:solidFill>
            </a:endParaRPr>
          </a:p>
          <a:p>
            <a:endParaRPr lang="zh-CN" altLang="en-US">
              <a:solidFill>
                <a:schemeClr val="tx1"/>
              </a:solidFill>
            </a:endParaRPr>
          </a:p>
          <a:p>
            <a:r>
              <a:rPr lang="zh-CN" altLang="en-US">
                <a:solidFill>
                  <a:schemeClr val="tx1"/>
                </a:solidFill>
              </a:rPr>
              <a:t>只能承受轴向力，不能承受径向力，会滑脱</a:t>
            </a:r>
            <a:endParaRPr lang="zh-CN" altLang="en-US">
              <a:solidFill>
                <a:schemeClr val="tx1"/>
              </a:solidFill>
            </a:endParaRPr>
          </a:p>
          <a:p>
            <a:endParaRPr lang="zh-CN" altLang="en-US">
              <a:solidFill>
                <a:schemeClr val="tx1"/>
              </a:solidFill>
            </a:endParaRPr>
          </a:p>
          <a:p>
            <a:r>
              <a:rPr lang="zh-CN" altLang="en-US">
                <a:solidFill>
                  <a:schemeClr val="tx1"/>
                </a:solidFill>
              </a:rPr>
              <a:t>选型时一般看内外径和厚度</a:t>
            </a:r>
            <a:endParaRPr lang="zh-CN" altLang="en-US">
              <a:solidFill>
                <a:schemeClr val="tx1"/>
              </a:solidFill>
            </a:endParaRPr>
          </a:p>
          <a:p>
            <a:endParaRPr lang="zh-CN" altLang="en-US">
              <a:solidFill>
                <a:schemeClr val="tx1"/>
              </a:solidFill>
            </a:endParaRPr>
          </a:p>
          <a:p>
            <a:r>
              <a:rPr lang="zh-CN" altLang="en-US">
                <a:solidFill>
                  <a:schemeClr val="tx1"/>
                </a:solidFill>
              </a:rPr>
              <a:t>滚动体可以分为滚珠和滚子，常用滚珠，也有滚子和滚针的</a:t>
            </a:r>
            <a:endParaRPr lang="zh-CN" altLang="en-US">
              <a:solidFill>
                <a:schemeClr val="tx1"/>
              </a:solidFill>
            </a:endParaRPr>
          </a:p>
        </p:txBody>
      </p:sp>
      <p:pic>
        <p:nvPicPr>
          <p:cNvPr id="7" name="图片 6" descr="微信截图_20241024200010"/>
          <p:cNvPicPr>
            <a:picLocks noChangeAspect="1"/>
          </p:cNvPicPr>
          <p:nvPr/>
        </p:nvPicPr>
        <p:blipFill>
          <a:blip r:embed="rId1"/>
          <a:stretch>
            <a:fillRect/>
          </a:stretch>
        </p:blipFill>
        <p:spPr>
          <a:xfrm>
            <a:off x="142875" y="1111250"/>
            <a:ext cx="4313555" cy="3432810"/>
          </a:xfrm>
          <a:prstGeom prst="rect">
            <a:avLst/>
          </a:prstGeom>
        </p:spPr>
      </p:pic>
      <p:pic>
        <p:nvPicPr>
          <p:cNvPr id="8" name="图片 7" descr="微信截图_20241024210517"/>
          <p:cNvPicPr>
            <a:picLocks noChangeAspect="1"/>
          </p:cNvPicPr>
          <p:nvPr/>
        </p:nvPicPr>
        <p:blipFill>
          <a:blip r:embed="rId2"/>
          <a:stretch>
            <a:fillRect/>
          </a:stretch>
        </p:blipFill>
        <p:spPr>
          <a:xfrm>
            <a:off x="7143750" y="785495"/>
            <a:ext cx="4770120" cy="3154680"/>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任意多边形 4"/>
          <p:cNvSpPr/>
          <p:nvPr/>
        </p:nvSpPr>
        <p:spPr>
          <a:xfrm>
            <a:off x="142875" y="99060"/>
            <a:ext cx="4759960" cy="1800860"/>
          </a:xfrm>
          <a:custGeom>
            <a:avLst/>
            <a:gdLst>
              <a:gd name="connsiteX0" fmla="*/ 0 w 6078"/>
              <a:gd name="connsiteY0" fmla="*/ 0 h 2816"/>
              <a:gd name="connsiteX1" fmla="*/ 6078 w 6078"/>
              <a:gd name="connsiteY1" fmla="*/ 0 h 2816"/>
              <a:gd name="connsiteX2" fmla="*/ 3195 w 6078"/>
              <a:gd name="connsiteY2" fmla="*/ 2794 h 2816"/>
              <a:gd name="connsiteX3" fmla="*/ 0 w 6078"/>
              <a:gd name="connsiteY3" fmla="*/ 2816 h 2816"/>
              <a:gd name="connsiteX4" fmla="*/ 0 w 6078"/>
              <a:gd name="connsiteY4" fmla="*/ 0 h 28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78" h="2816">
                <a:moveTo>
                  <a:pt x="0" y="0"/>
                </a:moveTo>
                <a:lnTo>
                  <a:pt x="6078" y="0"/>
                </a:lnTo>
                <a:lnTo>
                  <a:pt x="3195" y="2794"/>
                </a:lnTo>
                <a:lnTo>
                  <a:pt x="0" y="2816"/>
                </a:lnTo>
                <a:lnTo>
                  <a:pt x="0" y="0"/>
                </a:ln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直角三角形 14"/>
          <p:cNvSpPr/>
          <p:nvPr/>
        </p:nvSpPr>
        <p:spPr>
          <a:xfrm>
            <a:off x="0" y="5943600"/>
            <a:ext cx="2781935" cy="915035"/>
          </a:xfrm>
          <a:prstGeom prst="rtTriangle">
            <a:avLst/>
          </a:prstGeom>
          <a:solidFill>
            <a:schemeClr val="tx2">
              <a:lumMod val="20000"/>
              <a:lumOff val="80000"/>
            </a:schemeClr>
          </a:solidFill>
          <a:ln>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副标题 2"/>
          <p:cNvSpPr>
            <a:spLocks noGrp="1"/>
          </p:cNvSpPr>
          <p:nvPr>
            <p:ph type="subTitle" idx="1"/>
          </p:nvPr>
        </p:nvSpPr>
        <p:spPr>
          <a:xfrm>
            <a:off x="142875" y="347980"/>
            <a:ext cx="4281805" cy="1104265"/>
          </a:xfrm>
        </p:spPr>
        <p:txBody>
          <a:bodyPr>
            <a:noAutofit/>
          </a:bodyPr>
          <a:lstStyle/>
          <a:p>
            <a:r>
              <a:rPr lang="en-US" altLang="zh-CN" sz="4800" dirty="0">
                <a:latin typeface="Algerian" panose="04020705040A02060702" pitchFamily="82" charset="0"/>
                <a:ea typeface="华文琥珀" panose="02010800040101010101" charset="-122"/>
              </a:rPr>
              <a:t>9.2</a:t>
            </a:r>
            <a:r>
              <a:rPr lang="zh-CN" altLang="en-US" sz="4800" dirty="0">
                <a:latin typeface="Algerian" panose="04020705040A02060702" pitchFamily="82" charset="0"/>
                <a:ea typeface="华文琥珀" panose="02010800040101010101" charset="-122"/>
              </a:rPr>
              <a:t>各轴承特点</a:t>
            </a:r>
            <a:endParaRPr lang="zh-CN" altLang="en-US" sz="4800" dirty="0">
              <a:latin typeface="Algerian" panose="04020705040A02060702" pitchFamily="82" charset="0"/>
              <a:ea typeface="华文琥珀" panose="02010800040101010101" charset="-122"/>
            </a:endParaRPr>
          </a:p>
        </p:txBody>
      </p:sp>
      <p:sp>
        <p:nvSpPr>
          <p:cNvPr id="6" name="文本框 5"/>
          <p:cNvSpPr txBox="1"/>
          <p:nvPr/>
        </p:nvSpPr>
        <p:spPr>
          <a:xfrm>
            <a:off x="4424045" y="548640"/>
            <a:ext cx="2719705" cy="5597525"/>
          </a:xfrm>
          <a:prstGeom prst="rect">
            <a:avLst/>
          </a:prstGeom>
          <a:noFill/>
        </p:spPr>
        <p:txBody>
          <a:bodyPr wrap="square" rtlCol="0">
            <a:noAutofit/>
          </a:bodyPr>
          <a:lstStyle/>
          <a:p>
            <a:r>
              <a:rPr lang="zh-CN" altLang="en-US">
                <a:solidFill>
                  <a:schemeClr val="tx1"/>
                </a:solidFill>
              </a:rPr>
              <a:t>法兰轴承</a:t>
            </a:r>
            <a:endParaRPr lang="zh-CN" altLang="en-US">
              <a:solidFill>
                <a:schemeClr val="tx1"/>
              </a:solidFill>
            </a:endParaRPr>
          </a:p>
          <a:p>
            <a:endParaRPr lang="zh-CN" altLang="en-US">
              <a:solidFill>
                <a:schemeClr val="tx1"/>
              </a:solidFill>
            </a:endParaRPr>
          </a:p>
          <a:p>
            <a:r>
              <a:rPr lang="zh-CN" altLang="en-US">
                <a:solidFill>
                  <a:schemeClr val="tx1"/>
                </a:solidFill>
              </a:rPr>
              <a:t>可以理解成有法兰形状的</a:t>
            </a:r>
            <a:endParaRPr lang="zh-CN" altLang="en-US">
              <a:solidFill>
                <a:schemeClr val="tx1"/>
              </a:solidFill>
            </a:endParaRPr>
          </a:p>
          <a:p>
            <a:r>
              <a:rPr lang="zh-CN" altLang="en-US">
                <a:solidFill>
                  <a:schemeClr val="tx1"/>
                </a:solidFill>
              </a:rPr>
              <a:t>深沟球轴承</a:t>
            </a:r>
            <a:endParaRPr lang="zh-CN" altLang="en-US">
              <a:solidFill>
                <a:schemeClr val="tx1"/>
              </a:solidFill>
            </a:endParaRPr>
          </a:p>
          <a:p>
            <a:endParaRPr lang="zh-CN" altLang="en-US">
              <a:solidFill>
                <a:schemeClr val="tx1"/>
              </a:solidFill>
            </a:endParaRPr>
          </a:p>
          <a:p>
            <a:r>
              <a:rPr lang="zh-CN" altLang="en-US">
                <a:solidFill>
                  <a:schemeClr val="tx1"/>
                </a:solidFill>
              </a:rPr>
              <a:t>最大特点是将法兰与轴承结为一体。当轴的一端没有连接件，需要固定在平面如板、墙壁上时，法兰轴承就体现出其优势。</a:t>
            </a:r>
            <a:endParaRPr lang="zh-CN" altLang="en-US">
              <a:solidFill>
                <a:schemeClr val="tx1"/>
              </a:solidFill>
            </a:endParaRPr>
          </a:p>
          <a:p>
            <a:endParaRPr lang="zh-CN" altLang="en-US">
              <a:solidFill>
                <a:schemeClr val="tx1"/>
              </a:solidFill>
            </a:endParaRPr>
          </a:p>
          <a:p>
            <a:r>
              <a:rPr lang="zh-CN" altLang="en-US">
                <a:sym typeface="+mn-ea"/>
              </a:rPr>
              <a:t>选型时一般看内外径和厚度</a:t>
            </a:r>
            <a:endParaRPr lang="zh-CN" altLang="en-US">
              <a:sym typeface="+mn-ea"/>
            </a:endParaRPr>
          </a:p>
          <a:p>
            <a:endParaRPr lang="zh-CN" altLang="en-US">
              <a:solidFill>
                <a:schemeClr val="tx1"/>
              </a:solidFill>
              <a:sym typeface="+mn-ea"/>
            </a:endParaRPr>
          </a:p>
          <a:p>
            <a:r>
              <a:rPr lang="zh-CN" altLang="en-US">
                <a:sym typeface="+mn-ea"/>
              </a:rPr>
              <a:t>主要是为了定位轴，常见结构：法兰轴承</a:t>
            </a:r>
            <a:r>
              <a:rPr lang="en-US" altLang="zh-CN">
                <a:sym typeface="+mn-ea"/>
              </a:rPr>
              <a:t>-</a:t>
            </a:r>
            <a:r>
              <a:rPr lang="zh-CN" altLang="en-US">
                <a:sym typeface="+mn-ea"/>
              </a:rPr>
              <a:t>光轴</a:t>
            </a:r>
            <a:r>
              <a:rPr lang="en-US" altLang="zh-CN">
                <a:sym typeface="+mn-ea"/>
              </a:rPr>
              <a:t>-</a:t>
            </a:r>
            <a:endParaRPr lang="en-US" altLang="zh-CN">
              <a:sym typeface="+mn-ea"/>
            </a:endParaRPr>
          </a:p>
          <a:p>
            <a:r>
              <a:rPr lang="zh-CN" altLang="en-US">
                <a:sym typeface="+mn-ea"/>
              </a:rPr>
              <a:t>固定环</a:t>
            </a:r>
            <a:r>
              <a:rPr lang="en-US" altLang="zh-CN">
                <a:sym typeface="+mn-ea"/>
              </a:rPr>
              <a:t>-</a:t>
            </a:r>
            <a:r>
              <a:rPr lang="zh-CN" altLang="en-US">
                <a:sym typeface="+mn-ea"/>
              </a:rPr>
              <a:t>机构</a:t>
            </a:r>
            <a:r>
              <a:rPr lang="en-US" altLang="zh-CN">
                <a:sym typeface="+mn-ea"/>
              </a:rPr>
              <a:t>-</a:t>
            </a:r>
            <a:r>
              <a:rPr lang="zh-CN" altLang="en-US">
                <a:sym typeface="+mn-ea"/>
              </a:rPr>
              <a:t>联轴器</a:t>
            </a:r>
            <a:r>
              <a:rPr lang="en-US" altLang="zh-CN">
                <a:sym typeface="+mn-ea"/>
              </a:rPr>
              <a:t>-</a:t>
            </a:r>
            <a:r>
              <a:rPr lang="zh-CN" altLang="en-US">
                <a:sym typeface="+mn-ea"/>
              </a:rPr>
              <a:t>法兰轴承</a:t>
            </a:r>
            <a:r>
              <a:rPr lang="en-US" altLang="zh-CN">
                <a:sym typeface="+mn-ea"/>
              </a:rPr>
              <a:t>-</a:t>
            </a:r>
            <a:r>
              <a:rPr lang="zh-CN" altLang="en-US">
                <a:sym typeface="+mn-ea"/>
              </a:rPr>
              <a:t>电机</a:t>
            </a:r>
            <a:endParaRPr lang="zh-CN" altLang="en-US">
              <a:solidFill>
                <a:schemeClr val="tx1"/>
              </a:solidFill>
            </a:endParaRPr>
          </a:p>
          <a:p>
            <a:endParaRPr lang="zh-CN" altLang="en-US">
              <a:solidFill>
                <a:schemeClr val="tx1"/>
              </a:solidFill>
            </a:endParaRPr>
          </a:p>
          <a:p>
            <a:endParaRPr lang="zh-CN" altLang="en-US">
              <a:solidFill>
                <a:schemeClr val="tx1"/>
              </a:solidFill>
            </a:endParaRPr>
          </a:p>
          <a:p>
            <a:endParaRPr lang="zh-CN" altLang="en-US">
              <a:solidFill>
                <a:schemeClr val="tx1"/>
              </a:solidFill>
            </a:endParaRPr>
          </a:p>
        </p:txBody>
      </p:sp>
      <p:pic>
        <p:nvPicPr>
          <p:cNvPr id="9" name="图片 8" descr="微信截图_20241024200042"/>
          <p:cNvPicPr>
            <a:picLocks noChangeAspect="1"/>
          </p:cNvPicPr>
          <p:nvPr/>
        </p:nvPicPr>
        <p:blipFill>
          <a:blip r:embed="rId1"/>
          <a:stretch>
            <a:fillRect/>
          </a:stretch>
        </p:blipFill>
        <p:spPr>
          <a:xfrm>
            <a:off x="7440930" y="228600"/>
            <a:ext cx="2293620" cy="3200400"/>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a:off x="-78740" y="0"/>
            <a:ext cx="4749800" cy="6862445"/>
            <a:chOff x="-124" y="-6"/>
            <a:chExt cx="7480" cy="10807"/>
          </a:xfrm>
        </p:grpSpPr>
        <p:grpSp>
          <p:nvGrpSpPr>
            <p:cNvPr id="4" name="组合 3"/>
            <p:cNvGrpSpPr/>
            <p:nvPr/>
          </p:nvGrpSpPr>
          <p:grpSpPr>
            <a:xfrm>
              <a:off x="-124" y="-6"/>
              <a:ext cx="7480" cy="2816"/>
              <a:chOff x="-124" y="-6"/>
              <a:chExt cx="7480" cy="2816"/>
            </a:xfrm>
          </p:grpSpPr>
          <p:sp>
            <p:nvSpPr>
              <p:cNvPr id="6" name="任意多边形 4"/>
              <p:cNvSpPr/>
              <p:nvPr/>
            </p:nvSpPr>
            <p:spPr>
              <a:xfrm>
                <a:off x="0" y="-6"/>
                <a:ext cx="7356" cy="2816"/>
              </a:xfrm>
              <a:custGeom>
                <a:avLst/>
                <a:gdLst>
                  <a:gd name="connsiteX0" fmla="*/ 0 w 6078"/>
                  <a:gd name="connsiteY0" fmla="*/ 0 h 2816"/>
                  <a:gd name="connsiteX1" fmla="*/ 6078 w 6078"/>
                  <a:gd name="connsiteY1" fmla="*/ 0 h 2816"/>
                  <a:gd name="connsiteX2" fmla="*/ 3195 w 6078"/>
                  <a:gd name="connsiteY2" fmla="*/ 2794 h 2816"/>
                  <a:gd name="connsiteX3" fmla="*/ 0 w 6078"/>
                  <a:gd name="connsiteY3" fmla="*/ 2816 h 2816"/>
                  <a:gd name="connsiteX4" fmla="*/ 0 w 6078"/>
                  <a:gd name="connsiteY4" fmla="*/ 0 h 28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78" h="2816">
                    <a:moveTo>
                      <a:pt x="0" y="0"/>
                    </a:moveTo>
                    <a:lnTo>
                      <a:pt x="6078" y="0"/>
                    </a:lnTo>
                    <a:lnTo>
                      <a:pt x="3195" y="2794"/>
                    </a:lnTo>
                    <a:lnTo>
                      <a:pt x="0" y="2816"/>
                    </a:lnTo>
                    <a:lnTo>
                      <a:pt x="0" y="0"/>
                    </a:ln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文本框 9"/>
              <p:cNvSpPr txBox="1"/>
              <p:nvPr/>
            </p:nvSpPr>
            <p:spPr>
              <a:xfrm>
                <a:off x="-124" y="639"/>
                <a:ext cx="6662" cy="1115"/>
              </a:xfrm>
              <a:prstGeom prst="rect">
                <a:avLst/>
              </a:prstGeom>
              <a:noFill/>
            </p:spPr>
            <p:txBody>
              <a:bodyPr wrap="square" rtlCol="0">
                <a:spAutoFit/>
              </a:bodyPr>
              <a:lstStyle/>
              <a:p>
                <a:r>
                  <a:rPr lang="en-US" altLang="zh-CN" sz="4000" dirty="0">
                    <a:solidFill>
                      <a:schemeClr val="bg1"/>
                    </a:solidFill>
                    <a:latin typeface="Swis721 BlkEx BT" panose="020B0907040502030204" pitchFamily="34" charset="0"/>
                  </a:rPr>
                  <a:t>NAZATITE</a:t>
                </a:r>
                <a:endParaRPr lang="zh-CN" altLang="en-US" sz="4000" dirty="0">
                  <a:solidFill>
                    <a:schemeClr val="bg1"/>
                  </a:solidFill>
                  <a:latin typeface="Swis721 BlkEx BT" panose="020B0907040502030204" pitchFamily="34" charset="0"/>
                </a:endParaRPr>
              </a:p>
            </p:txBody>
          </p:sp>
        </p:grpSp>
        <p:sp>
          <p:nvSpPr>
            <p:cNvPr id="25" name="直角三角形 24"/>
            <p:cNvSpPr/>
            <p:nvPr/>
          </p:nvSpPr>
          <p:spPr>
            <a:xfrm>
              <a:off x="0" y="9360"/>
              <a:ext cx="4381" cy="1441"/>
            </a:xfrm>
            <a:prstGeom prst="rtTriangle">
              <a:avLst/>
            </a:prstGeom>
            <a:solidFill>
              <a:schemeClr val="tx2">
                <a:lumMod val="20000"/>
                <a:lumOff val="80000"/>
              </a:schemeClr>
            </a:solidFill>
            <a:ln>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pic>
        <p:nvPicPr>
          <p:cNvPr id="16" name="图片 15" descr="徽标&#10;&#10;描述已自动生成"/>
          <p:cNvPicPr>
            <a:picLocks noChangeAspect="1"/>
          </p:cNvPicPr>
          <p:nvPr>
            <p:custDataLst>
              <p:tags r:id="rId1"/>
            </p:custDataLst>
          </p:nvPr>
        </p:nvPicPr>
        <p:blipFill>
          <a:blip r:embed="rId2" cstate="print">
            <a:extLst>
              <a:ext uri="{28A0092B-C50C-407E-A947-70E740481C1C}">
                <a14:useLocalDpi xmlns:a14="http://schemas.microsoft.com/office/drawing/2010/main" val="0"/>
              </a:ext>
            </a:extLst>
          </a:blip>
          <a:stretch>
            <a:fillRect/>
          </a:stretch>
        </p:blipFill>
        <p:spPr>
          <a:xfrm>
            <a:off x="6664325" y="4728210"/>
            <a:ext cx="6532880" cy="2415540"/>
          </a:xfrm>
          <a:prstGeom prst="rect">
            <a:avLst/>
          </a:prstGeom>
        </p:spPr>
      </p:pic>
      <p:pic>
        <p:nvPicPr>
          <p:cNvPr id="3" name="图片 2" descr="图片包含 表格&#10;&#10;AI 生成的内容可能不正确。"/>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3255380" cy="6858000"/>
          </a:xfrm>
          <a:prstGeom prst="rect">
            <a:avLst/>
          </a:prstGeom>
        </p:spPr>
      </p:pic>
      <p:pic>
        <p:nvPicPr>
          <p:cNvPr id="8" name="图片 7" descr="表格&#10;&#10;AI 生成的内容可能不正确。"/>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255380" y="1491930"/>
            <a:ext cx="6452976" cy="5366070"/>
          </a:xfrm>
          <a:prstGeom prst="rect">
            <a:avLst/>
          </a:prstGeom>
        </p:spPr>
      </p:pic>
      <p:pic>
        <p:nvPicPr>
          <p:cNvPr id="11" name="图片 10" descr="图片包含 图示&#10;&#10;AI 生成的内容可能不正确。"/>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9648423" y="0"/>
            <a:ext cx="2543577" cy="6858000"/>
          </a:xfrm>
          <a:prstGeom prst="rect">
            <a:avLst/>
          </a:prstGeom>
        </p:spPr>
      </p:pic>
      <p:sp>
        <p:nvSpPr>
          <p:cNvPr id="12" name="文本框 11"/>
          <p:cNvSpPr txBox="1"/>
          <p:nvPr/>
        </p:nvSpPr>
        <p:spPr>
          <a:xfrm>
            <a:off x="3336131" y="264319"/>
            <a:ext cx="1193007" cy="369332"/>
          </a:xfrm>
          <a:prstGeom prst="rect">
            <a:avLst/>
          </a:prstGeom>
          <a:noFill/>
        </p:spPr>
        <p:txBody>
          <a:bodyPr wrap="square" rtlCol="0">
            <a:spAutoFit/>
          </a:bodyPr>
          <a:lstStyle/>
          <a:p>
            <a:r>
              <a:rPr lang="zh-CN" altLang="en-US" dirty="0"/>
              <a:t>法兰</a:t>
            </a:r>
            <a:endParaRPr lang="zh-CN" altLang="en-US" dirty="0"/>
          </a:p>
        </p:txBody>
      </p:sp>
      <p:sp>
        <p:nvSpPr>
          <p:cNvPr id="15" name="文本框 14"/>
          <p:cNvSpPr txBox="1"/>
          <p:nvPr/>
        </p:nvSpPr>
        <p:spPr>
          <a:xfrm>
            <a:off x="6141757" y="1106487"/>
            <a:ext cx="678656" cy="374330"/>
          </a:xfrm>
          <a:prstGeom prst="rect">
            <a:avLst/>
          </a:prstGeom>
          <a:noFill/>
        </p:spPr>
        <p:txBody>
          <a:bodyPr wrap="square" rtlCol="0">
            <a:spAutoFit/>
          </a:bodyPr>
          <a:lstStyle/>
          <a:p>
            <a:r>
              <a:rPr lang="zh-CN" altLang="en-US" dirty="0"/>
              <a:t>推力</a:t>
            </a:r>
            <a:endParaRPr lang="zh-CN" altLang="en-US" dirty="0"/>
          </a:p>
        </p:txBody>
      </p:sp>
      <p:sp>
        <p:nvSpPr>
          <p:cNvPr id="17" name="文本框 16"/>
          <p:cNvSpPr txBox="1"/>
          <p:nvPr/>
        </p:nvSpPr>
        <p:spPr>
          <a:xfrm>
            <a:off x="9042119" y="259321"/>
            <a:ext cx="678656" cy="369332"/>
          </a:xfrm>
          <a:prstGeom prst="rect">
            <a:avLst/>
          </a:prstGeom>
          <a:noFill/>
        </p:spPr>
        <p:txBody>
          <a:bodyPr wrap="square" rtlCol="0">
            <a:spAutoFit/>
          </a:bodyPr>
          <a:lstStyle/>
          <a:p>
            <a:r>
              <a:rPr lang="zh-CN" altLang="en-US" dirty="0"/>
              <a:t>深沟</a:t>
            </a:r>
            <a:endParaRPr lang="zh-CN" altLang="en-US" dirty="0"/>
          </a:p>
        </p:txBody>
      </p:sp>
      <p:sp>
        <p:nvSpPr>
          <p:cNvPr id="19" name="文本框 18"/>
          <p:cNvSpPr txBox="1"/>
          <p:nvPr/>
        </p:nvSpPr>
        <p:spPr>
          <a:xfrm>
            <a:off x="5135442" y="270434"/>
            <a:ext cx="6743700" cy="369332"/>
          </a:xfrm>
          <a:prstGeom prst="rect">
            <a:avLst/>
          </a:prstGeom>
          <a:noFill/>
        </p:spPr>
        <p:txBody>
          <a:bodyPr wrap="square">
            <a:spAutoFit/>
          </a:bodyPr>
          <a:lstStyle/>
          <a:p>
            <a:r>
              <a:rPr lang="zh-CN" altLang="en-US" dirty="0"/>
              <a:t>型号查询：</a:t>
            </a:r>
            <a:r>
              <a:rPr lang="zh-CN" altLang="en-US" dirty="0">
                <a:hlinkClick r:id="rId6"/>
              </a:rPr>
              <a:t>http</a:t>
            </a:r>
            <a:r>
              <a:rPr lang="zh-CN" altLang="en-US" dirty="0"/>
              <a:t>://s.sozhou.com/</a:t>
            </a:r>
            <a:endParaRPr lang="zh-CN" altLang="en-US"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任意多边形 4"/>
          <p:cNvSpPr/>
          <p:nvPr/>
        </p:nvSpPr>
        <p:spPr>
          <a:xfrm>
            <a:off x="142875" y="99060"/>
            <a:ext cx="4759960" cy="1800860"/>
          </a:xfrm>
          <a:custGeom>
            <a:avLst/>
            <a:gdLst>
              <a:gd name="connsiteX0" fmla="*/ 0 w 6078"/>
              <a:gd name="connsiteY0" fmla="*/ 0 h 2816"/>
              <a:gd name="connsiteX1" fmla="*/ 6078 w 6078"/>
              <a:gd name="connsiteY1" fmla="*/ 0 h 2816"/>
              <a:gd name="connsiteX2" fmla="*/ 3195 w 6078"/>
              <a:gd name="connsiteY2" fmla="*/ 2794 h 2816"/>
              <a:gd name="connsiteX3" fmla="*/ 0 w 6078"/>
              <a:gd name="connsiteY3" fmla="*/ 2816 h 2816"/>
              <a:gd name="connsiteX4" fmla="*/ 0 w 6078"/>
              <a:gd name="connsiteY4" fmla="*/ 0 h 28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78" h="2816">
                <a:moveTo>
                  <a:pt x="0" y="0"/>
                </a:moveTo>
                <a:lnTo>
                  <a:pt x="6078" y="0"/>
                </a:lnTo>
                <a:lnTo>
                  <a:pt x="3195" y="2794"/>
                </a:lnTo>
                <a:lnTo>
                  <a:pt x="0" y="2816"/>
                </a:lnTo>
                <a:lnTo>
                  <a:pt x="0" y="0"/>
                </a:ln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直角三角形 14"/>
          <p:cNvSpPr/>
          <p:nvPr/>
        </p:nvSpPr>
        <p:spPr>
          <a:xfrm>
            <a:off x="0" y="5943600"/>
            <a:ext cx="2781935" cy="915035"/>
          </a:xfrm>
          <a:prstGeom prst="rtTriangle">
            <a:avLst/>
          </a:prstGeom>
          <a:solidFill>
            <a:schemeClr val="tx2">
              <a:lumMod val="20000"/>
              <a:lumOff val="80000"/>
            </a:schemeClr>
          </a:solidFill>
          <a:ln>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副标题 2"/>
          <p:cNvSpPr>
            <a:spLocks noGrp="1"/>
          </p:cNvSpPr>
          <p:nvPr>
            <p:ph type="subTitle" idx="1"/>
          </p:nvPr>
        </p:nvSpPr>
        <p:spPr>
          <a:xfrm>
            <a:off x="142875" y="347980"/>
            <a:ext cx="4281805" cy="1104265"/>
          </a:xfrm>
        </p:spPr>
        <p:txBody>
          <a:bodyPr>
            <a:noAutofit/>
          </a:bodyPr>
          <a:lstStyle/>
          <a:p>
            <a:r>
              <a:rPr lang="en-US" altLang="zh-CN" sz="4800" dirty="0">
                <a:latin typeface="Algerian" panose="04020705040A02060702" pitchFamily="82" charset="0"/>
                <a:ea typeface="华文琥珀" panose="02010800040101010101" charset="-122"/>
              </a:rPr>
              <a:t>9.2</a:t>
            </a:r>
            <a:r>
              <a:rPr lang="zh-CN" altLang="en-US" sz="4800" dirty="0">
                <a:latin typeface="Algerian" panose="04020705040A02060702" pitchFamily="82" charset="0"/>
                <a:ea typeface="华文琥珀" panose="02010800040101010101" charset="-122"/>
              </a:rPr>
              <a:t>各轴承特点</a:t>
            </a:r>
            <a:endParaRPr lang="zh-CN" altLang="en-US" sz="4800" dirty="0">
              <a:latin typeface="Algerian" panose="04020705040A02060702" pitchFamily="82" charset="0"/>
              <a:ea typeface="华文琥珀" panose="02010800040101010101" charset="-122"/>
            </a:endParaRPr>
          </a:p>
        </p:txBody>
      </p:sp>
      <p:sp>
        <p:nvSpPr>
          <p:cNvPr id="6" name="文本框 5"/>
          <p:cNvSpPr txBox="1"/>
          <p:nvPr/>
        </p:nvSpPr>
        <p:spPr>
          <a:xfrm>
            <a:off x="4424045" y="548640"/>
            <a:ext cx="2719705" cy="5597525"/>
          </a:xfrm>
          <a:prstGeom prst="rect">
            <a:avLst/>
          </a:prstGeom>
          <a:noFill/>
        </p:spPr>
        <p:txBody>
          <a:bodyPr wrap="square" rtlCol="0">
            <a:noAutofit/>
          </a:bodyPr>
          <a:lstStyle/>
          <a:p>
            <a:r>
              <a:rPr lang="zh-CN" altLang="en-US">
                <a:solidFill>
                  <a:schemeClr val="tx1"/>
                </a:solidFill>
              </a:rPr>
              <a:t>角接触轴承：</a:t>
            </a:r>
            <a:endParaRPr lang="zh-CN" altLang="en-US">
              <a:solidFill>
                <a:schemeClr val="tx1"/>
              </a:solidFill>
            </a:endParaRPr>
          </a:p>
          <a:p>
            <a:endParaRPr lang="zh-CN" altLang="en-US">
              <a:solidFill>
                <a:schemeClr val="tx1"/>
              </a:solidFill>
            </a:endParaRPr>
          </a:p>
          <a:p>
            <a:r>
              <a:rPr lang="zh-CN" altLang="en-US">
                <a:solidFill>
                  <a:schemeClr val="tx1"/>
                </a:solidFill>
              </a:rPr>
              <a:t>不常见，难装配，但是有些地方角接触轴承特别适合</a:t>
            </a:r>
            <a:endParaRPr lang="zh-CN" altLang="en-US">
              <a:solidFill>
                <a:schemeClr val="tx1"/>
              </a:solidFill>
            </a:endParaRPr>
          </a:p>
          <a:p>
            <a:endParaRPr lang="zh-CN" altLang="en-US">
              <a:solidFill>
                <a:schemeClr val="tx1"/>
              </a:solidFill>
            </a:endParaRPr>
          </a:p>
          <a:p>
            <a:r>
              <a:rPr lang="zh-CN" altLang="en-US">
                <a:solidFill>
                  <a:schemeClr val="tx1"/>
                </a:solidFill>
              </a:rPr>
              <a:t>径向载荷</a:t>
            </a:r>
            <a:r>
              <a:rPr lang="en-US" altLang="zh-CN">
                <a:solidFill>
                  <a:schemeClr val="tx1"/>
                </a:solidFill>
              </a:rPr>
              <a:t> </a:t>
            </a:r>
            <a:r>
              <a:rPr lang="zh-CN" altLang="en-US">
                <a:solidFill>
                  <a:schemeClr val="tx1"/>
                </a:solidFill>
              </a:rPr>
              <a:t>轴向载荷</a:t>
            </a:r>
            <a:r>
              <a:rPr lang="en-US" altLang="zh-CN">
                <a:solidFill>
                  <a:schemeClr val="tx1"/>
                </a:solidFill>
              </a:rPr>
              <a:t> </a:t>
            </a:r>
            <a:r>
              <a:rPr lang="zh-CN" altLang="en-US">
                <a:solidFill>
                  <a:schemeClr val="tx1"/>
                </a:solidFill>
              </a:rPr>
              <a:t>都能承受</a:t>
            </a:r>
            <a:r>
              <a:rPr lang="en-US" altLang="zh-CN">
                <a:solidFill>
                  <a:schemeClr val="tx1"/>
                </a:solidFill>
              </a:rPr>
              <a:t> </a:t>
            </a:r>
            <a:r>
              <a:rPr lang="zh-CN" altLang="en-US">
                <a:solidFill>
                  <a:schemeClr val="tx1"/>
                </a:solidFill>
              </a:rPr>
              <a:t>这是因为它的结构比其他的轴承特殊一些</a:t>
            </a:r>
            <a:endParaRPr lang="zh-CN" altLang="en-US">
              <a:solidFill>
                <a:schemeClr val="tx1"/>
              </a:solidFill>
            </a:endParaRPr>
          </a:p>
          <a:p>
            <a:endParaRPr lang="zh-CN" altLang="en-US">
              <a:solidFill>
                <a:schemeClr val="tx1"/>
              </a:solidFill>
            </a:endParaRPr>
          </a:p>
          <a:p>
            <a:r>
              <a:rPr lang="zh-CN" altLang="en-US">
                <a:solidFill>
                  <a:schemeClr val="tx1"/>
                </a:solidFill>
              </a:rPr>
              <a:t>https://www.bilibili.com/video/BV1PR4y187xJ/?spm_id_from=333.337.search-card.all.click&amp;vd_source=01812dea1a62ff6a54cd7b016f58aef7</a:t>
            </a:r>
            <a:endParaRPr lang="zh-CN" altLang="en-US">
              <a:solidFill>
                <a:schemeClr val="tx1"/>
              </a:solidFill>
            </a:endParaRPr>
          </a:p>
          <a:p>
            <a:endParaRPr lang="zh-CN" altLang="en-US">
              <a:solidFill>
                <a:schemeClr val="tx1"/>
              </a:solidFill>
            </a:endParaRPr>
          </a:p>
          <a:p>
            <a:r>
              <a:rPr lang="zh-CN" altLang="en-US">
                <a:solidFill>
                  <a:schemeClr val="tx1"/>
                </a:solidFill>
              </a:rPr>
              <a:t>一般成对安装</a:t>
            </a:r>
            <a:r>
              <a:rPr lang="en-US" altLang="zh-CN">
                <a:solidFill>
                  <a:schemeClr val="tx1"/>
                </a:solidFill>
              </a:rPr>
              <a:t> </a:t>
            </a:r>
            <a:endParaRPr lang="en-US" altLang="zh-CN">
              <a:solidFill>
                <a:schemeClr val="tx1"/>
              </a:solidFill>
            </a:endParaRPr>
          </a:p>
          <a:p>
            <a:r>
              <a:rPr lang="zh-CN" altLang="en-US">
                <a:solidFill>
                  <a:schemeClr val="tx1"/>
                </a:solidFill>
              </a:rPr>
              <a:t>面对面</a:t>
            </a:r>
            <a:endParaRPr lang="zh-CN" altLang="en-US">
              <a:solidFill>
                <a:schemeClr val="tx1"/>
              </a:solidFill>
            </a:endParaRPr>
          </a:p>
          <a:p>
            <a:r>
              <a:rPr lang="zh-CN" altLang="en-US">
                <a:solidFill>
                  <a:schemeClr val="tx1"/>
                </a:solidFill>
              </a:rPr>
              <a:t>背对背</a:t>
            </a:r>
            <a:r>
              <a:rPr lang="en-US" altLang="zh-CN">
                <a:solidFill>
                  <a:schemeClr val="tx1"/>
                </a:solidFill>
              </a:rPr>
              <a:t> </a:t>
            </a:r>
            <a:endParaRPr lang="en-US" altLang="zh-CN">
              <a:solidFill>
                <a:schemeClr val="tx1"/>
              </a:solidFill>
            </a:endParaRPr>
          </a:p>
          <a:p>
            <a:r>
              <a:rPr lang="zh-CN" altLang="en-US">
                <a:solidFill>
                  <a:schemeClr val="tx1"/>
                </a:solidFill>
              </a:rPr>
              <a:t>面对背</a:t>
            </a:r>
            <a:endParaRPr lang="zh-CN" altLang="en-US">
              <a:solidFill>
                <a:schemeClr val="tx1"/>
              </a:solidFill>
            </a:endParaRPr>
          </a:p>
          <a:p>
            <a:endParaRPr lang="zh-CN" altLang="en-US">
              <a:solidFill>
                <a:schemeClr val="tx1"/>
              </a:solidFill>
            </a:endParaRPr>
          </a:p>
          <a:p>
            <a:endParaRPr lang="zh-CN" altLang="en-US">
              <a:solidFill>
                <a:schemeClr val="tx1"/>
              </a:solidFill>
            </a:endParaRPr>
          </a:p>
          <a:p>
            <a:endParaRPr lang="zh-CN" altLang="en-US">
              <a:solidFill>
                <a:schemeClr val="tx1"/>
              </a:solidFill>
            </a:endParaRPr>
          </a:p>
        </p:txBody>
      </p:sp>
      <p:sp>
        <p:nvSpPr>
          <p:cNvPr id="7" name="文本框 6"/>
          <p:cNvSpPr txBox="1"/>
          <p:nvPr/>
        </p:nvSpPr>
        <p:spPr>
          <a:xfrm>
            <a:off x="7741285" y="1531620"/>
            <a:ext cx="4064000" cy="1476375"/>
          </a:xfrm>
          <a:prstGeom prst="rect">
            <a:avLst/>
          </a:prstGeom>
          <a:noFill/>
        </p:spPr>
        <p:txBody>
          <a:bodyPr wrap="square" rtlCol="0">
            <a:spAutoFit/>
          </a:bodyPr>
          <a:lstStyle/>
          <a:p>
            <a:r>
              <a:rPr lang="zh-CN" altLang="en-US"/>
              <a:t>找不到很明显清楚的图，看视频吧</a:t>
            </a:r>
            <a:endParaRPr lang="zh-CN" altLang="en-US"/>
          </a:p>
          <a:p>
            <a:r>
              <a:rPr lang="zh-CN" altLang="en-US"/>
              <a:t>https://www.bilibili.com/video/BV1hu411t7vf/?spm_id_from=333.337.search-card.all.click&amp;vd_source=01812dea1a62ff6a54cd7b016f58aef7</a:t>
            </a:r>
            <a:endParaRPr lang="zh-CN" alt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任意多边形 4"/>
          <p:cNvSpPr/>
          <p:nvPr/>
        </p:nvSpPr>
        <p:spPr>
          <a:xfrm>
            <a:off x="142875" y="99060"/>
            <a:ext cx="4759960" cy="1800860"/>
          </a:xfrm>
          <a:custGeom>
            <a:avLst/>
            <a:gdLst>
              <a:gd name="connsiteX0" fmla="*/ 0 w 6078"/>
              <a:gd name="connsiteY0" fmla="*/ 0 h 2816"/>
              <a:gd name="connsiteX1" fmla="*/ 6078 w 6078"/>
              <a:gd name="connsiteY1" fmla="*/ 0 h 2816"/>
              <a:gd name="connsiteX2" fmla="*/ 3195 w 6078"/>
              <a:gd name="connsiteY2" fmla="*/ 2794 h 2816"/>
              <a:gd name="connsiteX3" fmla="*/ 0 w 6078"/>
              <a:gd name="connsiteY3" fmla="*/ 2816 h 2816"/>
              <a:gd name="connsiteX4" fmla="*/ 0 w 6078"/>
              <a:gd name="connsiteY4" fmla="*/ 0 h 28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78" h="2816">
                <a:moveTo>
                  <a:pt x="0" y="0"/>
                </a:moveTo>
                <a:lnTo>
                  <a:pt x="6078" y="0"/>
                </a:lnTo>
                <a:lnTo>
                  <a:pt x="3195" y="2794"/>
                </a:lnTo>
                <a:lnTo>
                  <a:pt x="0" y="2816"/>
                </a:lnTo>
                <a:lnTo>
                  <a:pt x="0" y="0"/>
                </a:ln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直角三角形 14"/>
          <p:cNvSpPr/>
          <p:nvPr/>
        </p:nvSpPr>
        <p:spPr>
          <a:xfrm>
            <a:off x="0" y="5943600"/>
            <a:ext cx="2781935" cy="915035"/>
          </a:xfrm>
          <a:prstGeom prst="rtTriangle">
            <a:avLst/>
          </a:prstGeom>
          <a:solidFill>
            <a:schemeClr val="tx2">
              <a:lumMod val="20000"/>
              <a:lumOff val="80000"/>
            </a:schemeClr>
          </a:solidFill>
          <a:ln>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副标题 2"/>
          <p:cNvSpPr>
            <a:spLocks noGrp="1"/>
          </p:cNvSpPr>
          <p:nvPr>
            <p:ph type="subTitle" idx="1"/>
          </p:nvPr>
        </p:nvSpPr>
        <p:spPr>
          <a:xfrm>
            <a:off x="142875" y="347980"/>
            <a:ext cx="4281805" cy="1104265"/>
          </a:xfrm>
        </p:spPr>
        <p:txBody>
          <a:bodyPr>
            <a:noAutofit/>
          </a:bodyPr>
          <a:lstStyle/>
          <a:p>
            <a:r>
              <a:rPr lang="en-US" altLang="zh-CN" sz="4800" dirty="0">
                <a:latin typeface="Algerian" panose="04020705040A02060702" pitchFamily="82" charset="0"/>
                <a:ea typeface="华文琥珀" panose="02010800040101010101" charset="-122"/>
              </a:rPr>
              <a:t>10.</a:t>
            </a:r>
            <a:r>
              <a:rPr lang="zh-CN" altLang="en-US" sz="4800" dirty="0">
                <a:latin typeface="Algerian" panose="04020705040A02060702" pitchFamily="82" charset="0"/>
                <a:ea typeface="华文琥珀" panose="02010800040101010101" charset="-122"/>
              </a:rPr>
              <a:t>涨紧套</a:t>
            </a:r>
            <a:endParaRPr lang="zh-CN" altLang="en-US" sz="4800" dirty="0">
              <a:latin typeface="Algerian" panose="04020705040A02060702" pitchFamily="82" charset="0"/>
              <a:ea typeface="华文琥珀" panose="02010800040101010101" charset="-122"/>
            </a:endParaRPr>
          </a:p>
        </p:txBody>
      </p:sp>
      <p:sp>
        <p:nvSpPr>
          <p:cNvPr id="6" name="文本框 5"/>
          <p:cNvSpPr txBox="1"/>
          <p:nvPr/>
        </p:nvSpPr>
        <p:spPr>
          <a:xfrm>
            <a:off x="506730" y="1899920"/>
            <a:ext cx="2719705" cy="2753360"/>
          </a:xfrm>
          <a:prstGeom prst="rect">
            <a:avLst/>
          </a:prstGeom>
          <a:noFill/>
        </p:spPr>
        <p:txBody>
          <a:bodyPr wrap="square" rtlCol="0">
            <a:noAutofit/>
          </a:bodyPr>
          <a:lstStyle/>
          <a:p>
            <a:r>
              <a:rPr lang="zh-CN" altLang="en-US">
                <a:solidFill>
                  <a:schemeClr val="tx1"/>
                </a:solidFill>
              </a:rPr>
              <a:t>胀紧联结套（简称胀套），是当今国际上广泛用于重型载荷下机械联结的一种先进基础部件，在轮和轴的联结中，它是靠拧紧高强度螺栓使包容面间产生的压力和摩擦力实现负载传送的一种无键联结装置。</a:t>
            </a:r>
            <a:endParaRPr lang="zh-CN" altLang="en-US">
              <a:solidFill>
                <a:schemeClr val="tx1"/>
              </a:solidFill>
            </a:endParaRPr>
          </a:p>
          <a:p>
            <a:endParaRPr lang="zh-CN" altLang="en-US">
              <a:solidFill>
                <a:schemeClr val="tx1"/>
              </a:solidFill>
            </a:endParaRPr>
          </a:p>
          <a:p>
            <a:endParaRPr lang="zh-CN" altLang="en-US">
              <a:solidFill>
                <a:schemeClr val="tx1"/>
              </a:solidFill>
            </a:endParaRPr>
          </a:p>
        </p:txBody>
      </p:sp>
      <p:pic>
        <p:nvPicPr>
          <p:cNvPr id="2" name="图片 1" descr="微信截图_20241024211420"/>
          <p:cNvPicPr>
            <a:picLocks noChangeAspect="1"/>
          </p:cNvPicPr>
          <p:nvPr/>
        </p:nvPicPr>
        <p:blipFill>
          <a:blip r:embed="rId1"/>
          <a:stretch>
            <a:fillRect/>
          </a:stretch>
        </p:blipFill>
        <p:spPr>
          <a:xfrm>
            <a:off x="5630545" y="347980"/>
            <a:ext cx="4724400" cy="3169920"/>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任意多边形 4"/>
          <p:cNvSpPr/>
          <p:nvPr/>
        </p:nvSpPr>
        <p:spPr>
          <a:xfrm>
            <a:off x="142875" y="99060"/>
            <a:ext cx="4759960" cy="1800860"/>
          </a:xfrm>
          <a:custGeom>
            <a:avLst/>
            <a:gdLst>
              <a:gd name="connsiteX0" fmla="*/ 0 w 6078"/>
              <a:gd name="connsiteY0" fmla="*/ 0 h 2816"/>
              <a:gd name="connsiteX1" fmla="*/ 6078 w 6078"/>
              <a:gd name="connsiteY1" fmla="*/ 0 h 2816"/>
              <a:gd name="connsiteX2" fmla="*/ 3195 w 6078"/>
              <a:gd name="connsiteY2" fmla="*/ 2794 h 2816"/>
              <a:gd name="connsiteX3" fmla="*/ 0 w 6078"/>
              <a:gd name="connsiteY3" fmla="*/ 2816 h 2816"/>
              <a:gd name="connsiteX4" fmla="*/ 0 w 6078"/>
              <a:gd name="connsiteY4" fmla="*/ 0 h 28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78" h="2816">
                <a:moveTo>
                  <a:pt x="0" y="0"/>
                </a:moveTo>
                <a:lnTo>
                  <a:pt x="6078" y="0"/>
                </a:lnTo>
                <a:lnTo>
                  <a:pt x="3195" y="2794"/>
                </a:lnTo>
                <a:lnTo>
                  <a:pt x="0" y="2816"/>
                </a:lnTo>
                <a:lnTo>
                  <a:pt x="0" y="0"/>
                </a:ln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直角三角形 14"/>
          <p:cNvSpPr/>
          <p:nvPr/>
        </p:nvSpPr>
        <p:spPr>
          <a:xfrm>
            <a:off x="0" y="5943600"/>
            <a:ext cx="2781935" cy="915035"/>
          </a:xfrm>
          <a:prstGeom prst="rtTriangle">
            <a:avLst/>
          </a:prstGeom>
          <a:solidFill>
            <a:schemeClr val="tx2">
              <a:lumMod val="20000"/>
              <a:lumOff val="80000"/>
            </a:schemeClr>
          </a:solidFill>
          <a:ln>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副标题 2"/>
          <p:cNvSpPr>
            <a:spLocks noGrp="1"/>
          </p:cNvSpPr>
          <p:nvPr>
            <p:ph type="subTitle" idx="1"/>
          </p:nvPr>
        </p:nvSpPr>
        <p:spPr>
          <a:xfrm>
            <a:off x="142875" y="347980"/>
            <a:ext cx="4281805" cy="1104265"/>
          </a:xfrm>
        </p:spPr>
        <p:txBody>
          <a:bodyPr>
            <a:noAutofit/>
          </a:bodyPr>
          <a:lstStyle/>
          <a:p>
            <a:r>
              <a:rPr lang="en-US" altLang="zh-CN" sz="4800" dirty="0">
                <a:latin typeface="Algerian" panose="04020705040A02060702" pitchFamily="82" charset="0"/>
                <a:ea typeface="华文琥珀" panose="02010800040101010101" charset="-122"/>
              </a:rPr>
              <a:t>11.</a:t>
            </a:r>
            <a:r>
              <a:rPr lang="zh-CN" altLang="en-US" sz="4800" dirty="0">
                <a:latin typeface="Algerian" panose="04020705040A02060702" pitchFamily="82" charset="0"/>
                <a:ea typeface="华文琥珀" panose="02010800040101010101" charset="-122"/>
              </a:rPr>
              <a:t>角码</a:t>
            </a:r>
            <a:endParaRPr lang="zh-CN" altLang="en-US" sz="4800" dirty="0">
              <a:latin typeface="Algerian" panose="04020705040A02060702" pitchFamily="82" charset="0"/>
              <a:ea typeface="华文琥珀" panose="02010800040101010101" charset="-122"/>
            </a:endParaRPr>
          </a:p>
        </p:txBody>
      </p:sp>
      <p:sp>
        <p:nvSpPr>
          <p:cNvPr id="6" name="文本框 5"/>
          <p:cNvSpPr txBox="1"/>
          <p:nvPr/>
        </p:nvSpPr>
        <p:spPr>
          <a:xfrm>
            <a:off x="506730" y="1899920"/>
            <a:ext cx="2719705" cy="2753360"/>
          </a:xfrm>
          <a:prstGeom prst="rect">
            <a:avLst/>
          </a:prstGeom>
          <a:noFill/>
        </p:spPr>
        <p:txBody>
          <a:bodyPr wrap="square" rtlCol="0">
            <a:noAutofit/>
          </a:bodyPr>
          <a:lstStyle/>
          <a:p>
            <a:r>
              <a:rPr lang="zh-CN" altLang="en-US">
                <a:solidFill>
                  <a:schemeClr val="tx1"/>
                </a:solidFill>
              </a:rPr>
              <a:t>角码是连接90度直角相交构件的五金件，一般用螺栓固定</a:t>
            </a:r>
            <a:endParaRPr lang="zh-CN" altLang="en-US">
              <a:solidFill>
                <a:schemeClr val="tx1"/>
              </a:solidFill>
            </a:endParaRPr>
          </a:p>
          <a:p>
            <a:endParaRPr lang="zh-CN" altLang="en-US">
              <a:solidFill>
                <a:schemeClr val="tx1"/>
              </a:solidFill>
            </a:endParaRPr>
          </a:p>
          <a:p>
            <a:r>
              <a:rPr lang="zh-CN" altLang="en-US">
                <a:solidFill>
                  <a:schemeClr val="tx1"/>
                </a:solidFill>
              </a:rPr>
              <a:t>常用于铝合金结构上的固定，比如铝型材，铝管</a:t>
            </a:r>
            <a:endParaRPr lang="zh-CN" altLang="en-US">
              <a:solidFill>
                <a:schemeClr val="tx1"/>
              </a:solidFill>
            </a:endParaRPr>
          </a:p>
          <a:p>
            <a:endParaRPr lang="zh-CN" altLang="en-US">
              <a:solidFill>
                <a:schemeClr val="tx1"/>
              </a:solidFill>
            </a:endParaRPr>
          </a:p>
          <a:p>
            <a:r>
              <a:rPr lang="zh-CN" altLang="en-US">
                <a:solidFill>
                  <a:schemeClr val="tx1"/>
                </a:solidFill>
              </a:rPr>
              <a:t>也有其他角度的角码，比如</a:t>
            </a:r>
            <a:r>
              <a:rPr lang="en-US" altLang="zh-CN">
                <a:solidFill>
                  <a:schemeClr val="tx1"/>
                </a:solidFill>
              </a:rPr>
              <a:t>30</a:t>
            </a:r>
            <a:r>
              <a:rPr lang="zh-CN" altLang="en-US">
                <a:solidFill>
                  <a:schemeClr val="tx1"/>
                </a:solidFill>
              </a:rPr>
              <a:t>°，</a:t>
            </a:r>
            <a:r>
              <a:rPr lang="en-US" altLang="zh-CN">
                <a:solidFill>
                  <a:schemeClr val="tx1"/>
                </a:solidFill>
              </a:rPr>
              <a:t>45</a:t>
            </a:r>
            <a:r>
              <a:rPr lang="zh-CN" altLang="en-US">
                <a:solidFill>
                  <a:schemeClr val="tx1"/>
                </a:solidFill>
              </a:rPr>
              <a:t>°</a:t>
            </a:r>
            <a:endParaRPr lang="zh-CN" altLang="en-US">
              <a:solidFill>
                <a:schemeClr val="tx1"/>
              </a:solidFill>
            </a:endParaRPr>
          </a:p>
          <a:p>
            <a:endParaRPr lang="zh-CN" altLang="en-US">
              <a:solidFill>
                <a:schemeClr val="tx1"/>
              </a:solidFill>
            </a:endParaRPr>
          </a:p>
          <a:p>
            <a:endParaRPr lang="zh-CN" altLang="en-US">
              <a:solidFill>
                <a:schemeClr val="tx1"/>
              </a:solidFill>
            </a:endParaRPr>
          </a:p>
        </p:txBody>
      </p:sp>
      <p:pic>
        <p:nvPicPr>
          <p:cNvPr id="4" name="图片 3" descr="微信截图_20241024211838"/>
          <p:cNvPicPr>
            <a:picLocks noChangeAspect="1"/>
          </p:cNvPicPr>
          <p:nvPr/>
        </p:nvPicPr>
        <p:blipFill>
          <a:blip r:embed="rId1"/>
          <a:stretch>
            <a:fillRect/>
          </a:stretch>
        </p:blipFill>
        <p:spPr>
          <a:xfrm>
            <a:off x="7505700" y="157480"/>
            <a:ext cx="3731895" cy="3259455"/>
          </a:xfrm>
          <a:prstGeom prst="rect">
            <a:avLst/>
          </a:prstGeom>
        </p:spPr>
      </p:pic>
      <p:pic>
        <p:nvPicPr>
          <p:cNvPr id="7" name="图片 6" descr="微信截图_20241024211814"/>
          <p:cNvPicPr>
            <a:picLocks noChangeAspect="1"/>
          </p:cNvPicPr>
          <p:nvPr/>
        </p:nvPicPr>
        <p:blipFill>
          <a:blip r:embed="rId2"/>
          <a:stretch>
            <a:fillRect/>
          </a:stretch>
        </p:blipFill>
        <p:spPr>
          <a:xfrm>
            <a:off x="3839210" y="3416935"/>
            <a:ext cx="3782060" cy="3243580"/>
          </a:xfrm>
          <a:prstGeom prst="rect">
            <a:avLst/>
          </a:prstGeom>
        </p:spPr>
      </p:pic>
      <p:pic>
        <p:nvPicPr>
          <p:cNvPr id="8" name="图片 7" descr="微信截图_20241024211804"/>
          <p:cNvPicPr>
            <a:picLocks noChangeAspect="1"/>
          </p:cNvPicPr>
          <p:nvPr/>
        </p:nvPicPr>
        <p:blipFill>
          <a:blip r:embed="rId3"/>
          <a:stretch>
            <a:fillRect/>
          </a:stretch>
        </p:blipFill>
        <p:spPr>
          <a:xfrm>
            <a:off x="3752215" y="99060"/>
            <a:ext cx="3753485" cy="3317875"/>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任意多边形 4"/>
          <p:cNvSpPr/>
          <p:nvPr/>
        </p:nvSpPr>
        <p:spPr>
          <a:xfrm>
            <a:off x="142875" y="99060"/>
            <a:ext cx="4759960" cy="1800860"/>
          </a:xfrm>
          <a:custGeom>
            <a:avLst/>
            <a:gdLst>
              <a:gd name="connsiteX0" fmla="*/ 0 w 6078"/>
              <a:gd name="connsiteY0" fmla="*/ 0 h 2816"/>
              <a:gd name="connsiteX1" fmla="*/ 6078 w 6078"/>
              <a:gd name="connsiteY1" fmla="*/ 0 h 2816"/>
              <a:gd name="connsiteX2" fmla="*/ 3195 w 6078"/>
              <a:gd name="connsiteY2" fmla="*/ 2794 h 2816"/>
              <a:gd name="connsiteX3" fmla="*/ 0 w 6078"/>
              <a:gd name="connsiteY3" fmla="*/ 2816 h 2816"/>
              <a:gd name="connsiteX4" fmla="*/ 0 w 6078"/>
              <a:gd name="connsiteY4" fmla="*/ 0 h 28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78" h="2816">
                <a:moveTo>
                  <a:pt x="0" y="0"/>
                </a:moveTo>
                <a:lnTo>
                  <a:pt x="6078" y="0"/>
                </a:lnTo>
                <a:lnTo>
                  <a:pt x="3195" y="2794"/>
                </a:lnTo>
                <a:lnTo>
                  <a:pt x="0" y="2816"/>
                </a:lnTo>
                <a:lnTo>
                  <a:pt x="0" y="0"/>
                </a:ln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直角三角形 14"/>
          <p:cNvSpPr/>
          <p:nvPr/>
        </p:nvSpPr>
        <p:spPr>
          <a:xfrm>
            <a:off x="0" y="5943600"/>
            <a:ext cx="2781935" cy="915035"/>
          </a:xfrm>
          <a:prstGeom prst="rtTriangle">
            <a:avLst/>
          </a:prstGeom>
          <a:solidFill>
            <a:schemeClr val="tx2">
              <a:lumMod val="20000"/>
              <a:lumOff val="80000"/>
            </a:schemeClr>
          </a:solidFill>
          <a:ln>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副标题 2"/>
          <p:cNvSpPr>
            <a:spLocks noGrp="1"/>
          </p:cNvSpPr>
          <p:nvPr>
            <p:ph type="subTitle" idx="1"/>
          </p:nvPr>
        </p:nvSpPr>
        <p:spPr>
          <a:xfrm>
            <a:off x="142875" y="347980"/>
            <a:ext cx="4281805" cy="1104265"/>
          </a:xfrm>
        </p:spPr>
        <p:txBody>
          <a:bodyPr>
            <a:noAutofit/>
          </a:bodyPr>
          <a:lstStyle/>
          <a:p>
            <a:r>
              <a:rPr lang="en-US" altLang="zh-CN" sz="4800" dirty="0">
                <a:latin typeface="Algerian" panose="04020705040A02060702" pitchFamily="82" charset="0"/>
                <a:ea typeface="华文琥珀" panose="02010800040101010101" charset="-122"/>
              </a:rPr>
              <a:t>12.</a:t>
            </a:r>
            <a:r>
              <a:rPr lang="zh-CN" altLang="en-US" sz="4800" dirty="0">
                <a:latin typeface="Algerian" panose="04020705040A02060702" pitchFamily="82" charset="0"/>
                <a:ea typeface="华文琥珀" panose="02010800040101010101" charset="-122"/>
              </a:rPr>
              <a:t>铝型材</a:t>
            </a:r>
            <a:r>
              <a:rPr lang="en-US" altLang="zh-CN" sz="4800" dirty="0">
                <a:latin typeface="Algerian" panose="04020705040A02060702" pitchFamily="82" charset="0"/>
                <a:ea typeface="华文琥珀" panose="02010800040101010101" charset="-122"/>
              </a:rPr>
              <a:t> </a:t>
            </a:r>
            <a:r>
              <a:rPr lang="zh-CN" altLang="en-US" sz="4800" dirty="0">
                <a:latin typeface="Algerian" panose="04020705040A02060702" pitchFamily="82" charset="0"/>
                <a:ea typeface="华文琥珀" panose="02010800040101010101" charset="-122"/>
              </a:rPr>
              <a:t>铝管</a:t>
            </a:r>
            <a:endParaRPr lang="zh-CN" altLang="en-US" sz="4800" dirty="0">
              <a:latin typeface="Algerian" panose="04020705040A02060702" pitchFamily="82" charset="0"/>
              <a:ea typeface="华文琥珀" panose="02010800040101010101" charset="-122"/>
            </a:endParaRPr>
          </a:p>
        </p:txBody>
      </p:sp>
      <p:sp>
        <p:nvSpPr>
          <p:cNvPr id="6" name="文本框 5"/>
          <p:cNvSpPr txBox="1"/>
          <p:nvPr/>
        </p:nvSpPr>
        <p:spPr>
          <a:xfrm>
            <a:off x="506730" y="1287145"/>
            <a:ext cx="10784205" cy="2753360"/>
          </a:xfrm>
          <a:prstGeom prst="rect">
            <a:avLst/>
          </a:prstGeom>
          <a:noFill/>
        </p:spPr>
        <p:txBody>
          <a:bodyPr wrap="square" rtlCol="0">
            <a:noAutofit/>
          </a:bodyPr>
          <a:lstStyle/>
          <a:p>
            <a:r>
              <a:rPr lang="zh-CN" altLang="en-US">
                <a:solidFill>
                  <a:schemeClr val="tx1"/>
                </a:solidFill>
              </a:rPr>
              <a:t>铝管：实验室最常用，规格</a:t>
            </a:r>
            <a:r>
              <a:rPr lang="en-US" altLang="zh-CN">
                <a:solidFill>
                  <a:schemeClr val="tx1"/>
                </a:solidFill>
              </a:rPr>
              <a:t>10mmx10mm/20mmx20mm</a:t>
            </a:r>
            <a:endParaRPr lang="en-US" altLang="zh-CN">
              <a:solidFill>
                <a:schemeClr val="tx1"/>
              </a:solidFill>
            </a:endParaRPr>
          </a:p>
          <a:p>
            <a:r>
              <a:rPr lang="zh-CN" altLang="en-US">
                <a:solidFill>
                  <a:schemeClr val="tx1"/>
                </a:solidFill>
              </a:rPr>
              <a:t>通过在铝管上钻孔，与紧固件进行固定（如螺栓螺母，铆钉）</a:t>
            </a:r>
            <a:endParaRPr lang="zh-CN" altLang="en-US">
              <a:solidFill>
                <a:schemeClr val="tx1"/>
              </a:solidFill>
            </a:endParaRPr>
          </a:p>
          <a:p>
            <a:r>
              <a:rPr lang="zh-CN" altLang="en-US">
                <a:solidFill>
                  <a:schemeClr val="tx1"/>
                </a:solidFill>
              </a:rPr>
              <a:t>便宜好用</a:t>
            </a:r>
            <a:r>
              <a:rPr lang="en-US" altLang="zh-CN">
                <a:solidFill>
                  <a:schemeClr val="tx1"/>
                </a:solidFill>
              </a:rPr>
              <a:t> </a:t>
            </a:r>
            <a:r>
              <a:rPr lang="zh-CN" altLang="en-US">
                <a:solidFill>
                  <a:schemeClr val="tx1"/>
                </a:solidFill>
              </a:rPr>
              <a:t>一代车基本都用铝管做框架</a:t>
            </a:r>
            <a:endParaRPr lang="zh-CN" altLang="en-US">
              <a:solidFill>
                <a:schemeClr val="tx1"/>
              </a:solidFill>
            </a:endParaRPr>
          </a:p>
          <a:p>
            <a:r>
              <a:rPr lang="zh-CN" altLang="en-US">
                <a:solidFill>
                  <a:schemeClr val="tx1"/>
                </a:solidFill>
              </a:rPr>
              <a:t>雕刻机可以钻铝孔，也可以用手电钻开孔（比较吃个人的手稳程度）</a:t>
            </a:r>
            <a:endParaRPr lang="en-US" altLang="zh-CN">
              <a:solidFill>
                <a:schemeClr val="tx1"/>
              </a:solidFill>
            </a:endParaRPr>
          </a:p>
          <a:p>
            <a:endParaRPr lang="en-US" altLang="zh-CN">
              <a:solidFill>
                <a:schemeClr val="tx1"/>
              </a:solidFill>
            </a:endParaRPr>
          </a:p>
          <a:p>
            <a:endParaRPr lang="en-US" altLang="zh-CN">
              <a:solidFill>
                <a:schemeClr val="tx1"/>
              </a:solidFill>
            </a:endParaRPr>
          </a:p>
          <a:p>
            <a:r>
              <a:rPr lang="zh-CN" altLang="en-US">
                <a:solidFill>
                  <a:schemeClr val="tx1"/>
                </a:solidFill>
              </a:rPr>
              <a:t>铝型材：实验室不太常用，规格</a:t>
            </a:r>
            <a:r>
              <a:rPr lang="en-US" altLang="zh-CN">
                <a:solidFill>
                  <a:schemeClr val="tx1"/>
                </a:solidFill>
              </a:rPr>
              <a:t>20mmx20mm</a:t>
            </a:r>
            <a:r>
              <a:rPr lang="zh-CN" altLang="en-US">
                <a:solidFill>
                  <a:schemeClr val="tx1"/>
                </a:solidFill>
              </a:rPr>
              <a:t>（</a:t>
            </a:r>
            <a:r>
              <a:rPr lang="en-US" altLang="zh-CN">
                <a:solidFill>
                  <a:schemeClr val="tx1"/>
                </a:solidFill>
              </a:rPr>
              <a:t>2020</a:t>
            </a:r>
            <a:r>
              <a:rPr lang="zh-CN" altLang="en-US">
                <a:solidFill>
                  <a:schemeClr val="tx1"/>
                </a:solidFill>
              </a:rPr>
              <a:t>），</a:t>
            </a:r>
            <a:r>
              <a:rPr lang="en-US" altLang="zh-CN">
                <a:solidFill>
                  <a:schemeClr val="tx1"/>
                </a:solidFill>
              </a:rPr>
              <a:t>30mmx30mm</a:t>
            </a:r>
            <a:r>
              <a:rPr lang="zh-CN" altLang="en-US">
                <a:solidFill>
                  <a:schemeClr val="tx1"/>
                </a:solidFill>
              </a:rPr>
              <a:t>（</a:t>
            </a:r>
            <a:r>
              <a:rPr lang="en-US" altLang="zh-CN">
                <a:solidFill>
                  <a:schemeClr val="tx1"/>
                </a:solidFill>
              </a:rPr>
              <a:t>3030</a:t>
            </a:r>
            <a:r>
              <a:rPr lang="zh-CN" altLang="en-US">
                <a:solidFill>
                  <a:schemeClr val="tx1"/>
                </a:solidFill>
              </a:rPr>
              <a:t>），还会细分牌号系列啥的</a:t>
            </a:r>
            <a:endParaRPr lang="zh-CN" altLang="en-US">
              <a:solidFill>
                <a:schemeClr val="tx1"/>
              </a:solidFill>
            </a:endParaRPr>
          </a:p>
          <a:p>
            <a:r>
              <a:rPr lang="zh-CN" altLang="en-US">
                <a:solidFill>
                  <a:schemeClr val="tx1"/>
                </a:solidFill>
              </a:rPr>
              <a:t>一般会配合铰链转动，用滑块螺母和角码来固定</a:t>
            </a:r>
            <a:endParaRPr lang="zh-CN" altLang="en-US">
              <a:solidFill>
                <a:schemeClr val="tx1"/>
              </a:solidFill>
            </a:endParaRPr>
          </a:p>
          <a:p>
            <a:r>
              <a:rPr lang="zh-CN" altLang="en-US">
                <a:solidFill>
                  <a:schemeClr val="tx1"/>
                </a:solidFill>
              </a:rPr>
              <a:t>比较重，所以实验室不常用</a:t>
            </a:r>
            <a:endParaRPr lang="zh-CN" altLang="en-US">
              <a:solidFill>
                <a:schemeClr val="tx1"/>
              </a:solidFill>
            </a:endParaRPr>
          </a:p>
        </p:txBody>
      </p:sp>
      <p:pic>
        <p:nvPicPr>
          <p:cNvPr id="2" name="图片 1" descr="微信截图_20241024213218"/>
          <p:cNvPicPr>
            <a:picLocks noChangeAspect="1"/>
          </p:cNvPicPr>
          <p:nvPr/>
        </p:nvPicPr>
        <p:blipFill>
          <a:blip r:embed="rId1"/>
          <a:stretch>
            <a:fillRect/>
          </a:stretch>
        </p:blipFill>
        <p:spPr>
          <a:xfrm>
            <a:off x="3600450" y="3810000"/>
            <a:ext cx="3056255" cy="3056255"/>
          </a:xfrm>
          <a:prstGeom prst="rect">
            <a:avLst/>
          </a:prstGeom>
        </p:spPr>
      </p:pic>
      <p:pic>
        <p:nvPicPr>
          <p:cNvPr id="9" name="图片 8" descr="微信截图_20241024213155"/>
          <p:cNvPicPr>
            <a:picLocks noChangeAspect="1"/>
          </p:cNvPicPr>
          <p:nvPr/>
        </p:nvPicPr>
        <p:blipFill>
          <a:blip r:embed="rId2"/>
          <a:stretch>
            <a:fillRect/>
          </a:stretch>
        </p:blipFill>
        <p:spPr>
          <a:xfrm>
            <a:off x="664210" y="3865880"/>
            <a:ext cx="2922270" cy="2917825"/>
          </a:xfrm>
          <a:prstGeom prst="rect">
            <a:avLst/>
          </a:prstGeom>
        </p:spPr>
      </p:pic>
      <p:pic>
        <p:nvPicPr>
          <p:cNvPr id="10" name="图片 9" descr="微信截图_20241024213307"/>
          <p:cNvPicPr>
            <a:picLocks noChangeAspect="1"/>
          </p:cNvPicPr>
          <p:nvPr/>
        </p:nvPicPr>
        <p:blipFill>
          <a:blip r:embed="rId3"/>
          <a:stretch>
            <a:fillRect/>
          </a:stretch>
        </p:blipFill>
        <p:spPr>
          <a:xfrm>
            <a:off x="6670040" y="3810000"/>
            <a:ext cx="3008630" cy="3022600"/>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任意多边形 4"/>
          <p:cNvSpPr/>
          <p:nvPr/>
        </p:nvSpPr>
        <p:spPr>
          <a:xfrm flipV="1">
            <a:off x="0" y="4739640"/>
            <a:ext cx="4602480" cy="2118360"/>
          </a:xfrm>
          <a:custGeom>
            <a:avLst/>
            <a:gdLst>
              <a:gd name="connsiteX0" fmla="*/ 0 w 6078"/>
              <a:gd name="connsiteY0" fmla="*/ 0 h 2816"/>
              <a:gd name="connsiteX1" fmla="*/ 6078 w 6078"/>
              <a:gd name="connsiteY1" fmla="*/ 0 h 2816"/>
              <a:gd name="connsiteX2" fmla="*/ 3195 w 6078"/>
              <a:gd name="connsiteY2" fmla="*/ 2794 h 2816"/>
              <a:gd name="connsiteX3" fmla="*/ 0 w 6078"/>
              <a:gd name="connsiteY3" fmla="*/ 2816 h 2816"/>
              <a:gd name="connsiteX4" fmla="*/ 0 w 6078"/>
              <a:gd name="connsiteY4" fmla="*/ 0 h 28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78" h="2816">
                <a:moveTo>
                  <a:pt x="0" y="0"/>
                </a:moveTo>
                <a:lnTo>
                  <a:pt x="6078" y="0"/>
                </a:lnTo>
                <a:lnTo>
                  <a:pt x="3195" y="2794"/>
                </a:lnTo>
                <a:lnTo>
                  <a:pt x="0" y="2816"/>
                </a:lnTo>
                <a:lnTo>
                  <a:pt x="0" y="0"/>
                </a:lnTo>
                <a:close/>
              </a:path>
            </a:pathLst>
          </a:cu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8" name="文本框 7"/>
          <p:cNvSpPr txBox="1"/>
          <p:nvPr/>
        </p:nvSpPr>
        <p:spPr>
          <a:xfrm>
            <a:off x="-33925" y="5618342"/>
            <a:ext cx="4230625" cy="706755"/>
          </a:xfrm>
          <a:prstGeom prst="rect">
            <a:avLst/>
          </a:prstGeom>
          <a:noFill/>
        </p:spPr>
        <p:txBody>
          <a:bodyPr wrap="square" rtlCol="0">
            <a:spAutoFit/>
          </a:bodyPr>
          <a:lstStyle/>
          <a:p>
            <a:r>
              <a:rPr lang="en-US" altLang="zh-CN" sz="4000" dirty="0">
                <a:solidFill>
                  <a:schemeClr val="bg1"/>
                </a:solidFill>
                <a:latin typeface="Swis721 BlkEx BT" panose="020B0907040502030204" pitchFamily="34" charset="0"/>
              </a:rPr>
              <a:t>NAZARITE</a:t>
            </a:r>
            <a:endParaRPr lang="zh-CN" altLang="en-US" sz="4000" dirty="0">
              <a:solidFill>
                <a:schemeClr val="bg1"/>
              </a:solidFill>
              <a:latin typeface="Swis721 BlkEx BT" panose="020B0907040502030204" pitchFamily="34" charset="0"/>
            </a:endParaRPr>
          </a:p>
        </p:txBody>
      </p:sp>
      <p:sp>
        <p:nvSpPr>
          <p:cNvPr id="2" name="文本框 1"/>
          <p:cNvSpPr txBox="1"/>
          <p:nvPr/>
        </p:nvSpPr>
        <p:spPr>
          <a:xfrm>
            <a:off x="415043" y="1847504"/>
            <a:ext cx="10499584" cy="2122805"/>
          </a:xfrm>
          <a:prstGeom prst="rect">
            <a:avLst/>
          </a:prstGeom>
          <a:noFill/>
        </p:spPr>
        <p:txBody>
          <a:bodyPr vert="horz" wrap="square" rtlCol="0">
            <a:spAutoFit/>
          </a:bodyPr>
          <a:lstStyle/>
          <a:p>
            <a:pPr algn="ctr">
              <a:lnSpc>
                <a:spcPct val="150000"/>
              </a:lnSpc>
            </a:pPr>
            <a:r>
              <a:rPr lang="en-US" altLang="zh-CN" sz="8800" b="1" dirty="0">
                <a:ln w="12700">
                  <a:solidFill>
                    <a:schemeClr val="tx2">
                      <a:lumMod val="75000"/>
                    </a:schemeClr>
                  </a:solidFill>
                  <a:prstDash val="solid"/>
                </a:ln>
                <a:solidFill>
                  <a:schemeClr val="bg1">
                    <a:lumMod val="50000"/>
                  </a:schemeClr>
                </a:solidFill>
                <a:effectLst>
                  <a:outerShdw dist="38100" dir="2640000" algn="bl" rotWithShape="0">
                    <a:schemeClr val="tx2">
                      <a:lumMod val="75000"/>
                    </a:schemeClr>
                  </a:outerShdw>
                </a:effectLst>
                <a:latin typeface="字体圈欣意冠黑体" panose="00000500000000000000" pitchFamily="2" charset="-122"/>
                <a:ea typeface="字体圈欣意冠黑体" panose="00000500000000000000" pitchFamily="2" charset="-122"/>
              </a:rPr>
              <a:t>III.</a:t>
            </a:r>
            <a:r>
              <a:rPr lang="zh-CN" altLang="en-US" sz="8800" b="1" dirty="0">
                <a:ln w="12700">
                  <a:solidFill>
                    <a:schemeClr val="tx2">
                      <a:lumMod val="75000"/>
                    </a:schemeClr>
                  </a:solidFill>
                  <a:prstDash val="solid"/>
                </a:ln>
                <a:solidFill>
                  <a:schemeClr val="bg1">
                    <a:lumMod val="50000"/>
                  </a:schemeClr>
                </a:solidFill>
                <a:effectLst>
                  <a:outerShdw dist="38100" dir="2640000" algn="bl" rotWithShape="0">
                    <a:schemeClr val="tx2">
                      <a:lumMod val="75000"/>
                    </a:schemeClr>
                  </a:outerShdw>
                </a:effectLst>
                <a:latin typeface="字体圈欣意冠黑体" panose="00000500000000000000" pitchFamily="2" charset="-122"/>
                <a:ea typeface="字体圈欣意冠黑体" panose="00000500000000000000" pitchFamily="2" charset="-122"/>
              </a:rPr>
              <a:t>工具的使用</a:t>
            </a:r>
            <a:endParaRPr lang="zh-CN" altLang="en-US" sz="8800" b="1" dirty="0">
              <a:ln w="12700">
                <a:solidFill>
                  <a:schemeClr val="tx2">
                    <a:lumMod val="75000"/>
                  </a:schemeClr>
                </a:solidFill>
                <a:prstDash val="solid"/>
              </a:ln>
              <a:solidFill>
                <a:schemeClr val="bg1">
                  <a:lumMod val="50000"/>
                </a:schemeClr>
              </a:solidFill>
              <a:effectLst>
                <a:outerShdw dist="38100" dir="2640000" algn="bl" rotWithShape="0">
                  <a:schemeClr val="tx2">
                    <a:lumMod val="75000"/>
                  </a:schemeClr>
                </a:outerShdw>
              </a:effectLst>
              <a:latin typeface="字体圈欣意冠黑体" panose="00000500000000000000" pitchFamily="2" charset="-122"/>
              <a:ea typeface="字体圈欣意冠黑体" panose="00000500000000000000"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任意多边形 4"/>
          <p:cNvSpPr/>
          <p:nvPr/>
        </p:nvSpPr>
        <p:spPr>
          <a:xfrm>
            <a:off x="142875" y="99060"/>
            <a:ext cx="4759960" cy="1800860"/>
          </a:xfrm>
          <a:custGeom>
            <a:avLst/>
            <a:gdLst>
              <a:gd name="connsiteX0" fmla="*/ 0 w 6078"/>
              <a:gd name="connsiteY0" fmla="*/ 0 h 2816"/>
              <a:gd name="connsiteX1" fmla="*/ 6078 w 6078"/>
              <a:gd name="connsiteY1" fmla="*/ 0 h 2816"/>
              <a:gd name="connsiteX2" fmla="*/ 3195 w 6078"/>
              <a:gd name="connsiteY2" fmla="*/ 2794 h 2816"/>
              <a:gd name="connsiteX3" fmla="*/ 0 w 6078"/>
              <a:gd name="connsiteY3" fmla="*/ 2816 h 2816"/>
              <a:gd name="connsiteX4" fmla="*/ 0 w 6078"/>
              <a:gd name="connsiteY4" fmla="*/ 0 h 28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78" h="2816">
                <a:moveTo>
                  <a:pt x="0" y="0"/>
                </a:moveTo>
                <a:lnTo>
                  <a:pt x="6078" y="0"/>
                </a:lnTo>
                <a:lnTo>
                  <a:pt x="3195" y="2794"/>
                </a:lnTo>
                <a:lnTo>
                  <a:pt x="0" y="2816"/>
                </a:lnTo>
                <a:lnTo>
                  <a:pt x="0" y="0"/>
                </a:ln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直角三角形 14"/>
          <p:cNvSpPr/>
          <p:nvPr/>
        </p:nvSpPr>
        <p:spPr>
          <a:xfrm>
            <a:off x="0" y="5943600"/>
            <a:ext cx="2781935" cy="915035"/>
          </a:xfrm>
          <a:prstGeom prst="rtTriangle">
            <a:avLst/>
          </a:prstGeom>
          <a:solidFill>
            <a:schemeClr val="tx2">
              <a:lumMod val="20000"/>
              <a:lumOff val="80000"/>
            </a:schemeClr>
          </a:solidFill>
          <a:ln>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副标题 2"/>
          <p:cNvSpPr>
            <a:spLocks noGrp="1"/>
          </p:cNvSpPr>
          <p:nvPr>
            <p:ph type="subTitle" idx="1"/>
          </p:nvPr>
        </p:nvSpPr>
        <p:spPr>
          <a:xfrm>
            <a:off x="-93980" y="255270"/>
            <a:ext cx="4281805" cy="1104265"/>
          </a:xfrm>
        </p:spPr>
        <p:txBody>
          <a:bodyPr>
            <a:noAutofit/>
          </a:bodyPr>
          <a:lstStyle/>
          <a:p>
            <a:r>
              <a:rPr lang="zh-CN" altLang="en-US" sz="4800" dirty="0">
                <a:latin typeface="Algerian" panose="04020705040A02060702" pitchFamily="82" charset="0"/>
                <a:ea typeface="华文琥珀" panose="02010800040101010101" charset="-122"/>
              </a:rPr>
              <a:t>常见工具</a:t>
            </a:r>
            <a:endParaRPr lang="zh-CN" altLang="en-US" sz="4800" dirty="0">
              <a:latin typeface="Algerian" panose="04020705040A02060702" pitchFamily="82" charset="0"/>
              <a:ea typeface="华文琥珀" panose="02010800040101010101" charset="-122"/>
            </a:endParaRPr>
          </a:p>
        </p:txBody>
      </p:sp>
      <p:sp>
        <p:nvSpPr>
          <p:cNvPr id="6" name="文本框 5"/>
          <p:cNvSpPr txBox="1"/>
          <p:nvPr/>
        </p:nvSpPr>
        <p:spPr>
          <a:xfrm>
            <a:off x="306070" y="1068705"/>
            <a:ext cx="10784205" cy="2753360"/>
          </a:xfrm>
          <a:prstGeom prst="rect">
            <a:avLst/>
          </a:prstGeom>
          <a:noFill/>
        </p:spPr>
        <p:txBody>
          <a:bodyPr wrap="square" rtlCol="0">
            <a:noAutofit/>
          </a:bodyPr>
          <a:lstStyle/>
          <a:p>
            <a:r>
              <a:rPr lang="zh-CN" altLang="en-US">
                <a:solidFill>
                  <a:srgbClr val="FF0000"/>
                </a:solidFill>
              </a:rPr>
              <a:t>不要乱用</a:t>
            </a:r>
            <a:endParaRPr lang="zh-CN" altLang="en-US">
              <a:solidFill>
                <a:schemeClr val="tx1"/>
              </a:solidFill>
            </a:endParaRPr>
          </a:p>
          <a:p>
            <a:r>
              <a:rPr lang="zh-CN" altLang="en-US">
                <a:solidFill>
                  <a:schemeClr val="tx1"/>
                </a:solidFill>
              </a:rPr>
              <a:t>每个工具都有自己的功能</a:t>
            </a:r>
            <a:endParaRPr lang="zh-CN" altLang="en-US">
              <a:solidFill>
                <a:schemeClr val="tx1"/>
              </a:solidFill>
            </a:endParaRPr>
          </a:p>
          <a:p>
            <a:r>
              <a:rPr lang="zh-CN" altLang="en-US">
                <a:solidFill>
                  <a:srgbClr val="FF0000"/>
                </a:solidFill>
              </a:rPr>
              <a:t>别贪方便</a:t>
            </a:r>
            <a:r>
              <a:rPr lang="zh-CN" altLang="en-US">
                <a:solidFill>
                  <a:schemeClr val="tx1"/>
                </a:solidFill>
              </a:rPr>
              <a:t>就直接拿卡簧钳当</a:t>
            </a:r>
            <a:endParaRPr lang="zh-CN" altLang="en-US">
              <a:solidFill>
                <a:schemeClr val="tx1"/>
              </a:solidFill>
            </a:endParaRPr>
          </a:p>
          <a:p>
            <a:r>
              <a:rPr lang="zh-CN" altLang="en-US">
                <a:solidFill>
                  <a:schemeClr val="tx1"/>
                </a:solidFill>
              </a:rPr>
              <a:t>尖嘴钳用，会断掉</a:t>
            </a:r>
            <a:r>
              <a:rPr lang="en-US" altLang="zh-CN">
                <a:solidFill>
                  <a:schemeClr val="tx1"/>
                </a:solidFill>
              </a:rPr>
              <a:t>                            </a:t>
            </a:r>
            <a:endParaRPr lang="en-US" altLang="zh-CN">
              <a:solidFill>
                <a:schemeClr val="tx1"/>
              </a:solidFill>
            </a:endParaRPr>
          </a:p>
        </p:txBody>
      </p:sp>
      <p:pic>
        <p:nvPicPr>
          <p:cNvPr id="4" name="图片 3" descr="微信截图_20241024213730"/>
          <p:cNvPicPr>
            <a:picLocks noChangeAspect="1"/>
          </p:cNvPicPr>
          <p:nvPr/>
        </p:nvPicPr>
        <p:blipFill>
          <a:blip r:embed="rId1"/>
          <a:stretch>
            <a:fillRect/>
          </a:stretch>
        </p:blipFill>
        <p:spPr>
          <a:xfrm>
            <a:off x="301625" y="2313940"/>
            <a:ext cx="3048000" cy="4544060"/>
          </a:xfrm>
          <a:prstGeom prst="rect">
            <a:avLst/>
          </a:prstGeom>
        </p:spPr>
      </p:pic>
      <p:pic>
        <p:nvPicPr>
          <p:cNvPr id="7" name="图片 6" descr="微信截图_20241024213904"/>
          <p:cNvPicPr>
            <a:picLocks noChangeAspect="1"/>
          </p:cNvPicPr>
          <p:nvPr/>
        </p:nvPicPr>
        <p:blipFill>
          <a:blip r:embed="rId2"/>
          <a:stretch>
            <a:fillRect/>
          </a:stretch>
        </p:blipFill>
        <p:spPr>
          <a:xfrm>
            <a:off x="3349625" y="99060"/>
            <a:ext cx="2543810" cy="2644775"/>
          </a:xfrm>
          <a:prstGeom prst="rect">
            <a:avLst/>
          </a:prstGeom>
        </p:spPr>
      </p:pic>
      <p:pic>
        <p:nvPicPr>
          <p:cNvPr id="8" name="图片 7" descr="微信截图_20241024213935"/>
          <p:cNvPicPr>
            <a:picLocks noChangeAspect="1"/>
          </p:cNvPicPr>
          <p:nvPr/>
        </p:nvPicPr>
        <p:blipFill>
          <a:blip r:embed="rId3"/>
          <a:stretch>
            <a:fillRect/>
          </a:stretch>
        </p:blipFill>
        <p:spPr>
          <a:xfrm>
            <a:off x="5903595" y="2313940"/>
            <a:ext cx="2560955" cy="2519045"/>
          </a:xfrm>
          <a:prstGeom prst="rect">
            <a:avLst/>
          </a:prstGeom>
        </p:spPr>
      </p:pic>
      <p:pic>
        <p:nvPicPr>
          <p:cNvPr id="11" name="图片 10" descr="微信截图_20241024213955"/>
          <p:cNvPicPr>
            <a:picLocks noChangeAspect="1"/>
          </p:cNvPicPr>
          <p:nvPr/>
        </p:nvPicPr>
        <p:blipFill>
          <a:blip r:embed="rId4"/>
          <a:stretch>
            <a:fillRect/>
          </a:stretch>
        </p:blipFill>
        <p:spPr>
          <a:xfrm>
            <a:off x="5893435" y="99060"/>
            <a:ext cx="2448560" cy="2473960"/>
          </a:xfrm>
          <a:prstGeom prst="rect">
            <a:avLst/>
          </a:prstGeom>
        </p:spPr>
      </p:pic>
      <p:pic>
        <p:nvPicPr>
          <p:cNvPr id="12" name="图片 11" descr="微信截图_20241024214012"/>
          <p:cNvPicPr>
            <a:picLocks noChangeAspect="1"/>
          </p:cNvPicPr>
          <p:nvPr/>
        </p:nvPicPr>
        <p:blipFill>
          <a:blip r:embed="rId5"/>
          <a:stretch>
            <a:fillRect/>
          </a:stretch>
        </p:blipFill>
        <p:spPr>
          <a:xfrm>
            <a:off x="8464550" y="2259330"/>
            <a:ext cx="2449830" cy="2573655"/>
          </a:xfrm>
          <a:prstGeom prst="rect">
            <a:avLst/>
          </a:prstGeom>
        </p:spPr>
      </p:pic>
      <p:pic>
        <p:nvPicPr>
          <p:cNvPr id="13" name="图片 12" descr="微信截图_20241024214058"/>
          <p:cNvPicPr>
            <a:picLocks noChangeAspect="1"/>
          </p:cNvPicPr>
          <p:nvPr/>
        </p:nvPicPr>
        <p:blipFill>
          <a:blip r:embed="rId6"/>
          <a:stretch>
            <a:fillRect/>
          </a:stretch>
        </p:blipFill>
        <p:spPr>
          <a:xfrm>
            <a:off x="8341995" y="99060"/>
            <a:ext cx="2465070" cy="2473960"/>
          </a:xfrm>
          <a:prstGeom prst="rect">
            <a:avLst/>
          </a:prstGeom>
        </p:spPr>
      </p:pic>
      <p:pic>
        <p:nvPicPr>
          <p:cNvPr id="14" name="图片 13" descr="微信截图_20241024214338"/>
          <p:cNvPicPr>
            <a:picLocks noChangeAspect="1"/>
          </p:cNvPicPr>
          <p:nvPr/>
        </p:nvPicPr>
        <p:blipFill>
          <a:blip r:embed="rId7"/>
          <a:stretch>
            <a:fillRect/>
          </a:stretch>
        </p:blipFill>
        <p:spPr>
          <a:xfrm>
            <a:off x="3367405" y="2313940"/>
            <a:ext cx="2572385" cy="2632075"/>
          </a:xfrm>
          <a:prstGeom prst="rect">
            <a:avLst/>
          </a:prstGeom>
        </p:spPr>
      </p:pic>
      <p:pic>
        <p:nvPicPr>
          <p:cNvPr id="16" name="图片 15" descr="微信截图_20241024214608"/>
          <p:cNvPicPr>
            <a:picLocks noChangeAspect="1"/>
          </p:cNvPicPr>
          <p:nvPr/>
        </p:nvPicPr>
        <p:blipFill>
          <a:blip r:embed="rId8"/>
          <a:stretch>
            <a:fillRect/>
          </a:stretch>
        </p:blipFill>
        <p:spPr>
          <a:xfrm>
            <a:off x="3367405" y="4536440"/>
            <a:ext cx="2314575" cy="2320925"/>
          </a:xfrm>
          <a:prstGeom prst="rect">
            <a:avLst/>
          </a:prstGeom>
        </p:spPr>
      </p:pic>
      <p:sp>
        <p:nvSpPr>
          <p:cNvPr id="17" name="文本框 16"/>
          <p:cNvSpPr txBox="1"/>
          <p:nvPr/>
        </p:nvSpPr>
        <p:spPr>
          <a:xfrm>
            <a:off x="8464550" y="5060950"/>
            <a:ext cx="1611630" cy="1678305"/>
          </a:xfrm>
          <a:prstGeom prst="rect">
            <a:avLst/>
          </a:prstGeom>
          <a:noFill/>
        </p:spPr>
        <p:txBody>
          <a:bodyPr wrap="square" rtlCol="0">
            <a:noAutofit/>
          </a:bodyPr>
          <a:lstStyle/>
          <a:p>
            <a:r>
              <a:rPr lang="zh-CN" altLang="en-US"/>
              <a:t>建议自己一人买一套内六角和钳子不需要太贵的</a:t>
            </a:r>
            <a:r>
              <a:rPr lang="en-US" altLang="zh-CN"/>
              <a:t> </a:t>
            </a:r>
            <a:r>
              <a:rPr lang="zh-CN" altLang="en-US"/>
              <a:t>都行</a:t>
            </a:r>
            <a:endParaRPr lang="en-US" altLang="zh-CN"/>
          </a:p>
          <a:p>
            <a:r>
              <a:rPr lang="zh-CN" altLang="en-US"/>
              <a:t>自己保管</a:t>
            </a:r>
            <a:r>
              <a:rPr lang="en-US" altLang="zh-CN"/>
              <a:t> </a:t>
            </a:r>
            <a:endParaRPr lang="en-US" altLang="zh-CN"/>
          </a:p>
          <a:p>
            <a:r>
              <a:rPr lang="zh-CN" altLang="en-US"/>
              <a:t>自己使用</a:t>
            </a:r>
            <a:endParaRPr lang="zh-CN" altLang="en-US"/>
          </a:p>
          <a:p>
            <a:endParaRPr lang="zh-CN" altLang="en-US"/>
          </a:p>
        </p:txBody>
      </p:sp>
      <p:pic>
        <p:nvPicPr>
          <p:cNvPr id="18" name="图片 17" descr="微信截图_20241024215037"/>
          <p:cNvPicPr>
            <a:picLocks noChangeAspect="1"/>
          </p:cNvPicPr>
          <p:nvPr/>
        </p:nvPicPr>
        <p:blipFill>
          <a:blip r:embed="rId9"/>
          <a:stretch>
            <a:fillRect/>
          </a:stretch>
        </p:blipFill>
        <p:spPr>
          <a:xfrm>
            <a:off x="5681980" y="4536440"/>
            <a:ext cx="2293620" cy="2293620"/>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a:off x="-78740" y="0"/>
            <a:ext cx="4749800" cy="6862445"/>
            <a:chOff x="-124" y="-6"/>
            <a:chExt cx="7480" cy="10807"/>
          </a:xfrm>
        </p:grpSpPr>
        <p:grpSp>
          <p:nvGrpSpPr>
            <p:cNvPr id="4" name="组合 3"/>
            <p:cNvGrpSpPr/>
            <p:nvPr/>
          </p:nvGrpSpPr>
          <p:grpSpPr>
            <a:xfrm>
              <a:off x="-124" y="-6"/>
              <a:ext cx="7480" cy="2816"/>
              <a:chOff x="-124" y="-6"/>
              <a:chExt cx="7480" cy="2816"/>
            </a:xfrm>
          </p:grpSpPr>
          <p:sp>
            <p:nvSpPr>
              <p:cNvPr id="6" name="任意多边形 4"/>
              <p:cNvSpPr/>
              <p:nvPr/>
            </p:nvSpPr>
            <p:spPr>
              <a:xfrm>
                <a:off x="0" y="-6"/>
                <a:ext cx="7356" cy="2816"/>
              </a:xfrm>
              <a:custGeom>
                <a:avLst/>
                <a:gdLst>
                  <a:gd name="connsiteX0" fmla="*/ 0 w 6078"/>
                  <a:gd name="connsiteY0" fmla="*/ 0 h 2816"/>
                  <a:gd name="connsiteX1" fmla="*/ 6078 w 6078"/>
                  <a:gd name="connsiteY1" fmla="*/ 0 h 2816"/>
                  <a:gd name="connsiteX2" fmla="*/ 3195 w 6078"/>
                  <a:gd name="connsiteY2" fmla="*/ 2794 h 2816"/>
                  <a:gd name="connsiteX3" fmla="*/ 0 w 6078"/>
                  <a:gd name="connsiteY3" fmla="*/ 2816 h 2816"/>
                  <a:gd name="connsiteX4" fmla="*/ 0 w 6078"/>
                  <a:gd name="connsiteY4" fmla="*/ 0 h 28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78" h="2816">
                    <a:moveTo>
                      <a:pt x="0" y="0"/>
                    </a:moveTo>
                    <a:lnTo>
                      <a:pt x="6078" y="0"/>
                    </a:lnTo>
                    <a:lnTo>
                      <a:pt x="3195" y="2794"/>
                    </a:lnTo>
                    <a:lnTo>
                      <a:pt x="0" y="2816"/>
                    </a:lnTo>
                    <a:lnTo>
                      <a:pt x="0" y="0"/>
                    </a:ln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文本框 9"/>
              <p:cNvSpPr txBox="1"/>
              <p:nvPr/>
            </p:nvSpPr>
            <p:spPr>
              <a:xfrm>
                <a:off x="-124" y="639"/>
                <a:ext cx="6662" cy="1115"/>
              </a:xfrm>
              <a:prstGeom prst="rect">
                <a:avLst/>
              </a:prstGeom>
              <a:noFill/>
            </p:spPr>
            <p:txBody>
              <a:bodyPr wrap="square" rtlCol="0">
                <a:spAutoFit/>
              </a:bodyPr>
              <a:lstStyle/>
              <a:p>
                <a:r>
                  <a:rPr lang="en-US" altLang="zh-CN" sz="4000" dirty="0">
                    <a:solidFill>
                      <a:schemeClr val="bg1"/>
                    </a:solidFill>
                    <a:latin typeface="Swis721 BlkEx BT" panose="020B0907040502030204" pitchFamily="34" charset="0"/>
                  </a:rPr>
                  <a:t>NAZATITE</a:t>
                </a:r>
                <a:endParaRPr lang="zh-CN" altLang="en-US" sz="4000" dirty="0">
                  <a:solidFill>
                    <a:schemeClr val="bg1"/>
                  </a:solidFill>
                  <a:latin typeface="Swis721 BlkEx BT" panose="020B0907040502030204" pitchFamily="34" charset="0"/>
                </a:endParaRPr>
              </a:p>
            </p:txBody>
          </p:sp>
        </p:grpSp>
        <p:sp>
          <p:nvSpPr>
            <p:cNvPr id="25" name="直角三角形 24"/>
            <p:cNvSpPr/>
            <p:nvPr/>
          </p:nvSpPr>
          <p:spPr>
            <a:xfrm>
              <a:off x="0" y="9360"/>
              <a:ext cx="4381" cy="1441"/>
            </a:xfrm>
            <a:prstGeom prst="rtTriangle">
              <a:avLst/>
            </a:prstGeom>
            <a:solidFill>
              <a:schemeClr val="tx2">
                <a:lumMod val="20000"/>
                <a:lumOff val="80000"/>
              </a:schemeClr>
            </a:solidFill>
            <a:ln>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6" name="副标题 3"/>
          <p:cNvSpPr>
            <a:spLocks noGrp="1"/>
          </p:cNvSpPr>
          <p:nvPr/>
        </p:nvSpPr>
        <p:spPr>
          <a:xfrm>
            <a:off x="2781935" y="2236470"/>
            <a:ext cx="7201535" cy="1830070"/>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zh-CN" altLang="en-US" sz="9600" b="1" dirty="0">
                <a:ln w="12700">
                  <a:solidFill>
                    <a:schemeClr val="tx2">
                      <a:lumMod val="75000"/>
                    </a:schemeClr>
                  </a:solidFill>
                  <a:prstDash val="solid"/>
                </a:ln>
                <a:solidFill>
                  <a:schemeClr val="bg1">
                    <a:lumMod val="50000"/>
                  </a:schemeClr>
                </a:solidFill>
                <a:effectLst>
                  <a:outerShdw dist="38100" dir="2640000" algn="bl" rotWithShape="0">
                    <a:schemeClr val="tx2">
                      <a:lumMod val="75000"/>
                    </a:schemeClr>
                  </a:outerShdw>
                </a:effectLst>
                <a:latin typeface="字体圈欣意冠黑体" panose="00000500000000000000" pitchFamily="2" charset="-122"/>
                <a:ea typeface="字体圈欣意冠黑体" panose="00000500000000000000" pitchFamily="2" charset="-122"/>
              </a:rPr>
              <a:t>谢谢观看！</a:t>
            </a:r>
            <a:endParaRPr lang="zh-CN" altLang="en-US" sz="9600" b="1" dirty="0">
              <a:ln w="12700">
                <a:solidFill>
                  <a:schemeClr val="tx2">
                    <a:lumMod val="75000"/>
                  </a:schemeClr>
                </a:solidFill>
                <a:prstDash val="solid"/>
              </a:ln>
              <a:solidFill>
                <a:schemeClr val="bg1">
                  <a:lumMod val="50000"/>
                </a:schemeClr>
              </a:solidFill>
              <a:effectLst>
                <a:outerShdw dist="38100" dir="2640000" algn="bl" rotWithShape="0">
                  <a:schemeClr val="tx2">
                    <a:lumMod val="75000"/>
                  </a:schemeClr>
                </a:outerShdw>
              </a:effectLst>
              <a:latin typeface="字体圈欣意冠黑体" panose="00000500000000000000" pitchFamily="2" charset="-122"/>
              <a:ea typeface="字体圈欣意冠黑体" panose="00000500000000000000" pitchFamily="2" charset="-122"/>
            </a:endParaRPr>
          </a:p>
        </p:txBody>
      </p:sp>
    </p:spTree>
  </p:cSld>
  <p:clrMapOvr>
    <a:masterClrMapping/>
  </p:clrMapOvr>
</p:sld>
</file>

<file path=ppt/tags/tag1.xml><?xml version="1.0" encoding="utf-8"?>
<p:tagLst xmlns:p="http://schemas.openxmlformats.org/presentationml/2006/main">
  <p:tag name="KSO_WM_UNIT_PLACING_PICTURE_USER_VIEWPORT" val="{&quot;height&quot;:5422.404724409449,&quot;width&quot;:6690.696062992126}"/>
</p:tagLst>
</file>

<file path=ppt/tags/tag2.xml><?xml version="1.0" encoding="utf-8"?>
<p:tagLst xmlns:p="http://schemas.openxmlformats.org/presentationml/2006/main">
  <p:tag name="KSO_WM_UNIT_PLACING_PICTURE_USER_VIEWPORT" val="{&quot;height&quot;:5422.404724409449,&quot;width&quot;:6690.696062992126}"/>
</p:tagLst>
</file>

<file path=ppt/tags/tag3.xml><?xml version="1.0" encoding="utf-8"?>
<p:tagLst xmlns:p="http://schemas.openxmlformats.org/presentationml/2006/main">
  <p:tag name="KSO_WM_UNIT_PLACING_PICTURE_USER_VIEWPORT" val="{&quot;height&quot;:5422.404724409449,&quot;width&quot;:6690.696062992126}"/>
</p:tagLst>
</file>

<file path=ppt/tags/tag4.xml><?xml version="1.0" encoding="utf-8"?>
<p:tagLst xmlns:p="http://schemas.openxmlformats.org/presentationml/2006/main">
  <p:tag name="KSO_WM_UNIT_PLACING_PICTURE_USER_VIEWPORT" val="{&quot;height&quot;:5422.404724409449,&quot;width&quot;:6690.696062992126}"/>
</p:tagLst>
</file>

<file path=ppt/tags/tag5.xml><?xml version="1.0" encoding="utf-8"?>
<p:tagLst xmlns:p="http://schemas.openxmlformats.org/presentationml/2006/main">
  <p:tag name="KSO_WM_UNIT_PLACING_PICTURE_USER_VIEWPORT" val="{&quot;height&quot;:5422.404724409449,&quot;width&quot;:6690.696062992126}"/>
</p:tagLst>
</file>

<file path=ppt/tags/tag6.xml><?xml version="1.0" encoding="utf-8"?>
<p:tagLst xmlns:p="http://schemas.openxmlformats.org/presentationml/2006/main">
  <p:tag name="KSO_WM_UNIT_PLACING_PICTURE_USER_VIEWPORT" val="{&quot;height&quot;:5422.404724409449,&quot;width&quot;:6690.696062992126}"/>
</p:tagLst>
</file>

<file path=ppt/tags/tag7.xml><?xml version="1.0" encoding="utf-8"?>
<p:tagLst xmlns:p="http://schemas.openxmlformats.org/presentationml/2006/main">
  <p:tag name="KSO_WM_UNIT_PLACING_PICTURE_USER_VIEWPORT" val="{&quot;height&quot;:5422.404724409449,&quot;width&quot;:6690.696062992126}"/>
</p:tagLst>
</file>

<file path=ppt/tags/tag8.xml><?xml version="1.0" encoding="utf-8"?>
<p:tagLst xmlns:p="http://schemas.openxmlformats.org/presentationml/2006/main">
  <p:tag name="KSO_WM_UNIT_PLACING_PICTURE_USER_VIEWPORT" val="{&quot;height&quot;:3804.075590551181,&quot;width&quot;:10287.817322834646}"/>
</p:tagLst>
</file>

<file path=ppt/tags/tag9.xml><?xml version="1.0" encoding="utf-8"?>
<p:tagLst xmlns:p="http://schemas.openxmlformats.org/presentationml/2006/main">
  <p:tag name="COMMONDATA" val="eyJoZGlkIjoiMDVhOWY5OTc0NTU5OGQ2ZTVmY2ZkNmQ4ZDE5NTUwNGYifQ=="/>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a:ea typeface=""/>
        <a:cs typeface=""/>
        <a:font script="Jpan" typeface="ＭＳ Ｐゴシック"/>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4629</Words>
  <Application>WPS 演示</Application>
  <PresentationFormat>宽屏</PresentationFormat>
  <Paragraphs>397</Paragraphs>
  <Slides>36</Slides>
  <Notes>0</Notes>
  <HiddenSlides>0</HiddenSlides>
  <MMClips>0</MMClips>
  <ScaleCrop>false</ScaleCrop>
  <HeadingPairs>
    <vt:vector size="6" baseType="variant">
      <vt:variant>
        <vt:lpstr>已用的字体</vt:lpstr>
      </vt:variant>
      <vt:variant>
        <vt:i4>24</vt:i4>
      </vt:variant>
      <vt:variant>
        <vt:lpstr>主题</vt:lpstr>
      </vt:variant>
      <vt:variant>
        <vt:i4>1</vt:i4>
      </vt:variant>
      <vt:variant>
        <vt:lpstr>幻灯片标题</vt:lpstr>
      </vt:variant>
      <vt:variant>
        <vt:i4>36</vt:i4>
      </vt:variant>
    </vt:vector>
  </HeadingPairs>
  <TitlesOfParts>
    <vt:vector size="61" baseType="lpstr">
      <vt:lpstr>Arial</vt:lpstr>
      <vt:lpstr>宋体</vt:lpstr>
      <vt:lpstr>Wingdings</vt:lpstr>
      <vt:lpstr>优设标题黑</vt:lpstr>
      <vt:lpstr>黑体</vt:lpstr>
      <vt:lpstr>郑庆科静雅体-古朴版</vt:lpstr>
      <vt:lpstr>微软雅黑</vt:lpstr>
      <vt:lpstr>字体圈欣意冠黑体</vt:lpstr>
      <vt:lpstr>Swis721 BlkEx BT</vt:lpstr>
      <vt:lpstr>华文琥珀</vt:lpstr>
      <vt:lpstr>Adobe Gothic Std B</vt:lpstr>
      <vt:lpstr>Algerian</vt:lpstr>
      <vt:lpstr>Adobe 宋体 Std L</vt:lpstr>
      <vt:lpstr>Calibri</vt:lpstr>
      <vt:lpstr>Arial Unicode MS</vt:lpstr>
      <vt:lpstr>优设标题黑</vt:lpstr>
      <vt:lpstr>字体圈欣意冠黑体</vt:lpstr>
      <vt:lpstr>郑庆科静雅体-古朴版</vt:lpstr>
      <vt:lpstr>SWAstro</vt:lpstr>
      <vt:lpstr>文道标题黑</vt:lpstr>
      <vt:lpstr>仓耳静雅体 W01</vt:lpstr>
      <vt:lpstr>清雅黑体</vt:lpstr>
      <vt:lpstr>Swiss 721 Std Thin</vt:lpstr>
      <vt:lpstr>MS PGothic</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Thinkpad</dc:creator>
  <cp:lastModifiedBy>WPS_1748260319</cp:lastModifiedBy>
  <cp:revision>76</cp:revision>
  <dcterms:created xsi:type="dcterms:W3CDTF">2022-10-23T08:13:00Z</dcterms:created>
  <dcterms:modified xsi:type="dcterms:W3CDTF">2026-04-25T07:50:23Z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8E584088B941468986E01A39AB2446EF</vt:lpwstr>
  </property>
  <property fmtid="{D5CDD505-2E9C-101B-9397-08002B2CF9AE}" pid="3" name="KSOProductBuildVer">
    <vt:lpwstr>2052-12.1.0.25865</vt:lpwstr>
  </property>
</Properties>
</file>